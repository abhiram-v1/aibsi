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c1de8d604494523" /><Relationship Type="http://schemas.openxmlformats.org/officeDocument/2006/relationships/extended-properties" Target="/docProps/app.xml" Id="R00cdd7f2849a4a6c" /><Relationship Type="http://schemas.openxmlformats.org/officeDocument/2006/relationships/officeDocument" Target="/ppt/presentation.xml" Id="R3b6ca112382640bb" /></Relationships>
</file>

<file path=ppt/presentation.xml><?xml version="1.0" encoding="utf-8"?>
<p:presentation xmlns:p="http://schemas.openxmlformats.org/presentationml/2006/main">
  <p:sldMasterIdLst>
    <p:sldMasterId xmlns:r="http://schemas.openxmlformats.org/officeDocument/2006/relationships" id="2147483648" r:id="R2c0cdbfb88f04f4d"/>
  </p:sldMasterIdLst>
  <p:notesMasterIdLst>
    <p:notesMasterId xmlns:r="http://schemas.openxmlformats.org/officeDocument/2006/relationships" r:id="R6ad477bdfd9b4ded"/>
  </p:notesMasterIdLst>
  <p:sldIdLst>
    <p:sldId xmlns:r="http://schemas.openxmlformats.org/officeDocument/2006/relationships" id="256" r:id="R09f2490b302848ad"/>
    <p:sldId xmlns:r="http://schemas.openxmlformats.org/officeDocument/2006/relationships" id="257" r:id="Rea2ce5e2d25e4e48"/>
    <p:sldId xmlns:r="http://schemas.openxmlformats.org/officeDocument/2006/relationships" id="258" r:id="R7a705e582b4143de"/>
    <p:sldId xmlns:r="http://schemas.openxmlformats.org/officeDocument/2006/relationships" id="259" r:id="R9ecd9c3243ba43a0"/>
    <p:sldId xmlns:r="http://schemas.openxmlformats.org/officeDocument/2006/relationships" id="264" r:id="Red626dd62d40429d"/>
    <p:sldId xmlns:r="http://schemas.openxmlformats.org/officeDocument/2006/relationships" id="260" r:id="Rc6f3a69883114bd3"/>
    <p:sldId xmlns:r="http://schemas.openxmlformats.org/officeDocument/2006/relationships" id="261" r:id="R6dbbff16d55a4228"/>
    <p:sldId xmlns:r="http://schemas.openxmlformats.org/officeDocument/2006/relationships" id="262" r:id="R47e72fad66b34e9b"/>
    <p:sldId xmlns:r="http://schemas.openxmlformats.org/officeDocument/2006/relationships" id="263" r:id="R0f2a28bf8b914146"/>
    <p:sldId xmlns:r="http://schemas.openxmlformats.org/officeDocument/2006/relationships" id="265" r:id="R2a4b0d2c6f9948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21ea5059574ee4" /><Relationship Type="http://schemas.openxmlformats.org/officeDocument/2006/relationships/slideMaster" Target="/ppt/slideMasters/slideMaster1.xml" Id="R2c0cdbfb88f04f4d" /><Relationship Type="http://schemas.openxmlformats.org/officeDocument/2006/relationships/notesMaster" Target="/ppt/notesMasters/notesMaster1.xml" Id="R6ad477bdfd9b4ded" /><Relationship Type="http://schemas.openxmlformats.org/officeDocument/2006/relationships/presProps" Target="/ppt/presProps.xml" Id="Ra9014ad9674a400a" /><Relationship Type="http://schemas.openxmlformats.org/officeDocument/2006/relationships/tableStyles" Target="/ppt/tableStyles.xml" Id="R514d359bb1de42eb" /><Relationship Type="http://schemas.openxmlformats.org/officeDocument/2006/relationships/slide" Target="/ppt/slides/slide1.xml" Id="R09f2490b302848ad" /><Relationship Type="http://schemas.openxmlformats.org/officeDocument/2006/relationships/slide" Target="/ppt/slides/slide2.xml" Id="Rea2ce5e2d25e4e48" /><Relationship Type="http://schemas.openxmlformats.org/officeDocument/2006/relationships/slide" Target="/ppt/slides/slide3.xml" Id="R7a705e582b4143de" /><Relationship Type="http://schemas.openxmlformats.org/officeDocument/2006/relationships/slide" Target="/ppt/slides/slide4.xml" Id="R9ecd9c3243ba43a0" /><Relationship Type="http://schemas.openxmlformats.org/officeDocument/2006/relationships/slide" Target="/ppt/slides/slide5.xml" Id="Rc6f3a69883114bd3" /><Relationship Type="http://schemas.openxmlformats.org/officeDocument/2006/relationships/slide" Target="/ppt/slides/slide6.xml" Id="R6dbbff16d55a4228" /><Relationship Type="http://schemas.openxmlformats.org/officeDocument/2006/relationships/slide" Target="/ppt/slides/slide7.xml" Id="R47e72fad66b34e9b" /><Relationship Type="http://schemas.openxmlformats.org/officeDocument/2006/relationships/slide" Target="/ppt/slides/slide8.xml" Id="R0f2a28bf8b914146" /><Relationship Type="http://schemas.openxmlformats.org/officeDocument/2006/relationships/slide" Target="/ppt/slides/slide9.xml" Id="Red626dd62d40429d" /><Relationship Type="http://schemas.openxmlformats.org/officeDocument/2006/relationships/slide" Target="/ppt/slides/slide10.xml" Id="R2a4b0d2c6f9948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d454ba3a1247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0642b343aa4e23" /><Relationship Type="http://schemas.openxmlformats.org/officeDocument/2006/relationships/notesMaster" Target="/ppt/notesMasters/notesMaster1.xml" Id="Rbe9cd3b240fc45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97bed833ff4d40" /><Relationship Type="http://schemas.openxmlformats.org/officeDocument/2006/relationships/notesMaster" Target="/ppt/notesMasters/notesMaster1.xml" Id="R45477c40760649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827b831f2d492d" /><Relationship Type="http://schemas.openxmlformats.org/officeDocument/2006/relationships/notesMaster" Target="/ppt/notesMasters/notesMaster1.xml" Id="R040cd54b84c541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10304507be4a20" /><Relationship Type="http://schemas.openxmlformats.org/officeDocument/2006/relationships/notesMaster" Target="/ppt/notesMasters/notesMaster1.xml" Id="Re113284b039b47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4232375e924531" /><Relationship Type="http://schemas.openxmlformats.org/officeDocument/2006/relationships/notesMaster" Target="/ppt/notesMasters/notesMaster1.xml" Id="R13cd8715352146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599227c3b64838" /><Relationship Type="http://schemas.openxmlformats.org/officeDocument/2006/relationships/notesMaster" Target="/ppt/notesMasters/notesMaster1.xml" Id="Ra6341029d09049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b71c209e2d4a8b" /><Relationship Type="http://schemas.openxmlformats.org/officeDocument/2006/relationships/notesMaster" Target="/ppt/notesMasters/notesMaster1.xml" Id="R2acac4d81e534e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8a54ab9c314b70" /><Relationship Type="http://schemas.openxmlformats.org/officeDocument/2006/relationships/notesMaster" Target="/ppt/notesMasters/notesMaster1.xml" Id="Rf51f1114770a4f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2370cfc3a84431" /><Relationship Type="http://schemas.openxmlformats.org/officeDocument/2006/relationships/notesMaster" Target="/ppt/notesMasters/notesMaster1.xml" Id="Re516afeb44514c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f5cfb0cc0b4c2d" /><Relationship Type="http://schemas.openxmlformats.org/officeDocument/2006/relationships/notesMaster" Target="/ppt/notesMasters/notesMaster1.xml" Id="Ra1cba6521c5046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has two sections: a short literature review, followed by our project status and next steps. The illustration is conceptual AI-generated artwork.</a:t>
            </a:r>
          </a:p>
          <a:p xmlns:a="http://schemas.openxmlformats.org/drawingml/2006/main">
            <a:r>
              <a:t/>
            </a:r>
          </a:p>
          <a:p xmlns:a="http://schemas.openxmlformats.org/drawingml/2006/main">
            <a:r>
              <a:t>Sources:</a:t>
            </a:r>
          </a:p>
          <a:p xmlns:a="http://schemas.openxmlformats.org/drawingml/2006/main">
            <a:r>
              <a:t>C:/Projects/AIBSI/PROJECT_MASTER_REPORT.md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 means Alzheimer’s disease; FTD means frontotemporal dementia. The dataset has 19 scalp electrodes and 500 Hz source sampling. Its derivatives include filtering, re-referencing, ASR, ICA and ICLabel artifact-component rejection. The illustration is conceptual AI-generated artwork.</a:t>
            </a:r>
          </a:p>
          <a:p xmlns:a="http://schemas.openxmlformats.org/drawingml/2006/main">
            <a:r>
              <a:t/>
            </a:r>
          </a:p>
          <a:p xmlns:a="http://schemas.openxmlformats.org/drawingml/2006/main">
            <a:r>
              <a:t>Sources:</a:t>
            </a:r>
          </a:p>
          <a:p xmlns:a="http://schemas.openxmlformats.org/drawingml/2006/main">
            <a:r>
              <a:t>https://doi.org/10.3390/data8060095</a:t>
            </a:r>
          </a:p>
          <a:p xmlns:a="http://schemas.openxmlformats.org/drawingml/2006/main">
            <a:r>
              <a:t>https://openneuro.org/datasets/ds004504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2021 study directly compares epoch-level tenfold validation with leave-one-person-out validation and reports major drops. Rostamikia et al. report 87.8% AD versus FTD and 93.5% dementia versus control accuracy using tenfold CV. Their tasks and validation are not identical to our three-class nested subject evaluation, so their percentages should not be compared as like-for-like scores. Gupta et al. use CP factors for healthy, MCI and AD cohorts, not our AD/FTD/control task.</a:t>
            </a:r>
          </a:p>
          <a:p xmlns:a="http://schemas.openxmlformats.org/drawingml/2006/main">
            <a:r>
              <a:t/>
            </a:r>
          </a:p>
          <a:p xmlns:a="http://schemas.openxmlformats.org/drawingml/2006/main">
            <a:r>
              <a:t>Sources:</a:t>
            </a:r>
          </a:p>
          <a:p xmlns:a="http://schemas.openxmlformats.org/drawingml/2006/main">
            <a:r>
              <a:t>https://doi.org/10.3390/diagnostics11081437</a:t>
            </a:r>
          </a:p>
          <a:p xmlns:a="http://schemas.openxmlformats.org/drawingml/2006/main">
            <a:r>
              <a:t>https://doi.org/10.1007/s11571-024-10152-7</a:t>
            </a:r>
          </a:p>
          <a:p xmlns:a="http://schemas.openxmlformats.org/drawingml/2006/main">
            <a:r>
              <a:t>https://arxiv.org/abs/2211.13793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Project-specific steps included downsampling to 250 Hz, non-overlapping four-second windows, common-average rereferencing, fixed amplitude/step/flat-channel exclusions, and a later 0.5-second guard around EEGLAB boundary annotations. The controlled 69-person dataset has 4,090 windows per group. Full-cohort analyses rechecked the remaining people. The original raw EEG remains untouched.</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C:/Projects/AIBSI/preprocessing/reports/03_signal_quality_audit_and_cleaning.md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tensor was subject × electrode × frequency × relative recording-time bin, shape 69 × 19 × 59 × 10. CPD represents it as a sum of rank-one components. Tucker uses a compact core and factor matrices. Nonnegative CPD and Tucker were fitted using training participants, and participant-level component scores became classifier features. HOSVD/MLSVD is an orthogonal Tucker-family construction, distinct from the nonnegative Tucker fit. The illustration is conceptual.</a:t>
            </a:r>
          </a:p>
          <a:p xmlns:a="http://schemas.openxmlformats.org/drawingml/2006/main">
            <a:r>
              <a:t/>
            </a:r>
          </a:p>
          <a:p xmlns:a="http://schemas.openxmlformats.org/drawingml/2006/main">
            <a:r>
              <a:t>Sources:</a:t>
            </a:r>
          </a:p>
          <a:p xmlns:a="http://schemas.openxmlformats.org/drawingml/2006/main">
            <a:r>
              <a:t>C:/Projects/AIBSI/tensor_pipeline/run_decomposition_benchmark.py</a:t>
            </a:r>
          </a:p>
          <a:p xmlns:a="http://schemas.openxmlformats.org/drawingml/2006/main">
            <a:r>
              <a:t>C:/Projects/AIBSI/tensor_pipeline/outputs/summary/EXPERIMENT_REPORT.md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later experiments use three repeats of five-fold outer participant CV with three-fold inner validation. Preprocessing fits, decomposition bases, feature selection and classifier tuning remain inside training folds. Reported numbers are internal cross-validation results, not estimates from an untouched external cohort.</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C:/Projects/AIBSI/tensor_pipeline/v4_tuning/PROTOCOL.md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SVM mean balanced accuracy 59.7%, mean accuracy 60.6%, FTD recall 43.5%. Classifier families tune their own settings and can select different representations. The complete inner-selected pipeline is the primary outcome, 54.5% BA. Results average three CV repeats. No external validation.</a:t>
            </a:r>
          </a:p>
          <a:p xmlns:a="http://schemas.openxmlformats.org/drawingml/2006/main">
            <a:r>
              <a:t/>
            </a:r>
          </a:p>
          <a:p xmlns:a="http://schemas.openxmlformats.org/drawingml/2006/main">
            <a:r>
              <a:t>Sources:</a:t>
            </a:r>
          </a:p>
          <a:p xmlns:a="http://schemas.openxmlformats.org/drawingml/2006/main">
            <a:r>
              <a:t>C:/Projects/AIBSI/tensor_pipeline/outputs/v4_tuning/nested_report.json</a:t>
            </a:r>
          </a:p>
          <a:p xmlns:a="http://schemas.openxmlformats.org/drawingml/2006/main">
            <a:r>
              <a:t>C:/Projects/AIBSI/tensor_pipeline/outputs/v4_tuning/EXPERIMENT_REPORT.md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exploratory means across three repeats for each method’s best observed rank and classifier. CPD rank 5 with logistic regression scored 52.2%; nonnegative Tucker rank 3 with histogram gradient boosting scored 53.6%; PCA and NMF rank 8 with logistic regression scored 54.1%. The first tensorizer had an electrode-row metadata mismatch, so anatomical interpretations from that stage need caution. These 69-person results cannot be directly ranked against the later 88-person classifier comparison.</a:t>
            </a:r>
          </a:p>
          <a:p xmlns:a="http://schemas.openxmlformats.org/drawingml/2006/main">
            <a:r>
              <a:t/>
            </a:r>
          </a:p>
          <a:p xmlns:a="http://schemas.openxmlformats.org/drawingml/2006/main">
            <a:r>
              <a:t>Sources:</a:t>
            </a:r>
          </a:p>
          <a:p xmlns:a="http://schemas.openxmlformats.org/drawingml/2006/main">
            <a:r>
              <a:t>C:/Projects/AIBSI/tensor_pipeline/outputs/summary/all_rank_results.csv</a:t>
            </a:r>
          </a:p>
          <a:p xmlns:a="http://schemas.openxmlformats.org/drawingml/2006/main">
            <a:r>
              <a:t>C:/Projects/AIBSI/tensor_pipeline/outputs/summary/EXPERIMENT_REPORT.md</a:t>
            </a:r>
          </a:p>
          <a:p xmlns:a="http://schemas.openxmlformats.org/drawingml/2006/main">
            <a:r>
              <a:t>C:/Projects/AIBSI/tensor_pipeline/outputs/summary/V2_AUDIT_NOTE.md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released dataset contains an artifact-cleaned EEG derivative, not untouched raw acquisition. We resampled each recording to 250 Hz and divided it into non-overlapping four-second windows. Each window is 19 channels by 1,000 samples. Welch power spectral density used two-second Hann segments with 50 percent overlap; from 1 to 30 Hz there are 59 frequency bins. We normalized each channel spectrum to relative power and took its square root. The windows were assigned to ten chronological bins and reduced by median, giving each person a 19 by 59 by 10 channel-frequency-time tensor. Across 69 people, that is a 69 by 19 by 59 by 10 four-way tensor. CPD and Tucker/MLSVD decomposed that tensor into lower-dimensional subject features, which were fed to a classifier. This first comparison had 69 people, not the later 88-person classifier comparison. Fit decomposition only on training subjects, then project held-out subjects to avoid leakage.</a:t>
            </a:r>
          </a:p>
          <a:p xmlns:a="http://schemas.openxmlformats.org/drawingml/2006/main">
            <a:r>
              <a:t/>
            </a:r>
          </a:p>
          <a:p xmlns:a="http://schemas.openxmlformats.org/drawingml/2006/main">
            <a:r>
              <a:t>Sources:</a:t>
            </a:r>
          </a:p>
          <a:p xmlns:a="http://schemas.openxmlformats.org/drawingml/2006/main">
            <a:r>
              <a:t>tensor_pipeline/tensorize_subjects.py</a:t>
            </a:r>
          </a:p>
          <a:p xmlns:a="http://schemas.openxmlformats.org/drawingml/2006/main">
            <a:r>
              <a:t>PROJECT_MASTER_REPORT.md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curation rules label-blind and fixed before model evaluation. Examine slow drift, muscle bursts, spikes and channel/subject quality profiles. Compare same pipelines and person-level splits across input variants. Independent data are needed for a credible external estimate. The illustration is conceptual AI-generated artwork.</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C:/Projects/AIBSI/preprocessing/reports/03_signal_quality_audit_and_cleaning.md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2fa1522c344e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3f326980344705" /><Relationship Type="http://schemas.openxmlformats.org/officeDocument/2006/relationships/slideLayout" Target="/ppt/slideLayouts/slideLayout1.xml" Id="R5899cda1c8ca40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99cda1c8ca40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65725c6b8645b0" /><Relationship Type="http://schemas.openxmlformats.org/officeDocument/2006/relationships/image" Target="/ppt/media/image.png" Id="R3680dafa312c43db" /><Relationship Type="http://schemas.openxmlformats.org/officeDocument/2006/relationships/notesSlide" Target="/ppt/notesSlides/notesSlide1.xml" Id="Rd563e0f1aceb4b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df216a5229487e" /><Relationship Type="http://schemas.openxmlformats.org/officeDocument/2006/relationships/image" Target="/ppt/media/image2.png" Id="Rddd2b374e0e043b7" /><Relationship Type="http://schemas.openxmlformats.org/officeDocument/2006/relationships/notesSlide" Target="/ppt/notesSlides/notesSlide2.xml" Id="R2aaeac9feb4b49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449ddaf895497b" /><Relationship Type="http://schemas.openxmlformats.org/officeDocument/2006/relationships/notesSlide" Target="/ppt/notesSlides/notesSlide3.xml" Id="R2829b617eb224a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581700556f49fb" /><Relationship Type="http://schemas.openxmlformats.org/officeDocument/2006/relationships/notesSlide" Target="/ppt/notesSlides/notesSlide4.xml" Id="R4b101691f59041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f8968c61994a44" /><Relationship Type="http://schemas.openxmlformats.org/officeDocument/2006/relationships/image" Target="/ppt/media/image3.png" Id="R012989e835204898" /><Relationship Type="http://schemas.openxmlformats.org/officeDocument/2006/relationships/notesSlide" Target="/ppt/notesSlides/notesSlide5.xml" Id="Rb09c94ca0f8e4b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f111712dc941d6" /><Relationship Type="http://schemas.openxmlformats.org/officeDocument/2006/relationships/notesSlide" Target="/ppt/notesSlides/notesSlide6.xml" Id="R03a9e79ff96b4d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7fabc4c60048d4" /><Relationship Type="http://schemas.openxmlformats.org/officeDocument/2006/relationships/chart" Target="/ppt/slides/charts/chart1.xml" Id="R0593b5479bc0407c" /><Relationship Type="http://schemas.openxmlformats.org/officeDocument/2006/relationships/notesSlide" Target="/ppt/notesSlides/notesSlide7.xml" Id="Rd5965958644e4b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3964f6dc4748c8" /><Relationship Type="http://schemas.openxmlformats.org/officeDocument/2006/relationships/chart" Target="/ppt/slides/charts/chart2.xml" Id="Rd8cc8bd825524667" /><Relationship Type="http://schemas.openxmlformats.org/officeDocument/2006/relationships/notesSlide" Target="/ppt/notesSlides/notesSlide8.xml" Id="R63ec7ad9cfd741a3" /></Relationships>
</file>

<file path=ppt/slides/_rels/slide9.xml.rels><?xml version="1.0" encoding="UTF-8" standalone="yes"?>
<Relationships xmlns="http://schemas.openxmlformats.org/package/2006/relationships"><Relationship Id="R75a805d6c3514525" Type="http://schemas.openxmlformats.org/officeDocument/2006/relationships/slideLayout" Target="/ppt/slideLayouts/slideLayout1.xml"/><Relationship Id="Rc346c410397f4c90" Type="http://schemas.openxmlformats.org/officeDocument/2006/relationships/notesSlide" Target="/ppt/notesSlides/notesSlide9.xml"/><Relationship Id="R80c72d0c3aa2468f" Type="http://schemas.openxmlformats.org/officeDocument/2006/relationships/image" Target="/ppt/media/eeg_waveform_to_tensor_features.png"/></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7fe1a9d5534687" /><Relationship Type="http://schemas.openxmlformats.org/officeDocument/2006/relationships/image" Target="/ppt/media/image4.png" Id="Ra4bf1d0d7d5f4b9a" /><Relationship Type="http://schemas.openxmlformats.org/officeDocument/2006/relationships/notesSlide" Target="/ppt/notesSlides/notesSlide10.xml" Id="R32a361a359cb45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Data'!$A$2:$A$5</c:f>
              <c:strCache>
                <c:ptCount val="4"/>
                <c:pt idx="0">
                  <c:v>Logistic
regression</c:v>
                </c:pt>
                <c:pt idx="1">
                  <c:v>RBF SVM</c:v>
                </c:pt>
                <c:pt idx="2">
                  <c:v>XGBoost</c:v>
                </c:pt>
                <c:pt idx="3">
                  <c:v>Supervised
TT</c:v>
                </c:pt>
              </c:strCache>
            </c:strRef>
          </c:cat>
          <c:val>
            <c:numRef>
              <c:f>'Chart Data'!$B$2:$B$5</c:f>
              <c:numCache>
                <c:formatCode>0.0%</c:formatCode>
                <c:ptCount val="4"/>
                <c:pt idx="0">
                  <c:v>0.545505</c:v>
                </c:pt>
                <c:pt idx="1">
                  <c:v>0.596822</c:v>
                </c:pt>
                <c:pt idx="2">
                  <c:v>0.576369</c:v>
                </c:pt>
                <c:pt idx="3">
                  <c:v>0.508857</c:v>
                </c:pt>
              </c:numCache>
            </c:numRef>
          </c:val>
        </c:ser>
        <c:ser>
          <c:idx val="1"/>
          <c:order val="1"/>
          <c:tx>
            <c:v>Accuracy</c:v>
          </c:tx>
          <c:spPr>
            <a:solidFill xmlns:a="http://schemas.openxmlformats.org/drawingml/2006/main">
              <a:srgbClr val="4779B8"/>
            </a:solidFill>
          </c:spPr>
          <c:cat>
            <c:strRef>
              <c:f>'Chart Data'!$C$2:$C$5</c:f>
              <c:strCache>
                <c:ptCount val="4"/>
                <c:pt idx="0">
                  <c:v>Logistic
regression</c:v>
                </c:pt>
                <c:pt idx="1">
                  <c:v>RBF SVM</c:v>
                </c:pt>
                <c:pt idx="2">
                  <c:v>XGBoost</c:v>
                </c:pt>
                <c:pt idx="3">
                  <c:v>Supervised
TT</c:v>
                </c:pt>
              </c:strCache>
            </c:strRef>
          </c:cat>
          <c:val>
            <c:numRef>
              <c:f>'Chart Data'!$D$2:$D$5</c:f>
              <c:numCache>
                <c:formatCode>0.0%</c:formatCode>
                <c:ptCount val="4"/>
                <c:pt idx="0">
                  <c:v>0.556818</c:v>
                </c:pt>
                <c:pt idx="1">
                  <c:v>0.606061</c:v>
                </c:pt>
                <c:pt idx="2">
                  <c:v>0.594697</c:v>
                </c:pt>
                <c:pt idx="3">
                  <c:v>0.526515</c:v>
                </c:pt>
              </c:numCache>
            </c:numRef>
          </c:val>
        </c:ser>
        <c:ser>
          <c:idx val="2"/>
          <c:order val="2"/>
          <c:tx>
            <c:v>FTD recall</c:v>
          </c:tx>
          <c:spPr>
            <a:solidFill xmlns:a="http://schemas.openxmlformats.org/drawingml/2006/main">
              <a:srgbClr val="D98236"/>
            </a:solidFill>
          </c:spPr>
          <c:cat>
            <c:strRef>
              <c:f>'Chart Data'!$E$2:$E$5</c:f>
              <c:strCache>
                <c:ptCount val="4"/>
                <c:pt idx="0">
                  <c:v>Logistic
regression</c:v>
                </c:pt>
                <c:pt idx="1">
                  <c:v>RBF SVM</c:v>
                </c:pt>
                <c:pt idx="2">
                  <c:v>XGBoost</c:v>
                </c:pt>
                <c:pt idx="3">
                  <c:v>Supervised
TT</c:v>
                </c:pt>
              </c:strCache>
            </c:strRef>
          </c:cat>
          <c:val>
            <c:numRef>
              <c:f>'Chart Data'!$F$2:$F$5</c:f>
              <c:numCache>
                <c:formatCode>0.0%</c:formatCode>
                <c:ptCount val="4"/>
                <c:pt idx="0">
                  <c:v>0.391304</c:v>
                </c:pt>
                <c:pt idx="1">
                  <c:v>0.434783</c:v>
                </c:pt>
                <c:pt idx="2">
                  <c:v>0.391304</c:v>
                </c:pt>
                <c:pt idx="3">
                  <c:v>0.304348</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48"/>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Data'!$A$2:$A$5</c:f>
              <c:strCache>
                <c:ptCount val="4"/>
                <c:pt idx="0">
                  <c:v>Nonnegative
CPD</c:v>
                </c:pt>
                <c:pt idx="1">
                  <c:v>Nonnegative
Tucker</c:v>
                </c:pt>
                <c:pt idx="2">
                  <c:v>PCA</c:v>
                </c:pt>
                <c:pt idx="3">
                  <c:v>NMF</c:v>
                </c:pt>
              </c:strCache>
            </c:strRef>
          </c:cat>
          <c:val>
            <c:numRef>
              <c:f>'Chart Data'!$B$2:$B$5</c:f>
              <c:numCache>
                <c:formatCode>0.0%</c:formatCode>
                <c:ptCount val="4"/>
                <c:pt idx="0">
                  <c:v>0.521739</c:v>
                </c:pt>
                <c:pt idx="1">
                  <c:v>0.536232</c:v>
                </c:pt>
                <c:pt idx="2">
                  <c:v>0.541063</c:v>
                </c:pt>
                <c:pt idx="3">
                  <c:v>0.541063</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48"/>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8E0EE2-3031-42CB-8ADC-C825A0B64CD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6BD5CAC3-B203-4541-A523-FEA46B664807}"/>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EE2E8"/>
                </a:solidFill>
                <a:latin typeface="Arial"/>
                <a:ea typeface="Arial"/>
                <a:cs typeface="Arial"/>
              </a:defRPr>
            </a:pPr>
            <a:r>
              <a:rPr sz="1725" b="0">
                <a:solidFill>
                  <a:srgbClr val="CEE2E8"/>
                </a:solidFill>
                <a:latin typeface="Arial"/>
                <a:ea typeface="Arial"/>
                <a:cs typeface="Arial"/>
              </a:rPr>
              <a:t>Literature review and project status</a:t>
            </a:r>
          </a:p>
        </p:txBody>
      </p:sp>
      <p:sp>
        <p:nvSpPr>
          <p:cNvPr id="3" name="">
            <a:extLst xmlns:a="http://schemas.openxmlformats.org/drawingml/2006/main">
              <a:ext uri="{FF2B5EF4-FFF2-40B4-BE49-F238E27FC236}">
                <a16:creationId xmlns:a16="http://schemas.microsoft.com/office/drawing/2014/main" id="{69FBBEE4-A995-494D-A7CA-D1B25CC8528C}"/>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CEE2E8"/>
                </a:solidFill>
                <a:latin typeface="Arial"/>
                <a:ea typeface="Arial"/>
                <a:cs typeface="Arial"/>
              </a:defRPr>
            </a:pPr>
            <a:r>
              <a:rPr sz="1125" b="0">
                <a:solidFill>
                  <a:srgbClr val="CEE2E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26269DF-3672-4F00-BB30-8BCBAE985D1A}"/>
              </a:ext>
            </a:extLst>
          </p:cNvPr>
          <p:cNvSpPr>
            <a:spLocks xmlns:a="http://schemas.openxmlformats.org/drawingml/2006/main" noGrp="1"/>
          </p:cNvSpPr>
          <p:nvPr/>
        </p:nvSpPr>
        <p:spPr>
          <a:xfrm xmlns:a="http://schemas.openxmlformats.org/drawingml/2006/main">
            <a:off x="609600" y="2143125"/>
            <a:ext cx="74676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Can resting EEG help distinguish</a:t>
            </a:r>
          </a:p>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Alzheimer’s disease, frontotemporal</a:t>
            </a:r>
          </a:p>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dementia and healthy controls?</a:t>
            </a:r>
          </a:p>
        </p:txBody>
      </p:sp>
      <p:sp>
        <p:nvSpPr>
          <p:cNvPr id="5" name="">
            <a:extLst xmlns:a="http://schemas.openxmlformats.org/drawingml/2006/main">
              <a:ext uri="{FF2B5EF4-FFF2-40B4-BE49-F238E27FC236}">
                <a16:creationId xmlns:a16="http://schemas.microsoft.com/office/drawing/2014/main" id="{8ACB21EB-597C-4186-B812-B116D3057E89}"/>
              </a:ext>
            </a:extLst>
          </p:cNvPr>
          <p:cNvSpPr>
            <a:spLocks xmlns:a="http://schemas.openxmlformats.org/drawingml/2006/main" noGrp="1"/>
          </p:cNvSpPr>
          <p:nvPr/>
        </p:nvSpPr>
        <p:spPr>
          <a:xfrm xmlns:a="http://schemas.openxmlformats.org/drawingml/2006/main">
            <a:off x="609600" y="44100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EE2E8"/>
                </a:solidFill>
                <a:latin typeface="Arial"/>
                <a:ea typeface="Arial"/>
                <a:cs typeface="Arial"/>
              </a:defRPr>
            </a:pPr>
            <a:r>
              <a:rPr sz="2025" b="0">
                <a:solidFill>
                  <a:srgbClr val="CEE2E8"/>
                </a:solidFill>
                <a:latin typeface="Arial"/>
                <a:ea typeface="Arial"/>
                <a:cs typeface="Arial"/>
              </a:rPr>
              <a:t>A participant level study of EEG features,</a:t>
            </a:r>
          </a:p>
          <a:p xmlns:a="http://schemas.openxmlformats.org/drawingml/2006/main">
            <a:pPr>
              <a:defRPr sz="2025" b="0">
                <a:solidFill>
                  <a:srgbClr val="CEE2E8"/>
                </a:solidFill>
                <a:latin typeface="Arial"/>
                <a:ea typeface="Arial"/>
                <a:cs typeface="Arial"/>
              </a:defRPr>
            </a:pPr>
            <a:r>
              <a:rPr sz="2025" b="0">
                <a:solidFill>
                  <a:srgbClr val="CEE2E8"/>
                </a:solidFill>
                <a:latin typeface="Arial"/>
                <a:ea typeface="Arial"/>
                <a:cs typeface="Arial"/>
              </a:rPr>
              <a:t>tensor decomposition and classification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680dafa312c43db"/>
          <a:stretch xmlns:a="http://schemas.openxmlformats.org/drawingml/2006/main"/>
        </p:blipFill>
        <p:spPr>
          <a:xfrm xmlns:a="http://schemas.openxmlformats.org/drawingml/2006/main">
            <a:off x="8039100" y="2000250"/>
            <a:ext cx="3619500" cy="3619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9B4916-D4FD-4AE0-8E02-2BACD598C534}"/>
              </a:ext>
            </a:extLst>
          </p:cNvPr>
          <p:cNvSpPr>
            <a:spLocks xmlns:a="http://schemas.openxmlformats.org/drawingml/2006/main" noGrp="1"/>
          </p:cNvSpPr>
          <p:nvPr/>
        </p:nvSpPr>
        <p:spPr>
          <a:xfrm xmlns:a="http://schemas.openxmlformats.org/drawingml/2006/main">
            <a:off x="609600" y="5800725"/>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EE2E8"/>
                </a:solidFill>
                <a:latin typeface="Arial"/>
                <a:ea typeface="Arial"/>
                <a:cs typeface="Arial"/>
              </a:defRPr>
            </a:pPr>
            <a:r>
              <a:rPr sz="1650" b="0">
                <a:solidFill>
                  <a:srgbClr val="CEE2E8"/>
                </a:solidFill>
                <a:latin typeface="Arial"/>
                <a:ea typeface="Arial"/>
                <a:cs typeface="Arial"/>
              </a:rPr>
              <a:t>First status presentation</a:t>
            </a:r>
          </a:p>
        </p:txBody>
      </p:sp>
    </p:spTree>
    <p:extLst>
      <p:ext uri="{BB962C8B-B14F-4D97-AF65-F5344CB8AC3E}">
        <p14:creationId xmlns:p14="http://schemas.microsoft.com/office/powerpoint/2010/main" val="6051997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95F932-ADB8-4C5C-890C-55B062F6129D}"/>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Background: EEG and dementia</a:t>
            </a:r>
          </a:p>
        </p:txBody>
      </p:sp>
      <p:sp>
        <p:nvSpPr>
          <p:cNvPr id="2" name="">
            <a:extLst xmlns:a="http://schemas.openxmlformats.org/drawingml/2006/main">
              <a:ext uri="{FF2B5EF4-FFF2-40B4-BE49-F238E27FC236}">
                <a16:creationId xmlns:a16="http://schemas.microsoft.com/office/drawing/2014/main" id="{8E0BEDD1-C0D1-4948-B0C5-0A9B8B000283}"/>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What prior work gives us</a:t>
            </a:r>
          </a:p>
        </p:txBody>
      </p:sp>
      <p:sp>
        <p:nvSpPr>
          <p:cNvPr id="3" name="">
            <a:extLst xmlns:a="http://schemas.openxmlformats.org/drawingml/2006/main">
              <a:ext uri="{FF2B5EF4-FFF2-40B4-BE49-F238E27FC236}">
                <a16:creationId xmlns:a16="http://schemas.microsoft.com/office/drawing/2014/main" id="{D646ED40-129C-4450-B70E-C589C819762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DBA6560-C0E8-4FCA-A99D-E80BB4750CB0}"/>
              </a:ext>
            </a:extLst>
          </p:cNvPr>
          <p:cNvSpPr>
            <a:spLocks xmlns:a="http://schemas.openxmlformats.org/drawingml/2006/main" noGrp="1"/>
          </p:cNvSpPr>
          <p:nvPr/>
        </p:nvSpPr>
        <p:spPr>
          <a:xfrm xmlns:a="http://schemas.openxmlformats.org/drawingml/2006/main">
            <a:off x="609600" y="2000250"/>
            <a:ext cx="700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EEG measures brain rhythms</a:t>
            </a:r>
          </a:p>
        </p:txBody>
      </p:sp>
      <p:sp>
        <p:nvSpPr>
          <p:cNvPr id="5" name="">
            <a:extLst xmlns:a="http://schemas.openxmlformats.org/drawingml/2006/main">
              <a:ext uri="{FF2B5EF4-FFF2-40B4-BE49-F238E27FC236}">
                <a16:creationId xmlns:a16="http://schemas.microsoft.com/office/drawing/2014/main" id="{49B21993-6CE3-4D75-AF9A-7E9CA1F01E34}"/>
              </a:ext>
            </a:extLst>
          </p:cNvPr>
          <p:cNvSpPr>
            <a:spLocks xmlns:a="http://schemas.openxmlformats.org/drawingml/2006/main" noGrp="1"/>
          </p:cNvSpPr>
          <p:nvPr/>
        </p:nvSpPr>
        <p:spPr>
          <a:xfrm xmlns:a="http://schemas.openxmlformats.org/drawingml/2006/main">
            <a:off x="609600" y="2428875"/>
            <a:ext cx="700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Frequency power, timing and electrode relationships can differ across dementia groups.</a:t>
            </a:r>
          </a:p>
        </p:txBody>
      </p:sp>
      <p:sp>
        <p:nvSpPr>
          <p:cNvPr id="6" name="">
            <a:extLst xmlns:a="http://schemas.openxmlformats.org/drawingml/2006/main">
              <a:ext uri="{FF2B5EF4-FFF2-40B4-BE49-F238E27FC236}">
                <a16:creationId xmlns:a16="http://schemas.microsoft.com/office/drawing/2014/main" id="{621A09ED-81E6-4CD1-BFCB-4D7B3130EB75}"/>
              </a:ext>
            </a:extLst>
          </p:cNvPr>
          <p:cNvSpPr>
            <a:spLocks xmlns:a="http://schemas.openxmlformats.org/drawingml/2006/main" noGrp="1"/>
          </p:cNvSpPr>
          <p:nvPr/>
        </p:nvSpPr>
        <p:spPr>
          <a:xfrm xmlns:a="http://schemas.openxmlformats.org/drawingml/2006/main">
            <a:off x="609600" y="3295650"/>
            <a:ext cx="700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Open research dataset</a:t>
            </a:r>
          </a:p>
        </p:txBody>
      </p:sp>
      <p:sp>
        <p:nvSpPr>
          <p:cNvPr id="7" name="">
            <a:extLst xmlns:a="http://schemas.openxmlformats.org/drawingml/2006/main">
              <a:ext uri="{FF2B5EF4-FFF2-40B4-BE49-F238E27FC236}">
                <a16:creationId xmlns:a16="http://schemas.microsoft.com/office/drawing/2014/main" id="{B542ECCD-6CF7-4DD1-AC7F-264611D688DA}"/>
              </a:ext>
            </a:extLst>
          </p:cNvPr>
          <p:cNvSpPr>
            <a:spLocks xmlns:a="http://schemas.openxmlformats.org/drawingml/2006/main" noGrp="1"/>
          </p:cNvSpPr>
          <p:nvPr/>
        </p:nvSpPr>
        <p:spPr>
          <a:xfrm xmlns:a="http://schemas.openxmlformats.org/drawingml/2006/main">
            <a:off x="609600" y="3724275"/>
            <a:ext cx="7000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Miltiadous et al. released eyes-closed EEG from 88 people: 36 AD, 23 FTD and 29 controls.</a:t>
            </a:r>
          </a:p>
        </p:txBody>
      </p:sp>
      <p:sp>
        <p:nvSpPr>
          <p:cNvPr id="8" name="">
            <a:extLst xmlns:a="http://schemas.openxmlformats.org/drawingml/2006/main">
              <a:ext uri="{FF2B5EF4-FFF2-40B4-BE49-F238E27FC236}">
                <a16:creationId xmlns:a16="http://schemas.microsoft.com/office/drawing/2014/main" id="{B412869C-017E-4809-AEAE-D33D2E1E6868}"/>
              </a:ext>
            </a:extLst>
          </p:cNvPr>
          <p:cNvSpPr>
            <a:spLocks xmlns:a="http://schemas.openxmlformats.org/drawingml/2006/main" noGrp="1"/>
          </p:cNvSpPr>
          <p:nvPr/>
        </p:nvSpPr>
        <p:spPr>
          <a:xfrm xmlns:a="http://schemas.openxmlformats.org/drawingml/2006/main">
            <a:off x="609600" y="4667250"/>
            <a:ext cx="700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Signals are already cleaned</a:t>
            </a:r>
          </a:p>
        </p:txBody>
      </p:sp>
      <p:sp>
        <p:nvSpPr>
          <p:cNvPr id="9" name="">
            <a:extLst xmlns:a="http://schemas.openxmlformats.org/drawingml/2006/main">
              <a:ext uri="{FF2B5EF4-FFF2-40B4-BE49-F238E27FC236}">
                <a16:creationId xmlns:a16="http://schemas.microsoft.com/office/drawing/2014/main" id="{7546EC0C-0E26-4B2B-A1FA-FCE522551137}"/>
              </a:ext>
            </a:extLst>
          </p:cNvPr>
          <p:cNvSpPr>
            <a:spLocks xmlns:a="http://schemas.openxmlformats.org/drawingml/2006/main" noGrp="1"/>
          </p:cNvSpPr>
          <p:nvPr/>
        </p:nvSpPr>
        <p:spPr>
          <a:xfrm xmlns:a="http://schemas.openxmlformats.org/drawingml/2006/main">
            <a:off x="609600" y="5095875"/>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The authors provide raw recordings and artifact-cleaned derivatives. Our analysis begins with the derivatives.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dd2b374e0e043b7"/>
          <a:stretch xmlns:a="http://schemas.openxmlformats.org/drawingml/2006/main"/>
        </p:blipFill>
        <p:spPr>
          <a:xfrm xmlns:a="http://schemas.openxmlformats.org/drawingml/2006/main">
            <a:off x="8210550" y="2400300"/>
            <a:ext cx="3381375" cy="3381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F27459B-720B-4878-A59B-9BD1CCBCE827}"/>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Miltiadous et al., Data (2023), DOI: 10.3390/data8060095</a:t>
            </a:r>
          </a:p>
        </p:txBody>
      </p:sp>
    </p:spTree>
    <p:extLst>
      <p:ext uri="{BB962C8B-B14F-4D97-AF65-F5344CB8AC3E}">
        <p14:creationId xmlns:p14="http://schemas.microsoft.com/office/powerpoint/2010/main" val="1552024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6B410E-9672-45A5-BAE9-429097D3EF83}"/>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What earlier studies found</a:t>
            </a:r>
          </a:p>
        </p:txBody>
      </p:sp>
      <p:sp>
        <p:nvSpPr>
          <p:cNvPr id="2" name="">
            <a:extLst xmlns:a="http://schemas.openxmlformats.org/drawingml/2006/main">
              <a:ext uri="{FF2B5EF4-FFF2-40B4-BE49-F238E27FC236}">
                <a16:creationId xmlns:a16="http://schemas.microsoft.com/office/drawing/2014/main" id="{077CFBE9-934A-4163-AC5F-F8A7E1107193}"/>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Three ideas shaped our experiments</a:t>
            </a:r>
          </a:p>
        </p:txBody>
      </p:sp>
      <p:sp>
        <p:nvSpPr>
          <p:cNvPr id="3" name="">
            <a:extLst xmlns:a="http://schemas.openxmlformats.org/drawingml/2006/main">
              <a:ext uri="{FF2B5EF4-FFF2-40B4-BE49-F238E27FC236}">
                <a16:creationId xmlns:a16="http://schemas.microsoft.com/office/drawing/2014/main" id="{6EF148AB-2C05-4F9A-BF5E-0C198F66B5D7}"/>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B7A20E2-4202-4A1C-8DD1-F1A54CE89E47}"/>
              </a:ext>
            </a:extLst>
          </p:cNvPr>
          <p:cNvSpPr>
            <a:spLocks xmlns:a="http://schemas.openxmlformats.org/drawingml/2006/main" noGrp="1"/>
          </p:cNvSpPr>
          <p:nvPr/>
        </p:nvSpPr>
        <p:spPr>
          <a:xfrm xmlns:a="http://schemas.openxmlformats.org/drawingml/2006/main">
            <a:off x="609600" y="19431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Validation changes the answer</a:t>
            </a:r>
          </a:p>
        </p:txBody>
      </p:sp>
      <p:sp>
        <p:nvSpPr>
          <p:cNvPr id="5" name="">
            <a:extLst xmlns:a="http://schemas.openxmlformats.org/drawingml/2006/main">
              <a:ext uri="{FF2B5EF4-FFF2-40B4-BE49-F238E27FC236}">
                <a16:creationId xmlns:a16="http://schemas.microsoft.com/office/drawing/2014/main" id="{0BD8D544-EEF7-4AF8-81DC-630D539C7B7F}"/>
              </a:ext>
            </a:extLst>
          </p:cNvPr>
          <p:cNvSpPr>
            <a:spLocks xmlns:a="http://schemas.openxmlformats.org/drawingml/2006/main" noGrp="1"/>
          </p:cNvSpPr>
          <p:nvPr/>
        </p:nvSpPr>
        <p:spPr>
          <a:xfrm xmlns:a="http://schemas.openxmlformats.org/drawingml/2006/main">
            <a:off x="609600" y="23717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Miltiadous et al. found much lower accuracy when testing on unseen people than when splitting EEG epochs.</a:t>
            </a:r>
          </a:p>
        </p:txBody>
      </p:sp>
      <p:sp>
        <p:nvSpPr>
          <p:cNvPr id="6" name="">
            <a:extLst xmlns:a="http://schemas.openxmlformats.org/drawingml/2006/main">
              <a:ext uri="{FF2B5EF4-FFF2-40B4-BE49-F238E27FC236}">
                <a16:creationId xmlns:a16="http://schemas.microsoft.com/office/drawing/2014/main" id="{6A6B344A-18F0-4CE3-9CCB-53A20B52A55F}"/>
              </a:ext>
            </a:extLst>
          </p:cNvPr>
          <p:cNvSpPr>
            <a:spLocks xmlns:a="http://schemas.openxmlformats.org/drawingml/2006/main" noGrp="1"/>
          </p:cNvSpPr>
          <p:nvPr/>
        </p:nvSpPr>
        <p:spPr>
          <a:xfrm xmlns:a="http://schemas.openxmlformats.org/drawingml/2006/main">
            <a:off x="609600" y="32194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Feature choice matters</a:t>
            </a:r>
          </a:p>
        </p:txBody>
      </p:sp>
      <p:sp>
        <p:nvSpPr>
          <p:cNvPr id="7" name="">
            <a:extLst xmlns:a="http://schemas.openxmlformats.org/drawingml/2006/main">
              <a:ext uri="{FF2B5EF4-FFF2-40B4-BE49-F238E27FC236}">
                <a16:creationId xmlns:a16="http://schemas.microsoft.com/office/drawing/2014/main" id="{BEF9DF3D-C9CA-4DB6-9643-AE1EC655964F}"/>
              </a:ext>
            </a:extLst>
          </p:cNvPr>
          <p:cNvSpPr>
            <a:spLocks xmlns:a="http://schemas.openxmlformats.org/drawingml/2006/main" noGrp="1"/>
          </p:cNvSpPr>
          <p:nvPr/>
        </p:nvSpPr>
        <p:spPr>
          <a:xfrm xmlns:a="http://schemas.openxmlformats.org/drawingml/2006/main">
            <a:off x="609600" y="36480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Rostamikia et al. examined power, complexity and connectivity. Gupta et al. used tensor factors to retain EEG structure.</a:t>
            </a:r>
          </a:p>
        </p:txBody>
      </p:sp>
      <p:sp>
        <p:nvSpPr>
          <p:cNvPr id="8" name="">
            <a:extLst xmlns:a="http://schemas.openxmlformats.org/drawingml/2006/main">
              <a:ext uri="{FF2B5EF4-FFF2-40B4-BE49-F238E27FC236}">
                <a16:creationId xmlns:a16="http://schemas.microsoft.com/office/drawing/2014/main" id="{60D96785-27E7-47BB-874D-154AA4927A49}"/>
              </a:ext>
            </a:extLst>
          </p:cNvPr>
          <p:cNvSpPr>
            <a:spLocks xmlns:a="http://schemas.openxmlformats.org/drawingml/2006/main" noGrp="1"/>
          </p:cNvSpPr>
          <p:nvPr/>
        </p:nvSpPr>
        <p:spPr>
          <a:xfrm xmlns:a="http://schemas.openxmlformats.org/drawingml/2006/main">
            <a:off x="609600" y="4591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Our question</a:t>
            </a:r>
          </a:p>
        </p:txBody>
      </p:sp>
      <p:sp>
        <p:nvSpPr>
          <p:cNvPr id="9" name="">
            <a:extLst xmlns:a="http://schemas.openxmlformats.org/drawingml/2006/main">
              <a:ext uri="{FF2B5EF4-FFF2-40B4-BE49-F238E27FC236}">
                <a16:creationId xmlns:a16="http://schemas.microsoft.com/office/drawing/2014/main" id="{4F699DBF-D597-4794-8ECE-C1F2A99344D8}"/>
              </a:ext>
            </a:extLst>
          </p:cNvPr>
          <p:cNvSpPr>
            <a:spLocks xmlns:a="http://schemas.openxmlformats.org/drawingml/2006/main" noGrp="1"/>
          </p:cNvSpPr>
          <p:nvPr/>
        </p:nvSpPr>
        <p:spPr>
          <a:xfrm xmlns:a="http://schemas.openxmlformats.org/drawingml/2006/main">
            <a:off x="609600" y="50196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Do compact tensor features improve three-class, person-level prediction beyond simpler EEG features?</a:t>
            </a:r>
          </a:p>
        </p:txBody>
      </p:sp>
      <p:sp>
        <p:nvSpPr>
          <p:cNvPr id="10" name="">
            <a:extLst xmlns:a="http://schemas.openxmlformats.org/drawingml/2006/main">
              <a:ext uri="{FF2B5EF4-FFF2-40B4-BE49-F238E27FC236}">
                <a16:creationId xmlns:a16="http://schemas.microsoft.com/office/drawing/2014/main" id="{16DE7731-2B9C-4671-B09A-C2F349081757}"/>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Miltiadous et al. (2021); Rostamikia et al. (2024); Gupta et al. (2023)</a:t>
            </a:r>
          </a:p>
        </p:txBody>
      </p:sp>
    </p:spTree>
    <p:extLst>
      <p:ext uri="{BB962C8B-B14F-4D97-AF65-F5344CB8AC3E}">
        <p14:creationId xmlns:p14="http://schemas.microsoft.com/office/powerpoint/2010/main" val="2263902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3DD8C9-803B-4070-B52A-290ABEB8AFCC}"/>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Data and preparation</a:t>
            </a:r>
          </a:p>
        </p:txBody>
      </p:sp>
      <p:sp>
        <p:nvSpPr>
          <p:cNvPr id="2" name="">
            <a:extLst xmlns:a="http://schemas.openxmlformats.org/drawingml/2006/main">
              <a:ext uri="{FF2B5EF4-FFF2-40B4-BE49-F238E27FC236}">
                <a16:creationId xmlns:a16="http://schemas.microsoft.com/office/drawing/2014/main" id="{89E2589E-97BC-4C89-82F3-9A6DED6FFC9D}"/>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We worked from preprocessed EEG, then applied project-specific quality checks</a:t>
            </a:r>
          </a:p>
        </p:txBody>
      </p:sp>
      <p:sp>
        <p:nvSpPr>
          <p:cNvPr id="3" name="">
            <a:extLst xmlns:a="http://schemas.openxmlformats.org/drawingml/2006/main">
              <a:ext uri="{FF2B5EF4-FFF2-40B4-BE49-F238E27FC236}">
                <a16:creationId xmlns:a16="http://schemas.microsoft.com/office/drawing/2014/main" id="{3FB48288-6FDB-4EA8-8B83-31E1E9A8A237}"/>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24C2267-3929-4F0C-BCD9-F86DEA16C843}"/>
              </a:ext>
            </a:extLst>
          </p:cNvPr>
          <p:cNvSpPr>
            <a:spLocks xmlns:a="http://schemas.openxmlformats.org/drawingml/2006/main" noGrp="1"/>
          </p:cNvSpPr>
          <p:nvPr/>
        </p:nvSpPr>
        <p:spPr>
          <a:xfrm xmlns:a="http://schemas.openxmlformats.org/drawingml/2006/main">
            <a:off x="609600" y="20478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3"/>
                </a:solidFill>
                <a:latin typeface="Arial"/>
                <a:ea typeface="Arial"/>
                <a:cs typeface="Arial"/>
              </a:defRPr>
            </a:pPr>
            <a:r>
              <a:rPr sz="2325" b="1">
                <a:solidFill>
                  <a:srgbClr val="007F83"/>
                </a:solidFill>
                <a:latin typeface="Arial"/>
                <a:ea typeface="Arial"/>
                <a:cs typeface="Arial"/>
              </a:rPr>
              <a:t>Primary study</a:t>
            </a:r>
          </a:p>
        </p:txBody>
      </p:sp>
      <p:sp>
        <p:nvSpPr>
          <p:cNvPr id="5" name="">
            <a:extLst xmlns:a="http://schemas.openxmlformats.org/drawingml/2006/main">
              <a:ext uri="{FF2B5EF4-FFF2-40B4-BE49-F238E27FC236}">
                <a16:creationId xmlns:a16="http://schemas.microsoft.com/office/drawing/2014/main" id="{46BB4B94-C60B-4220-B345-B2A8A067C958}"/>
              </a:ext>
            </a:extLst>
          </p:cNvPr>
          <p:cNvSpPr>
            <a:spLocks xmlns:a="http://schemas.openxmlformats.org/drawingml/2006/main" noGrp="1"/>
          </p:cNvSpPr>
          <p:nvPr/>
        </p:nvSpPr>
        <p:spPr>
          <a:xfrm xmlns:a="http://schemas.openxmlformats.org/drawingml/2006/main">
            <a:off x="609600" y="2705100"/>
            <a:ext cx="5095875"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69 people: 23 per diagnosis</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12,270 clean four-second windows</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Balanced for the first comparisons</a:t>
            </a:r>
          </a:p>
        </p:txBody>
      </p:sp>
      <p:sp>
        <p:nvSpPr>
          <p:cNvPr id="6" name="">
            <a:extLst xmlns:a="http://schemas.openxmlformats.org/drawingml/2006/main">
              <a:ext uri="{FF2B5EF4-FFF2-40B4-BE49-F238E27FC236}">
                <a16:creationId xmlns:a16="http://schemas.microsoft.com/office/drawing/2014/main" id="{B365BED7-1B2A-4A64-9EE9-64BA16B0E99D}"/>
              </a:ext>
            </a:extLst>
          </p:cNvPr>
          <p:cNvSpPr>
            <a:spLocks xmlns:a="http://schemas.openxmlformats.org/drawingml/2006/main" noGrp="1"/>
          </p:cNvSpPr>
          <p:nvPr/>
        </p:nvSpPr>
        <p:spPr>
          <a:xfrm xmlns:a="http://schemas.openxmlformats.org/drawingml/2006/main">
            <a:off x="6486525" y="2047875"/>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3"/>
                </a:solidFill>
                <a:latin typeface="Arial"/>
                <a:ea typeface="Arial"/>
                <a:cs typeface="Arial"/>
              </a:defRPr>
            </a:pPr>
            <a:r>
              <a:rPr sz="2325" b="1">
                <a:solidFill>
                  <a:srgbClr val="007F83"/>
                </a:solidFill>
                <a:latin typeface="Arial"/>
                <a:ea typeface="Arial"/>
                <a:cs typeface="Arial"/>
              </a:rPr>
              <a:t>Later full-cohort work</a:t>
            </a:r>
          </a:p>
        </p:txBody>
      </p:sp>
      <p:sp>
        <p:nvSpPr>
          <p:cNvPr id="7" name="">
            <a:extLst xmlns:a="http://schemas.openxmlformats.org/drawingml/2006/main">
              <a:ext uri="{FF2B5EF4-FFF2-40B4-BE49-F238E27FC236}">
                <a16:creationId xmlns:a16="http://schemas.microsoft.com/office/drawing/2014/main" id="{1E68B107-FECA-4CCE-9D4D-6E09E16DAC27}"/>
              </a:ext>
            </a:extLst>
          </p:cNvPr>
          <p:cNvSpPr>
            <a:spLocks xmlns:a="http://schemas.openxmlformats.org/drawingml/2006/main" noGrp="1"/>
          </p:cNvSpPr>
          <p:nvPr/>
        </p:nvSpPr>
        <p:spPr>
          <a:xfrm xmlns:a="http://schemas.openxmlformats.org/drawingml/2006/main">
            <a:off x="6486525" y="2705100"/>
            <a:ext cx="5095875"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88 people from the source dataset</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16,824 eligible windows after re-QC</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Kept each person together in evaluation</a:t>
            </a:r>
          </a:p>
        </p:txBody>
      </p:sp>
      <p:sp>
        <p:nvSpPr>
          <p:cNvPr id="8" name="">
            <a:extLst xmlns:a="http://schemas.openxmlformats.org/drawingml/2006/main">
              <a:ext uri="{FF2B5EF4-FFF2-40B4-BE49-F238E27FC236}">
                <a16:creationId xmlns:a16="http://schemas.microsoft.com/office/drawing/2014/main" id="{2722F7A2-44BC-4298-BD89-C50E0CF0907E}"/>
              </a:ext>
            </a:extLst>
          </p:cNvPr>
          <p:cNvSpPr>
            <a:spLocks xmlns:a="http://schemas.openxmlformats.org/drawingml/2006/main" noGrp="1"/>
          </p:cNvSpPr>
          <p:nvPr/>
        </p:nvSpPr>
        <p:spPr>
          <a:xfrm xmlns:a="http://schemas.openxmlformats.org/drawingml/2006/main">
            <a:off x="609600" y="57245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Boundary guards and artifact checks reduce avoidable signal problems</a:t>
            </a:r>
          </a:p>
        </p:txBody>
      </p:sp>
      <p:sp>
        <p:nvSpPr>
          <p:cNvPr id="9" name="">
            <a:extLst xmlns:a="http://schemas.openxmlformats.org/drawingml/2006/main">
              <a:ext uri="{FF2B5EF4-FFF2-40B4-BE49-F238E27FC236}">
                <a16:creationId xmlns:a16="http://schemas.microsoft.com/office/drawing/2014/main" id="{38E0ED28-EF7B-4E30-BC69-9E698A3B03DC}"/>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Authors’ filtering/ASR/ICA were not repeated. More targeted curation is proposed.</a:t>
            </a:r>
          </a:p>
        </p:txBody>
      </p:sp>
    </p:spTree>
    <p:extLst>
      <p:ext uri="{BB962C8B-B14F-4D97-AF65-F5344CB8AC3E}">
        <p14:creationId xmlns:p14="http://schemas.microsoft.com/office/powerpoint/2010/main" val="8509219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CB1537-555F-423D-9ECF-545021E80C75}"/>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Tensor methods: CPD and Tucker/MLSVD</a:t>
            </a:r>
          </a:p>
        </p:txBody>
      </p:sp>
      <p:sp>
        <p:nvSpPr>
          <p:cNvPr id="2" name="">
            <a:extLst xmlns:a="http://schemas.openxmlformats.org/drawingml/2006/main">
              <a:ext uri="{FF2B5EF4-FFF2-40B4-BE49-F238E27FC236}">
                <a16:creationId xmlns:a16="http://schemas.microsoft.com/office/drawing/2014/main" id="{74A8C3BE-3415-4414-A1CF-E93487A5C82A}"/>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Both compress the person × electrode × frequency × time tensor</a:t>
            </a:r>
          </a:p>
        </p:txBody>
      </p:sp>
      <p:sp>
        <p:nvSpPr>
          <p:cNvPr id="3" name="">
            <a:extLst xmlns:a="http://schemas.openxmlformats.org/drawingml/2006/main">
              <a:ext uri="{FF2B5EF4-FFF2-40B4-BE49-F238E27FC236}">
                <a16:creationId xmlns:a16="http://schemas.microsoft.com/office/drawing/2014/main" id="{475AA8C7-75F5-4351-B6CD-80C995988BF2}"/>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C81DEEB-C937-4D34-8D53-3B92A7C5CD5A}"/>
              </a:ext>
            </a:extLst>
          </p:cNvPr>
          <p:cNvSpPr>
            <a:spLocks xmlns:a="http://schemas.openxmlformats.org/drawingml/2006/main" noGrp="1"/>
          </p:cNvSpPr>
          <p:nvPr/>
        </p:nvSpPr>
        <p:spPr>
          <a:xfrm xmlns:a="http://schemas.openxmlformats.org/drawingml/2006/main">
            <a:off x="609600" y="19716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83"/>
                </a:solidFill>
                <a:latin typeface="Arial"/>
                <a:ea typeface="Arial"/>
                <a:cs typeface="Arial"/>
              </a:defRPr>
            </a:pPr>
            <a:r>
              <a:rPr sz="2400" b="1">
                <a:solidFill>
                  <a:srgbClr val="007F83"/>
                </a:solidFill>
                <a:latin typeface="Arial"/>
                <a:ea typeface="Arial"/>
                <a:cs typeface="Arial"/>
              </a:rPr>
              <a:t>CPD</a:t>
            </a:r>
          </a:p>
        </p:txBody>
      </p:sp>
      <p:sp>
        <p:nvSpPr>
          <p:cNvPr id="5" name="">
            <a:extLst xmlns:a="http://schemas.openxmlformats.org/drawingml/2006/main">
              <a:ext uri="{FF2B5EF4-FFF2-40B4-BE49-F238E27FC236}">
                <a16:creationId xmlns:a16="http://schemas.microsoft.com/office/drawing/2014/main" id="{76A2CA34-D24B-42FC-A82D-F4579D3E2C0B}"/>
              </a:ext>
            </a:extLst>
          </p:cNvPr>
          <p:cNvSpPr>
            <a:spLocks xmlns:a="http://schemas.openxmlformats.org/drawingml/2006/main" noGrp="1"/>
          </p:cNvSpPr>
          <p:nvPr/>
        </p:nvSpPr>
        <p:spPr>
          <a:xfrm xmlns:a="http://schemas.openxmlformats.org/drawingml/2006/main">
            <a:off x="609600" y="2524125"/>
            <a:ext cx="5095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B45"/>
                </a:solidFill>
                <a:latin typeface="Arial"/>
                <a:ea typeface="Arial"/>
                <a:cs typeface="Arial"/>
              </a:defRPr>
            </a:pPr>
            <a:r>
              <a:rPr sz="1950" b="0">
                <a:solidFill>
                  <a:srgbClr val="102B45"/>
                </a:solidFill>
                <a:latin typeface="Arial"/>
                <a:ea typeface="Arial"/>
                <a:cs typeface="Arial"/>
              </a:rPr>
              <a:t>A sum of rank-one components. Each component links one pattern from every tensor axis.</a:t>
            </a:r>
          </a:p>
        </p:txBody>
      </p:sp>
      <p:sp>
        <p:nvSpPr>
          <p:cNvPr id="6" name="">
            <a:extLst xmlns:a="http://schemas.openxmlformats.org/drawingml/2006/main">
              <a:ext uri="{FF2B5EF4-FFF2-40B4-BE49-F238E27FC236}">
                <a16:creationId xmlns:a16="http://schemas.microsoft.com/office/drawing/2014/main" id="{1C3534E9-7C81-4CCE-A875-E1C7EF608786}"/>
              </a:ext>
            </a:extLst>
          </p:cNvPr>
          <p:cNvSpPr>
            <a:spLocks xmlns:a="http://schemas.openxmlformats.org/drawingml/2006/main" noGrp="1"/>
          </p:cNvSpPr>
          <p:nvPr/>
        </p:nvSpPr>
        <p:spPr>
          <a:xfrm xmlns:a="http://schemas.openxmlformats.org/drawingml/2006/main">
            <a:off x="6391275" y="1971675"/>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83"/>
                </a:solidFill>
                <a:latin typeface="Arial"/>
                <a:ea typeface="Arial"/>
                <a:cs typeface="Arial"/>
              </a:defRPr>
            </a:pPr>
            <a:r>
              <a:rPr sz="2400" b="1">
                <a:solidFill>
                  <a:srgbClr val="007F83"/>
                </a:solidFill>
                <a:latin typeface="Arial"/>
                <a:ea typeface="Arial"/>
                <a:cs typeface="Arial"/>
              </a:rPr>
              <a:t>Tucker / MLSVD family</a:t>
            </a:r>
          </a:p>
        </p:txBody>
      </p:sp>
      <p:sp>
        <p:nvSpPr>
          <p:cNvPr id="7" name="">
            <a:extLst xmlns:a="http://schemas.openxmlformats.org/drawingml/2006/main">
              <a:ext uri="{FF2B5EF4-FFF2-40B4-BE49-F238E27FC236}">
                <a16:creationId xmlns:a16="http://schemas.microsoft.com/office/drawing/2014/main" id="{51DB07A7-EF82-4510-AAB3-033D57B5FA0A}"/>
              </a:ext>
            </a:extLst>
          </p:cNvPr>
          <p:cNvSpPr>
            <a:spLocks xmlns:a="http://schemas.openxmlformats.org/drawingml/2006/main" noGrp="1"/>
          </p:cNvSpPr>
          <p:nvPr/>
        </p:nvSpPr>
        <p:spPr>
          <a:xfrm xmlns:a="http://schemas.openxmlformats.org/drawingml/2006/main">
            <a:off x="6391275" y="2524125"/>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B45"/>
                </a:solidFill>
                <a:latin typeface="Arial"/>
                <a:ea typeface="Arial"/>
                <a:cs typeface="Arial"/>
              </a:defRPr>
            </a:pPr>
            <a:r>
              <a:rPr sz="1950" b="0">
                <a:solidFill>
                  <a:srgbClr val="102B45"/>
                </a:solidFill>
                <a:latin typeface="Arial"/>
                <a:ea typeface="Arial"/>
                <a:cs typeface="Arial"/>
              </a:rPr>
              <a:t>A small core connects factor matrices for each axis. MLSVD/HOSVD uses orthogonal factors.</a:t>
            </a:r>
          </a:p>
        </p:txBody>
      </p:sp>
      <p:sp>
        <p:nvSpPr>
          <p:cNvPr id="8" name="">
            <a:extLst xmlns:a="http://schemas.openxmlformats.org/drawingml/2006/main">
              <a:ext uri="{FF2B5EF4-FFF2-40B4-BE49-F238E27FC236}">
                <a16:creationId xmlns:a16="http://schemas.microsoft.com/office/drawing/2014/main" id="{32900346-5168-4ACA-94B5-4AFB1617DFCD}"/>
              </a:ext>
            </a:extLst>
          </p:cNvPr>
          <p:cNvSpPr>
            <a:spLocks xmlns:a="http://schemas.openxmlformats.org/drawingml/2006/main" noGrp="1"/>
          </p:cNvSpPr>
          <p:nvPr/>
        </p:nvSpPr>
        <p:spPr>
          <a:xfrm xmlns:a="http://schemas.openxmlformats.org/drawingml/2006/main">
            <a:off x="609600" y="4000500"/>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3"/>
                </a:solidFill>
                <a:latin typeface="Arial"/>
                <a:ea typeface="Arial"/>
                <a:cs typeface="Arial"/>
              </a:defRPr>
            </a:pPr>
            <a:r>
              <a:rPr sz="2250" b="1">
                <a:solidFill>
                  <a:srgbClr val="007F83"/>
                </a:solidFill>
                <a:latin typeface="Arial"/>
                <a:ea typeface="Arial"/>
                <a:cs typeface="Arial"/>
              </a:rPr>
              <a:t>How we used them</a:t>
            </a:r>
          </a:p>
        </p:txBody>
      </p:sp>
      <p:sp>
        <p:nvSpPr>
          <p:cNvPr id="9" name="">
            <a:extLst xmlns:a="http://schemas.openxmlformats.org/drawingml/2006/main">
              <a:ext uri="{FF2B5EF4-FFF2-40B4-BE49-F238E27FC236}">
                <a16:creationId xmlns:a16="http://schemas.microsoft.com/office/drawing/2014/main" id="{BD35277C-EE1B-4855-B8DD-6022FD5965B4}"/>
              </a:ext>
            </a:extLst>
          </p:cNvPr>
          <p:cNvSpPr>
            <a:spLocks xmlns:a="http://schemas.openxmlformats.org/drawingml/2006/main" noGrp="1"/>
          </p:cNvSpPr>
          <p:nvPr/>
        </p:nvSpPr>
        <p:spPr>
          <a:xfrm xmlns:a="http://schemas.openxmlformats.org/drawingml/2006/main">
            <a:off x="609600" y="4514850"/>
            <a:ext cx="7667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CPD and nonnegative Tucker compressed the spectral tensor.</a:t>
            </a:r>
          </a:p>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Their participant-level component scores</a:t>
            </a:r>
          </a:p>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became features for classification.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12989e835204898"/>
          <a:stretch xmlns:a="http://schemas.openxmlformats.org/drawingml/2006/main"/>
        </p:blipFill>
        <p:spPr>
          <a:xfrm xmlns:a="http://schemas.openxmlformats.org/drawingml/2006/main">
            <a:off x="9210675" y="4000500"/>
            <a:ext cx="1657350" cy="16573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D1E4D41-CE12-4395-9E67-20CE26660BAD}"/>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Nonnegative Tucker and HOSVD/MLSVD are related Tucker methods, not the same fit.</a:t>
            </a:r>
          </a:p>
        </p:txBody>
      </p:sp>
    </p:spTree>
    <p:extLst>
      <p:ext uri="{BB962C8B-B14F-4D97-AF65-F5344CB8AC3E}">
        <p14:creationId xmlns:p14="http://schemas.microsoft.com/office/powerpoint/2010/main" val="3283495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25C749-2E78-4308-B357-BA90FE7A3C4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How we evaluate</a:t>
            </a:r>
          </a:p>
        </p:txBody>
      </p:sp>
      <p:sp>
        <p:nvSpPr>
          <p:cNvPr id="2" name="">
            <a:extLst xmlns:a="http://schemas.openxmlformats.org/drawingml/2006/main">
              <a:ext uri="{FF2B5EF4-FFF2-40B4-BE49-F238E27FC236}">
                <a16:creationId xmlns:a16="http://schemas.microsoft.com/office/drawing/2014/main" id="{1A46D06F-4023-4EB1-B589-A7DDA4C339ED}"/>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The unit of evidence is the person, not the EEG window</a:t>
            </a:r>
          </a:p>
        </p:txBody>
      </p:sp>
      <p:sp>
        <p:nvSpPr>
          <p:cNvPr id="3" name="">
            <a:extLst xmlns:a="http://schemas.openxmlformats.org/drawingml/2006/main">
              <a:ext uri="{FF2B5EF4-FFF2-40B4-BE49-F238E27FC236}">
                <a16:creationId xmlns:a16="http://schemas.microsoft.com/office/drawing/2014/main" id="{6F0325E1-7DF9-4BD0-B760-790CD50C957C}"/>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BB620E13-DA4D-45FE-890E-5011FCE248F5}"/>
              </a:ext>
            </a:extLst>
          </p:cNvPr>
          <p:cNvSpPr>
            <a:spLocks xmlns:a="http://schemas.openxmlformats.org/drawingml/2006/main" noGrp="1"/>
          </p:cNvSpPr>
          <p:nvPr/>
        </p:nvSpPr>
        <p:spPr>
          <a:xfrm xmlns:a="http://schemas.openxmlformats.org/drawingml/2006/main">
            <a:off x="609600" y="193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Participant-level splits</a:t>
            </a:r>
          </a:p>
        </p:txBody>
      </p:sp>
      <p:sp>
        <p:nvSpPr>
          <p:cNvPr id="5" name="">
            <a:extLst xmlns:a="http://schemas.openxmlformats.org/drawingml/2006/main">
              <a:ext uri="{FF2B5EF4-FFF2-40B4-BE49-F238E27FC236}">
                <a16:creationId xmlns:a16="http://schemas.microsoft.com/office/drawing/2014/main" id="{AE1FFB88-9EAA-4C56-AD70-41EB73BFFBCE}"/>
              </a:ext>
            </a:extLst>
          </p:cNvPr>
          <p:cNvSpPr>
            <a:spLocks xmlns:a="http://schemas.openxmlformats.org/drawingml/2006/main" noGrp="1"/>
          </p:cNvSpPr>
          <p:nvPr/>
        </p:nvSpPr>
        <p:spPr>
          <a:xfrm xmlns:a="http://schemas.openxmlformats.org/drawingml/2006/main">
            <a:off x="609600" y="23622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All windows from one participant stay in the same training or test fold.</a:t>
            </a:r>
          </a:p>
        </p:txBody>
      </p:sp>
      <p:sp>
        <p:nvSpPr>
          <p:cNvPr id="6" name="">
            <a:extLst xmlns:a="http://schemas.openxmlformats.org/drawingml/2006/main">
              <a:ext uri="{FF2B5EF4-FFF2-40B4-BE49-F238E27FC236}">
                <a16:creationId xmlns:a16="http://schemas.microsoft.com/office/drawing/2014/main" id="{722F1216-BBC1-446A-96CC-F0DCE59D6D14}"/>
              </a:ext>
            </a:extLst>
          </p:cNvPr>
          <p:cNvSpPr>
            <a:spLocks xmlns:a="http://schemas.openxmlformats.org/drawingml/2006/main" noGrp="1"/>
          </p:cNvSpPr>
          <p:nvPr/>
        </p:nvSpPr>
        <p:spPr>
          <a:xfrm xmlns:a="http://schemas.openxmlformats.org/drawingml/2006/main">
            <a:off x="609600" y="32194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Nested selection</a:t>
            </a:r>
          </a:p>
        </p:txBody>
      </p:sp>
      <p:sp>
        <p:nvSpPr>
          <p:cNvPr id="7" name="">
            <a:extLst xmlns:a="http://schemas.openxmlformats.org/drawingml/2006/main">
              <a:ext uri="{FF2B5EF4-FFF2-40B4-BE49-F238E27FC236}">
                <a16:creationId xmlns:a16="http://schemas.microsoft.com/office/drawing/2014/main" id="{FF76E170-18E7-4072-8525-357C444199AF}"/>
              </a:ext>
            </a:extLst>
          </p:cNvPr>
          <p:cNvSpPr>
            <a:spLocks xmlns:a="http://schemas.openxmlformats.org/drawingml/2006/main" noGrp="1"/>
          </p:cNvSpPr>
          <p:nvPr/>
        </p:nvSpPr>
        <p:spPr>
          <a:xfrm xmlns:a="http://schemas.openxmlformats.org/drawingml/2006/main">
            <a:off x="609600" y="36480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Inner folds choose features and model settings. Outer folds estimate performance on held-out people.</a:t>
            </a:r>
          </a:p>
        </p:txBody>
      </p:sp>
      <p:sp>
        <p:nvSpPr>
          <p:cNvPr id="8" name="">
            <a:extLst xmlns:a="http://schemas.openxmlformats.org/drawingml/2006/main">
              <a:ext uri="{FF2B5EF4-FFF2-40B4-BE49-F238E27FC236}">
                <a16:creationId xmlns:a16="http://schemas.microsoft.com/office/drawing/2014/main" id="{5F04C313-DCCA-4F08-8751-117383DC5EF4}"/>
              </a:ext>
            </a:extLst>
          </p:cNvPr>
          <p:cNvSpPr>
            <a:spLocks xmlns:a="http://schemas.openxmlformats.org/drawingml/2006/main" noGrp="1"/>
          </p:cNvSpPr>
          <p:nvPr/>
        </p:nvSpPr>
        <p:spPr>
          <a:xfrm xmlns:a="http://schemas.openxmlformats.org/drawingml/2006/main">
            <a:off x="609600" y="45434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83"/>
                </a:solidFill>
                <a:latin typeface="Arial"/>
                <a:ea typeface="Arial"/>
                <a:cs typeface="Arial"/>
              </a:defRPr>
            </a:pPr>
            <a:r>
              <a:rPr sz="2175" b="1">
                <a:solidFill>
                  <a:srgbClr val="007F83"/>
                </a:solidFill>
                <a:latin typeface="Arial"/>
                <a:ea typeface="Arial"/>
                <a:cs typeface="Arial"/>
              </a:rPr>
              <a:t>Metrics</a:t>
            </a:r>
          </a:p>
        </p:txBody>
      </p:sp>
      <p:sp>
        <p:nvSpPr>
          <p:cNvPr id="9" name="">
            <a:extLst xmlns:a="http://schemas.openxmlformats.org/drawingml/2006/main">
              <a:ext uri="{FF2B5EF4-FFF2-40B4-BE49-F238E27FC236}">
                <a16:creationId xmlns:a16="http://schemas.microsoft.com/office/drawing/2014/main" id="{1D4DA201-F74B-4C8F-A1C5-1B144D8FCC71}"/>
              </a:ext>
            </a:extLst>
          </p:cNvPr>
          <p:cNvSpPr>
            <a:spLocks xmlns:a="http://schemas.openxmlformats.org/drawingml/2006/main" noGrp="1"/>
          </p:cNvSpPr>
          <p:nvPr/>
        </p:nvSpPr>
        <p:spPr>
          <a:xfrm xmlns:a="http://schemas.openxmlformats.org/drawingml/2006/main">
            <a:off x="609600" y="4972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Accuracy is total correct. Recall is correct within a class. Balanced accuracy averages recall across AD, FTD and controls.</a:t>
            </a:r>
          </a:p>
        </p:txBody>
      </p:sp>
      <p:sp>
        <p:nvSpPr>
          <p:cNvPr id="10" name="">
            <a:extLst xmlns:a="http://schemas.openxmlformats.org/drawingml/2006/main">
              <a:ext uri="{FF2B5EF4-FFF2-40B4-BE49-F238E27FC236}">
                <a16:creationId xmlns:a16="http://schemas.microsoft.com/office/drawing/2014/main" id="{FF9EBD0E-CD6D-454A-81E6-473D549EA2D1}"/>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Chance balanced accuracy for three classes: 33.3%. No independent external cohort yet.</a:t>
            </a:r>
          </a:p>
        </p:txBody>
      </p:sp>
    </p:spTree>
    <p:extLst>
      <p:ext uri="{BB962C8B-B14F-4D97-AF65-F5344CB8AC3E}">
        <p14:creationId xmlns:p14="http://schemas.microsoft.com/office/powerpoint/2010/main" val="9478659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8C8831-BE85-4149-92DC-497AE0E5272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Classifier results</a:t>
            </a:r>
          </a:p>
        </p:txBody>
      </p:sp>
      <p:sp>
        <p:nvSpPr>
          <p:cNvPr id="2" name="">
            <a:extLst xmlns:a="http://schemas.openxmlformats.org/drawingml/2006/main">
              <a:ext uri="{FF2B5EF4-FFF2-40B4-BE49-F238E27FC236}">
                <a16:creationId xmlns:a16="http://schemas.microsoft.com/office/drawing/2014/main" id="{131866B2-EFE2-40D6-8B04-5E0A77110AC0}"/>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Classifier comparison on the same 88 participants</a:t>
            </a:r>
          </a:p>
        </p:txBody>
      </p:sp>
      <p:sp>
        <p:nvSpPr>
          <p:cNvPr id="3" name="">
            <a:extLst xmlns:a="http://schemas.openxmlformats.org/drawingml/2006/main">
              <a:ext uri="{FF2B5EF4-FFF2-40B4-BE49-F238E27FC236}">
                <a16:creationId xmlns:a16="http://schemas.microsoft.com/office/drawing/2014/main" id="{274B751B-C1B2-4FD8-809C-FB56889173CC}"/>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08</a:t>
            </a:r>
          </a:p>
        </p:txBody>
      </p:sp>
      <p:graphicFrame>
        <p:nvGraphicFramePr>
          <p:cNvPr id="10" name="Chart"/>
          <p:cNvGraphicFramePr/>
          <p:nvPr/>
        </p:nvGraphicFramePr>
        <p:xfrm>
          <a:off xmlns:a="http://schemas.openxmlformats.org/drawingml/2006/main" x="609600" y="1971675"/>
          <a:ext xmlns:a="http://schemas.openxmlformats.org/drawingml/2006/main" cx="10972800" cy="3619500"/>
        </p:xfrm>
        <a:graphic xmlns:a="http://schemas.openxmlformats.org/drawingml/2006/main">
          <a:graphicData uri="http://schemas.openxmlformats.org/drawingml/2006/chart">
            <c:chart xmlns:r="http://schemas.openxmlformats.org/officeDocument/2006/relationships" xmlns:c="http://schemas.openxmlformats.org/drawingml/2006/chart" r:id="R0593b5479bc0407c"/>
          </a:graphicData>
        </a:graphic>
      </p:graphicFrame>
      <p:sp>
        <p:nvSpPr>
          <p:cNvPr id="5" name="">
            <a:extLst xmlns:a="http://schemas.openxmlformats.org/drawingml/2006/main">
              <a:ext uri="{FF2B5EF4-FFF2-40B4-BE49-F238E27FC236}">
                <a16:creationId xmlns:a16="http://schemas.microsoft.com/office/drawing/2014/main" id="{1BCE905E-A4B9-4730-9487-A01D1087CC2F}"/>
              </a:ext>
            </a:extLst>
          </p:cNvPr>
          <p:cNvSpPr>
            <a:spLocks xmlns:a="http://schemas.openxmlformats.org/drawingml/2006/main" noGrp="1"/>
          </p:cNvSpPr>
          <p:nvPr/>
        </p:nvSpPr>
        <p:spPr>
          <a:xfrm xmlns:a="http://schemas.openxmlformats.org/drawingml/2006/main">
            <a:off x="609600" y="57245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RBF SVM led these families, but FTD remained difficult</a:t>
            </a:r>
          </a:p>
        </p:txBody>
      </p:sp>
      <p:sp>
        <p:nvSpPr>
          <p:cNvPr id="6" name="">
            <a:extLst xmlns:a="http://schemas.openxmlformats.org/drawingml/2006/main">
              <a:ext uri="{FF2B5EF4-FFF2-40B4-BE49-F238E27FC236}">
                <a16:creationId xmlns:a16="http://schemas.microsoft.com/office/drawing/2014/main" id="{A9209027-449D-4EDB-A69F-10998F14DC50}"/>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Observed family results are secondary. Primary automatic selection: 54.5% balanced accuracy.</a:t>
            </a:r>
          </a:p>
        </p:txBody>
      </p:sp>
    </p:spTree>
    <p:extLst>
      <p:ext uri="{BB962C8B-B14F-4D97-AF65-F5344CB8AC3E}">
        <p14:creationId xmlns:p14="http://schemas.microsoft.com/office/powerpoint/2010/main" val="19976644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3CC420-A7E1-4A30-B996-24D83128586C}"/>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CPD and Tucker results</a:t>
            </a:r>
          </a:p>
        </p:txBody>
      </p:sp>
      <p:sp>
        <p:nvSpPr>
          <p:cNvPr id="2" name="">
            <a:extLst xmlns:a="http://schemas.openxmlformats.org/drawingml/2006/main">
              <a:ext uri="{FF2B5EF4-FFF2-40B4-BE49-F238E27FC236}">
                <a16:creationId xmlns:a16="http://schemas.microsoft.com/office/drawing/2014/main" id="{2C63FD0B-7CCC-4CBC-BCA4-F18B1289973A}"/>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Initial comparison on the same 69-person tensor</a:t>
            </a:r>
          </a:p>
        </p:txBody>
      </p:sp>
      <p:sp>
        <p:nvSpPr>
          <p:cNvPr id="3" name="">
            <a:extLst xmlns:a="http://schemas.openxmlformats.org/drawingml/2006/main">
              <a:ext uri="{FF2B5EF4-FFF2-40B4-BE49-F238E27FC236}">
                <a16:creationId xmlns:a16="http://schemas.microsoft.com/office/drawing/2014/main" id="{BFB8C713-83BC-4EFD-891F-094DB804660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09</a:t>
            </a:r>
          </a:p>
        </p:txBody>
      </p:sp>
      <p:graphicFrame>
        <p:nvGraphicFramePr>
          <p:cNvPr id="10" name="Chart"/>
          <p:cNvGraphicFramePr/>
          <p:nvPr/>
        </p:nvGraphicFramePr>
        <p:xfrm>
          <a:off xmlns:a="http://schemas.openxmlformats.org/drawingml/2006/main" x="609600" y="1971675"/>
          <a:ext xmlns:a="http://schemas.openxmlformats.org/drawingml/2006/main" cx="10972800" cy="3619500"/>
        </p:xfrm>
        <a:graphic xmlns:a="http://schemas.openxmlformats.org/drawingml/2006/main">
          <a:graphicData uri="http://schemas.openxmlformats.org/drawingml/2006/chart">
            <c:chart xmlns:r="http://schemas.openxmlformats.org/officeDocument/2006/relationships" xmlns:c="http://schemas.openxmlformats.org/drawingml/2006/chart" r:id="Rd8cc8bd825524667"/>
          </a:graphicData>
        </a:graphic>
      </p:graphicFrame>
      <p:sp>
        <p:nvSpPr>
          <p:cNvPr id="5" name="">
            <a:extLst xmlns:a="http://schemas.openxmlformats.org/drawingml/2006/main">
              <a:ext uri="{FF2B5EF4-FFF2-40B4-BE49-F238E27FC236}">
                <a16:creationId xmlns:a16="http://schemas.microsoft.com/office/drawing/2014/main" id="{A9CBCFAD-1782-4166-A93C-BD58F7B05853}"/>
              </a:ext>
            </a:extLst>
          </p:cNvPr>
          <p:cNvSpPr>
            <a:spLocks xmlns:a="http://schemas.openxmlformats.org/drawingml/2006/main" noGrp="1"/>
          </p:cNvSpPr>
          <p:nvPr/>
        </p:nvSpPr>
        <p:spPr>
          <a:xfrm xmlns:a="http://schemas.openxmlformats.org/drawingml/2006/main">
            <a:off x="609600" y="57245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CPD: 52.2%    Tucker: 53.6%    PCA/NMF: 54.1%</a:t>
            </a:r>
          </a:p>
        </p:txBody>
      </p:sp>
      <p:sp>
        <p:nvSpPr>
          <p:cNvPr id="6" name="">
            <a:extLst xmlns:a="http://schemas.openxmlformats.org/drawingml/2006/main">
              <a:ext uri="{FF2B5EF4-FFF2-40B4-BE49-F238E27FC236}">
                <a16:creationId xmlns:a16="http://schemas.microsoft.com/office/drawing/2014/main" id="{86735464-E503-4BD5-8E58-08FAC7D44E68}"/>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Best observed rank and classifier per method; exploratory, non-nested results.</a:t>
            </a:r>
          </a:p>
        </p:txBody>
      </p:sp>
    </p:spTree>
    <p:extLst>
      <p:ext uri="{BB962C8B-B14F-4D97-AF65-F5344CB8AC3E}">
        <p14:creationId xmlns:p14="http://schemas.microsoft.com/office/powerpoint/2010/main" val="16795454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0c72d0c3aa2468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0594C32F-47F7-49D3-BDF6-3932034C90CD}"/>
              </a:ext>
            </a:extLst>
          </p:cNvPr>
          <p:cNvSpPr>
            <a:spLocks xmlns:a="http://schemas.openxmlformats.org/drawingml/2006/main" noGrp="1"/>
          </p:cNvSpPr>
          <p:nvPr/>
        </p:nvSpPr>
        <p:spPr>
          <a:xfrm xmlns:a="http://schemas.openxmlformats.org/drawingml/2006/main">
            <a:off x="704850" y="400050"/>
            <a:ext cx="1078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1">
                <a:solidFill>
                  <a:srgbClr val="102B45"/>
                </a:solidFill>
                <a:latin typeface="Arial"/>
                <a:ea typeface="Arial"/>
                <a:cs typeface="Arial"/>
              </a:defRPr>
            </a:pPr>
            <a:r>
              <a:rPr sz="3225" b="1">
                <a:solidFill>
                  <a:srgbClr val="102B45"/>
                </a:solidFill>
                <a:latin typeface="Arial"/>
                <a:ea typeface="Arial"/>
                <a:cs typeface="Arial"/>
              </a:rPr>
              <a:t>EEG waveform to tensor features</a:t>
            </a:r>
          </a:p>
        </p:txBody>
      </p:sp>
      <p:sp>
        <p:nvSpPr>
          <p:cNvPr id="3" name="subtitle">
            <a:extLst xmlns:a="http://schemas.openxmlformats.org/drawingml/2006/main">
              <a:ext uri="{FF2B5EF4-FFF2-40B4-BE49-F238E27FC236}">
                <a16:creationId xmlns:a16="http://schemas.microsoft.com/office/drawing/2014/main" id="{EAAEA7EB-EA38-47B5-84DC-4F4C12DC0130}"/>
              </a:ext>
            </a:extLst>
          </p:cNvPr>
          <p:cNvSpPr>
            <a:spLocks xmlns:a="http://schemas.openxmlformats.org/drawingml/2006/main" noGrp="1"/>
          </p:cNvSpPr>
          <p:nvPr/>
        </p:nvSpPr>
        <p:spPr>
          <a:xfrm xmlns:a="http://schemas.openxmlformats.org/drawingml/2006/main">
            <a:off x="704850" y="1238250"/>
            <a:ext cx="10782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66779"/>
                </a:solidFill>
                <a:latin typeface="Arial"/>
                <a:ea typeface="Arial"/>
                <a:cs typeface="Arial"/>
              </a:defRPr>
            </a:pPr>
            <a:r>
              <a:rPr sz="1725" b="0">
                <a:solidFill>
                  <a:srgbClr val="566779"/>
                </a:solidFill>
                <a:latin typeface="Arial"/>
                <a:ea typeface="Arial"/>
                <a:cs typeface="Arial"/>
              </a:rPr>
              <a:t>The spectral representation used for the first CPD and Tucker comparison</a:t>
            </a:r>
          </a:p>
        </p:txBody>
      </p:sp>
      <p:sp>
        <p:nvSpPr>
          <p:cNvPr id="4" name="step-1-label">
            <a:extLst xmlns:a="http://schemas.openxmlformats.org/drawingml/2006/main">
              <a:ext uri="{FF2B5EF4-FFF2-40B4-BE49-F238E27FC236}">
                <a16:creationId xmlns:a16="http://schemas.microsoft.com/office/drawing/2014/main" id="{38556645-2079-41F8-BADF-AAB34DA0AD08}"/>
              </a:ext>
            </a:extLst>
          </p:cNvPr>
          <p:cNvSpPr>
            <a:spLocks xmlns:a="http://schemas.openxmlformats.org/drawingml/2006/main" noGrp="1"/>
          </p:cNvSpPr>
          <p:nvPr/>
        </p:nvSpPr>
        <p:spPr>
          <a:xfrm xmlns:a="http://schemas.openxmlformats.org/drawingml/2006/main">
            <a:off x="95250" y="1628775"/>
            <a:ext cx="2047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008487"/>
                </a:solidFill>
                <a:latin typeface="Arial"/>
                <a:ea typeface="Arial"/>
                <a:cs typeface="Arial"/>
              </a:defRPr>
            </a:pPr>
            <a:r>
              <a:rPr sz="1425" b="1">
                <a:solidFill>
                  <a:srgbClr val="008487"/>
                </a:solidFill>
                <a:latin typeface="Arial"/>
                <a:ea typeface="Arial"/>
                <a:cs typeface="Arial"/>
              </a:rPr>
              <a:t>Cleaned EEG</a:t>
            </a:r>
          </a:p>
        </p:txBody>
      </p:sp>
      <p:sp>
        <p:nvSpPr>
          <p:cNvPr id="5" name="step-1-caption">
            <a:extLst xmlns:a="http://schemas.openxmlformats.org/drawingml/2006/main">
              <a:ext uri="{FF2B5EF4-FFF2-40B4-BE49-F238E27FC236}">
                <a16:creationId xmlns:a16="http://schemas.microsoft.com/office/drawing/2014/main" id="{348CA09A-B209-4224-BBD2-D2F27033C744}"/>
              </a:ext>
            </a:extLst>
          </p:cNvPr>
          <p:cNvSpPr>
            <a:spLocks xmlns:a="http://schemas.openxmlformats.org/drawingml/2006/main" noGrp="1"/>
          </p:cNvSpPr>
          <p:nvPr/>
        </p:nvSpPr>
        <p:spPr>
          <a:xfrm xmlns:a="http://schemas.openxmlformats.org/drawingml/2006/main">
            <a:off x="95250" y="4838700"/>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19 electrodes</a:t>
            </a:r>
          </a:p>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artifact-cleaned derivative</a:t>
            </a:r>
          </a:p>
        </p:txBody>
      </p:sp>
      <p:sp>
        <p:nvSpPr>
          <p:cNvPr id="6" name="step-2-label">
            <a:extLst xmlns:a="http://schemas.openxmlformats.org/drawingml/2006/main">
              <a:ext uri="{FF2B5EF4-FFF2-40B4-BE49-F238E27FC236}">
                <a16:creationId xmlns:a16="http://schemas.microsoft.com/office/drawing/2014/main" id="{6C4677B6-EDD3-4C92-B136-7E44DB683914}"/>
              </a:ext>
            </a:extLst>
          </p:cNvPr>
          <p:cNvSpPr>
            <a:spLocks xmlns:a="http://schemas.openxmlformats.org/drawingml/2006/main" noGrp="1"/>
          </p:cNvSpPr>
          <p:nvPr/>
        </p:nvSpPr>
        <p:spPr>
          <a:xfrm xmlns:a="http://schemas.openxmlformats.org/drawingml/2006/main">
            <a:off x="2447925" y="16287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008487"/>
                </a:solidFill>
                <a:latin typeface="Arial"/>
                <a:ea typeface="Arial"/>
                <a:cs typeface="Arial"/>
              </a:defRPr>
            </a:pPr>
            <a:r>
              <a:rPr sz="1425" b="1">
                <a:solidFill>
                  <a:srgbClr val="008487"/>
                </a:solidFill>
                <a:latin typeface="Arial"/>
                <a:ea typeface="Arial"/>
                <a:cs typeface="Arial"/>
              </a:rPr>
              <a:t>4 s windows</a:t>
            </a:r>
          </a:p>
        </p:txBody>
      </p:sp>
      <p:sp>
        <p:nvSpPr>
          <p:cNvPr id="7" name="step-2-caption">
            <a:extLst xmlns:a="http://schemas.openxmlformats.org/drawingml/2006/main">
              <a:ext uri="{FF2B5EF4-FFF2-40B4-BE49-F238E27FC236}">
                <a16:creationId xmlns:a16="http://schemas.microsoft.com/office/drawing/2014/main" id="{2730CFDE-48E5-41B8-AF27-55A2EB8D8A97}"/>
              </a:ext>
            </a:extLst>
          </p:cNvPr>
          <p:cNvSpPr>
            <a:spLocks xmlns:a="http://schemas.openxmlformats.org/drawingml/2006/main" noGrp="1"/>
          </p:cNvSpPr>
          <p:nvPr/>
        </p:nvSpPr>
        <p:spPr>
          <a:xfrm xmlns:a="http://schemas.openxmlformats.org/drawingml/2006/main">
            <a:off x="2447925" y="48387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250 Hz</a:t>
            </a:r>
          </a:p>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19 × 1,000 samples</a:t>
            </a:r>
          </a:p>
        </p:txBody>
      </p:sp>
      <p:sp>
        <p:nvSpPr>
          <p:cNvPr id="8" name="step-3-label">
            <a:extLst xmlns:a="http://schemas.openxmlformats.org/drawingml/2006/main">
              <a:ext uri="{FF2B5EF4-FFF2-40B4-BE49-F238E27FC236}">
                <a16:creationId xmlns:a16="http://schemas.microsoft.com/office/drawing/2014/main" id="{C3A07C83-E26D-4695-89F9-3F116BB16091}"/>
              </a:ext>
            </a:extLst>
          </p:cNvPr>
          <p:cNvSpPr>
            <a:spLocks xmlns:a="http://schemas.openxmlformats.org/drawingml/2006/main" noGrp="1"/>
          </p:cNvSpPr>
          <p:nvPr/>
        </p:nvSpPr>
        <p:spPr>
          <a:xfrm xmlns:a="http://schemas.openxmlformats.org/drawingml/2006/main">
            <a:off x="4895850" y="1628775"/>
            <a:ext cx="2047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008487"/>
                </a:solidFill>
                <a:latin typeface="Arial"/>
                <a:ea typeface="Arial"/>
                <a:cs typeface="Arial"/>
              </a:defRPr>
            </a:pPr>
            <a:r>
              <a:rPr sz="1425" b="1">
                <a:solidFill>
                  <a:srgbClr val="008487"/>
                </a:solidFill>
                <a:latin typeface="Arial"/>
                <a:ea typeface="Arial"/>
                <a:cs typeface="Arial"/>
              </a:rPr>
              <a:t>Welch PSD</a:t>
            </a:r>
          </a:p>
        </p:txBody>
      </p:sp>
      <p:sp>
        <p:nvSpPr>
          <p:cNvPr id="9" name="step-3-caption">
            <a:extLst xmlns:a="http://schemas.openxmlformats.org/drawingml/2006/main">
              <a:ext uri="{FF2B5EF4-FFF2-40B4-BE49-F238E27FC236}">
                <a16:creationId xmlns:a16="http://schemas.microsoft.com/office/drawing/2014/main" id="{EBD8E82B-4FD0-4FD8-AED0-58D065C6553F}"/>
              </a:ext>
            </a:extLst>
          </p:cNvPr>
          <p:cNvSpPr>
            <a:spLocks xmlns:a="http://schemas.openxmlformats.org/drawingml/2006/main" noGrp="1"/>
          </p:cNvSpPr>
          <p:nvPr/>
        </p:nvSpPr>
        <p:spPr>
          <a:xfrm xmlns:a="http://schemas.openxmlformats.org/drawingml/2006/main">
            <a:off x="4895850" y="4838700"/>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√(relative PSD)</a:t>
            </a:r>
          </a:p>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1–30 Hz, 59 bins</a:t>
            </a:r>
          </a:p>
        </p:txBody>
      </p:sp>
      <p:sp>
        <p:nvSpPr>
          <p:cNvPr id="10" name="step-4-label">
            <a:extLst xmlns:a="http://schemas.openxmlformats.org/drawingml/2006/main">
              <a:ext uri="{FF2B5EF4-FFF2-40B4-BE49-F238E27FC236}">
                <a16:creationId xmlns:a16="http://schemas.microsoft.com/office/drawing/2014/main" id="{C08FB2F2-0E64-4912-8D0A-700B618EC0BF}"/>
              </a:ext>
            </a:extLst>
          </p:cNvPr>
          <p:cNvSpPr>
            <a:spLocks xmlns:a="http://schemas.openxmlformats.org/drawingml/2006/main" noGrp="1"/>
          </p:cNvSpPr>
          <p:nvPr/>
        </p:nvSpPr>
        <p:spPr>
          <a:xfrm xmlns:a="http://schemas.openxmlformats.org/drawingml/2006/main">
            <a:off x="7191375" y="16287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008487"/>
                </a:solidFill>
                <a:latin typeface="Arial"/>
                <a:ea typeface="Arial"/>
                <a:cs typeface="Arial"/>
              </a:defRPr>
            </a:pPr>
            <a:r>
              <a:rPr sz="1425" b="1">
                <a:solidFill>
                  <a:srgbClr val="008487"/>
                </a:solidFill>
                <a:latin typeface="Arial"/>
                <a:ea typeface="Arial"/>
                <a:cs typeface="Arial"/>
              </a:rPr>
              <a:t>10 recording bins</a:t>
            </a:r>
          </a:p>
        </p:txBody>
      </p:sp>
      <p:sp>
        <p:nvSpPr>
          <p:cNvPr id="11" name="step-4-caption">
            <a:extLst xmlns:a="http://schemas.openxmlformats.org/drawingml/2006/main">
              <a:ext uri="{FF2B5EF4-FFF2-40B4-BE49-F238E27FC236}">
                <a16:creationId xmlns:a16="http://schemas.microsoft.com/office/drawing/2014/main" id="{BA9C9B16-EDB5-4524-92ED-FF920F481251}"/>
              </a:ext>
            </a:extLst>
          </p:cNvPr>
          <p:cNvSpPr>
            <a:spLocks xmlns:a="http://schemas.openxmlformats.org/drawingml/2006/main" noGrp="1"/>
          </p:cNvSpPr>
          <p:nvPr/>
        </p:nvSpPr>
        <p:spPr>
          <a:xfrm xmlns:a="http://schemas.openxmlformats.org/drawingml/2006/main">
            <a:off x="7191375" y="48387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Chronological deciles</a:t>
            </a:r>
          </a:p>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median map in each</a:t>
            </a:r>
          </a:p>
        </p:txBody>
      </p:sp>
      <p:sp>
        <p:nvSpPr>
          <p:cNvPr id="12" name="step-5-label">
            <a:extLst xmlns:a="http://schemas.openxmlformats.org/drawingml/2006/main">
              <a:ext uri="{FF2B5EF4-FFF2-40B4-BE49-F238E27FC236}">
                <a16:creationId xmlns:a16="http://schemas.microsoft.com/office/drawing/2014/main" id="{F9EF47F4-18D0-4C3E-B2A5-063450B3DCFC}"/>
              </a:ext>
            </a:extLst>
          </p:cNvPr>
          <p:cNvSpPr>
            <a:spLocks xmlns:a="http://schemas.openxmlformats.org/drawingml/2006/main" noGrp="1"/>
          </p:cNvSpPr>
          <p:nvPr/>
        </p:nvSpPr>
        <p:spPr>
          <a:xfrm xmlns:a="http://schemas.openxmlformats.org/drawingml/2006/main">
            <a:off x="9591675" y="1628775"/>
            <a:ext cx="24479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008487"/>
                </a:solidFill>
                <a:latin typeface="Arial"/>
                <a:ea typeface="Arial"/>
                <a:cs typeface="Arial"/>
              </a:defRPr>
            </a:pPr>
            <a:r>
              <a:rPr sz="1425" b="1">
                <a:solidFill>
                  <a:srgbClr val="008487"/>
                </a:solidFill>
                <a:latin typeface="Arial"/>
                <a:ea typeface="Arial"/>
                <a:cs typeface="Arial"/>
              </a:rPr>
              <a:t>Tensor features</a:t>
            </a:r>
          </a:p>
        </p:txBody>
      </p:sp>
      <p:sp>
        <p:nvSpPr>
          <p:cNvPr id="13" name="step-5-caption">
            <a:extLst xmlns:a="http://schemas.openxmlformats.org/drawingml/2006/main">
              <a:ext uri="{FF2B5EF4-FFF2-40B4-BE49-F238E27FC236}">
                <a16:creationId xmlns:a16="http://schemas.microsoft.com/office/drawing/2014/main" id="{2180A43B-9A78-40D4-95D8-545AA19FEF04}"/>
              </a:ext>
            </a:extLst>
          </p:cNvPr>
          <p:cNvSpPr>
            <a:spLocks xmlns:a="http://schemas.openxmlformats.org/drawingml/2006/main" noGrp="1"/>
          </p:cNvSpPr>
          <p:nvPr/>
        </p:nvSpPr>
        <p:spPr>
          <a:xfrm xmlns:a="http://schemas.openxmlformats.org/drawingml/2006/main">
            <a:off x="9591675" y="4838700"/>
            <a:ext cx="2447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69 × 19 × 59 × 10</a:t>
            </a:r>
          </a:p>
          <a:p xmlns:a="http://schemas.openxmlformats.org/drawingml/2006/main">
            <a:pPr algn="ctr">
              <a:defRPr sz="1275" b="0">
                <a:solidFill>
                  <a:srgbClr val="102B45"/>
                </a:solidFill>
                <a:latin typeface="Arial"/>
                <a:ea typeface="Arial"/>
                <a:cs typeface="Arial"/>
              </a:defRPr>
            </a:pPr>
            <a:r>
              <a:rPr sz="1275" b="0">
                <a:solidFill>
                  <a:srgbClr val="102B45"/>
                </a:solidFill>
                <a:latin typeface="Arial"/>
                <a:ea typeface="Arial"/>
                <a:cs typeface="Arial"/>
              </a:rPr>
              <a:t>CPD / Tucker scores</a:t>
            </a:r>
          </a:p>
        </p:txBody>
      </p:sp>
      <p:sp>
        <p:nvSpPr>
          <p:cNvPr id="14" name="footnote">
            <a:extLst xmlns:a="http://schemas.openxmlformats.org/drawingml/2006/main">
              <a:ext uri="{FF2B5EF4-FFF2-40B4-BE49-F238E27FC236}">
                <a16:creationId xmlns:a16="http://schemas.microsoft.com/office/drawing/2014/main" id="{2F041DC1-3D81-4C99-A572-8799FC72ABFA}"/>
              </a:ext>
            </a:extLst>
          </p:cNvPr>
          <p:cNvSpPr>
            <a:spLocks xmlns:a="http://schemas.openxmlformats.org/drawingml/2006/main" noGrp="1"/>
          </p:cNvSpPr>
          <p:nvPr/>
        </p:nvSpPr>
        <p:spPr>
          <a:xfrm xmlns:a="http://schemas.openxmlformats.org/drawingml/2006/main">
            <a:off x="704850" y="61817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0">
                <a:solidFill>
                  <a:srgbClr val="566779"/>
                </a:solidFill>
                <a:latin typeface="Arial"/>
                <a:ea typeface="Arial"/>
                <a:cs typeface="Arial"/>
              </a:defRPr>
            </a:pPr>
            <a:r>
              <a:rPr sz="1050" b="0">
                <a:solidFill>
                  <a:srgbClr val="566779"/>
                </a:solidFill>
                <a:latin typeface="Arial"/>
                <a:ea typeface="Arial"/>
                <a:cs typeface="Arial"/>
              </a:rPr>
              <a:t>The dataset authors cleaned the EEG before our analysis. Each held-out person was projected onto a basis fitted only on training people.</a:t>
            </a:r>
          </a:p>
        </p:txBody>
      </p:sp>
      <p:sp>
        <p:nvSpPr>
          <p:cNvPr id="15" name="page-number">
            <a:extLst xmlns:a="http://schemas.openxmlformats.org/drawingml/2006/main">
              <a:ext uri="{FF2B5EF4-FFF2-40B4-BE49-F238E27FC236}">
                <a16:creationId xmlns:a16="http://schemas.microsoft.com/office/drawing/2014/main" id="{C4636A0D-2DF1-465A-91BF-5F19DA1858F3}"/>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566779"/>
                </a:solidFill>
                <a:latin typeface="Arial"/>
                <a:ea typeface="Arial"/>
                <a:cs typeface="Arial"/>
              </a:defRPr>
            </a:pPr>
            <a:r>
              <a:rPr sz="900" b="0">
                <a:solidFill>
                  <a:srgbClr val="566779"/>
                </a:solidFill>
                <a:latin typeface="Arial"/>
                <a:ea typeface="Arial"/>
                <a:cs typeface="Arial"/>
              </a:rPr>
              <a:t>05</a:t>
            </a:r>
          </a:p>
        </p:txBody>
      </p:sp>
    </p:spTree>
    <p:extLst>
      <p:ext uri="{BB962C8B-B14F-4D97-AF65-F5344CB8AC3E}">
        <p14:creationId xmlns:p14="http://schemas.microsoft.com/office/powerpoint/2010/main" val="17290613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B091EA-E01D-4CF5-A144-152E05FDE107}"/>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Project status and next steps</a:t>
            </a:r>
          </a:p>
        </p:txBody>
      </p:sp>
      <p:sp>
        <p:nvSpPr>
          <p:cNvPr id="2" name="">
            <a:extLst xmlns:a="http://schemas.openxmlformats.org/drawingml/2006/main">
              <a:ext uri="{FF2B5EF4-FFF2-40B4-BE49-F238E27FC236}">
                <a16:creationId xmlns:a16="http://schemas.microsoft.com/office/drawing/2014/main" id="{00B9DB8C-E4EB-425D-8236-A6D3C51D6E99}"/>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Test whether targeted signal curation improves participant-level results</a:t>
            </a:r>
          </a:p>
        </p:txBody>
      </p:sp>
      <p:sp>
        <p:nvSpPr>
          <p:cNvPr id="3" name="">
            <a:extLst xmlns:a="http://schemas.openxmlformats.org/drawingml/2006/main">
              <a:ext uri="{FF2B5EF4-FFF2-40B4-BE49-F238E27FC236}">
                <a16:creationId xmlns:a16="http://schemas.microsoft.com/office/drawing/2014/main" id="{DDD42D06-5BEB-4B81-9A6C-C08AD54EEC56}"/>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2E502EA-DCC0-46D4-9F3F-B2F01296930D}"/>
              </a:ext>
            </a:extLst>
          </p:cNvPr>
          <p:cNvSpPr>
            <a:spLocks xmlns:a="http://schemas.openxmlformats.org/drawingml/2006/main" noGrp="1"/>
          </p:cNvSpPr>
          <p:nvPr/>
        </p:nvSpPr>
        <p:spPr>
          <a:xfrm xmlns:a="http://schemas.openxmlformats.org/drawingml/2006/main">
            <a:off x="609600" y="1914525"/>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3"/>
                </a:solidFill>
                <a:latin typeface="Arial"/>
                <a:ea typeface="Arial"/>
                <a:cs typeface="Arial"/>
              </a:defRPr>
            </a:pPr>
            <a:r>
              <a:rPr sz="2325" b="1">
                <a:solidFill>
                  <a:srgbClr val="007F83"/>
                </a:solidFill>
                <a:latin typeface="Arial"/>
                <a:ea typeface="Arial"/>
                <a:cs typeface="Arial"/>
              </a:rPr>
              <a:t>Completed</a:t>
            </a:r>
          </a:p>
        </p:txBody>
      </p:sp>
      <p:sp>
        <p:nvSpPr>
          <p:cNvPr id="5" name="">
            <a:extLst xmlns:a="http://schemas.openxmlformats.org/drawingml/2006/main">
              <a:ext uri="{FF2B5EF4-FFF2-40B4-BE49-F238E27FC236}">
                <a16:creationId xmlns:a16="http://schemas.microsoft.com/office/drawing/2014/main" id="{312EAF6D-3AC1-4A81-A752-C427637C7FE6}"/>
              </a:ext>
            </a:extLst>
          </p:cNvPr>
          <p:cNvSpPr>
            <a:spLocks xmlns:a="http://schemas.openxmlformats.org/drawingml/2006/main" noGrp="1"/>
          </p:cNvSpPr>
          <p:nvPr/>
        </p:nvSpPr>
        <p:spPr>
          <a:xfrm xmlns:a="http://schemas.openxmlformats.org/drawingml/2006/main">
            <a:off x="609600" y="24288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EEG inventory and reproducible preparation</a:t>
            </a:r>
          </a:p>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Corrected channel labels and boundary handling</a:t>
            </a:r>
          </a:p>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Tensor and classifier comparisons</a:t>
            </a:r>
          </a:p>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Recorded FTD errors</a:t>
            </a:r>
          </a:p>
        </p:txBody>
      </p:sp>
      <p:sp>
        <p:nvSpPr>
          <p:cNvPr id="6" name="">
            <a:extLst xmlns:a="http://schemas.openxmlformats.org/drawingml/2006/main">
              <a:ext uri="{FF2B5EF4-FFF2-40B4-BE49-F238E27FC236}">
                <a16:creationId xmlns:a16="http://schemas.microsoft.com/office/drawing/2014/main" id="{CE5D5B05-B29B-44A3-BA46-D2A601BBE485}"/>
              </a:ext>
            </a:extLst>
          </p:cNvPr>
          <p:cNvSpPr>
            <a:spLocks xmlns:a="http://schemas.openxmlformats.org/drawingml/2006/main" noGrp="1"/>
          </p:cNvSpPr>
          <p:nvPr/>
        </p:nvSpPr>
        <p:spPr>
          <a:xfrm xmlns:a="http://schemas.openxmlformats.org/drawingml/2006/main">
            <a:off x="609600" y="4000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3"/>
                </a:solidFill>
                <a:latin typeface="Arial"/>
                <a:ea typeface="Arial"/>
                <a:cs typeface="Arial"/>
              </a:defRPr>
            </a:pPr>
            <a:r>
              <a:rPr sz="2325" b="1">
                <a:solidFill>
                  <a:srgbClr val="007F83"/>
                </a:solidFill>
                <a:latin typeface="Arial"/>
                <a:ea typeface="Arial"/>
                <a:cs typeface="Arial"/>
              </a:rPr>
              <a:t>Next experiment</a:t>
            </a:r>
          </a:p>
        </p:txBody>
      </p:sp>
      <p:sp>
        <p:nvSpPr>
          <p:cNvPr id="7" name="">
            <a:extLst xmlns:a="http://schemas.openxmlformats.org/drawingml/2006/main">
              <a:ext uri="{FF2B5EF4-FFF2-40B4-BE49-F238E27FC236}">
                <a16:creationId xmlns:a16="http://schemas.microsoft.com/office/drawing/2014/main" id="{070E291B-CC13-4ADC-8950-8CE8F77D10AE}"/>
              </a:ext>
            </a:extLst>
          </p:cNvPr>
          <p:cNvSpPr>
            <a:spLocks xmlns:a="http://schemas.openxmlformats.org/drawingml/2006/main" noGrp="1"/>
          </p:cNvSpPr>
          <p:nvPr/>
        </p:nvSpPr>
        <p:spPr>
          <a:xfrm xmlns:a="http://schemas.openxmlformats.org/drawingml/2006/main">
            <a:off x="609600" y="4476750"/>
            <a:ext cx="7239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Audit residual artifacts in the primary cohort</a:t>
            </a:r>
          </a:p>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Fix quality rules before evaluating outcomes</a:t>
            </a:r>
          </a:p>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Compare current and curated inputs on the same splits</a:t>
            </a:r>
          </a:p>
          <a:p xmlns:a="http://schemas.openxmlformats.org/drawingml/2006/main">
            <a:pPr>
              <a:defRPr sz="1875" b="0">
                <a:solidFill>
                  <a:srgbClr val="102B45"/>
                </a:solidFill>
                <a:latin typeface="Arial"/>
                <a:ea typeface="Arial"/>
                <a:cs typeface="Arial"/>
              </a:defRPr>
            </a:pPr>
            <a:r>
              <a:rPr sz="1875" b="0">
                <a:solidFill>
                  <a:srgbClr val="102B45"/>
                </a:solidFill>
                <a:latin typeface="Arial"/>
                <a:ea typeface="Arial"/>
                <a:cs typeface="Arial"/>
              </a:rPr>
              <a:t>Seek new FTD and external participants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4bf1d0d7d5f4b9a"/>
          <a:stretch xmlns:a="http://schemas.openxmlformats.org/drawingml/2006/main"/>
        </p:blipFill>
        <p:spPr>
          <a:xfrm xmlns:a="http://schemas.openxmlformats.org/drawingml/2006/main">
            <a:off x="8162925" y="2533650"/>
            <a:ext cx="3333750" cy="3333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1E8C12D-B436-442F-94BA-4E53D8D4B279}"/>
              </a:ext>
            </a:extLst>
          </p:cNvPr>
          <p:cNvSpPr>
            <a:spLocks xmlns:a="http://schemas.openxmlformats.org/drawingml/2006/main" noGrp="1"/>
          </p:cNvSpPr>
          <p:nvPr/>
        </p:nvSpPr>
        <p:spPr>
          <a:xfrm xmlns:a="http://schemas.openxmlformats.org/drawingml/2006/main">
            <a:off x="609600" y="63150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No additional curation experiment has been completed yet.</a:t>
            </a:r>
          </a:p>
        </p:txBody>
      </p:sp>
    </p:spTree>
    <p:extLst>
      <p:ext uri="{BB962C8B-B14F-4D97-AF65-F5344CB8AC3E}">
        <p14:creationId xmlns:p14="http://schemas.microsoft.com/office/powerpoint/2010/main" val="1948027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2026-09-29T07:06:07.9090000Z</dcterms:created>
  <dcterms:modified xsi:type="dcterms:W3CDTF">2026-09-29T07:06:07.9090000Z</dcterms:modified>
</coreProperties>
</file>