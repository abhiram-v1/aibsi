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b94dfcc35a43d2" /><Relationship Type="http://schemas.openxmlformats.org/officeDocument/2006/relationships/extended-properties" Target="/docProps/app.xml" Id="Ra8228069df184506" /><Relationship Type="http://schemas.openxmlformats.org/officeDocument/2006/relationships/officeDocument" Target="/ppt/presentation.xml" Id="R3dcb2c6cf47947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d5e89dc48649ae"/>
  </p:sldMasterIdLst>
  <p:notesMasterIdLst>
    <p:notesMasterId xmlns:r="http://schemas.openxmlformats.org/officeDocument/2006/relationships" r:id="R24567311dc654248"/>
  </p:notesMasterIdLst>
  <p:sldIdLst>
    <p:sldId xmlns:r="http://schemas.openxmlformats.org/officeDocument/2006/relationships" id="256" r:id="R3fc00ae2215d4038"/>
    <p:sldId xmlns:r="http://schemas.openxmlformats.org/officeDocument/2006/relationships" id="257" r:id="Rbc2349f4b2514801"/>
    <p:sldId xmlns:r="http://schemas.openxmlformats.org/officeDocument/2006/relationships" id="258" r:id="R957a816678e548f7"/>
    <p:sldId xmlns:r="http://schemas.openxmlformats.org/officeDocument/2006/relationships" id="259" r:id="R4c4e3df2f47146ef"/>
    <p:sldId xmlns:r="http://schemas.openxmlformats.org/officeDocument/2006/relationships" id="260" r:id="R32d0516c4c9f4b0c"/>
    <p:sldId xmlns:r="http://schemas.openxmlformats.org/officeDocument/2006/relationships" id="261" r:id="R3d916954cb174b91"/>
    <p:sldId xmlns:r="http://schemas.openxmlformats.org/officeDocument/2006/relationships" id="262" r:id="R4ec0249278924410"/>
    <p:sldId xmlns:r="http://schemas.openxmlformats.org/officeDocument/2006/relationships" id="263" r:id="Rc96128aa8b394fa9"/>
    <p:sldId xmlns:r="http://schemas.openxmlformats.org/officeDocument/2006/relationships" id="264" r:id="R714dd71098e744bc"/>
    <p:sldId xmlns:r="http://schemas.openxmlformats.org/officeDocument/2006/relationships" id="265" r:id="Rdcd9d59df9194a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58c11c1052404c" /><Relationship Type="http://schemas.openxmlformats.org/officeDocument/2006/relationships/slideMaster" Target="/ppt/slideMasters/slideMaster1.xml" Id="R53d5e89dc48649ae" /><Relationship Type="http://schemas.openxmlformats.org/officeDocument/2006/relationships/notesMaster" Target="/ppt/notesMasters/notesMaster1.xml" Id="R24567311dc654248" /><Relationship Type="http://schemas.openxmlformats.org/officeDocument/2006/relationships/presProps" Target="/ppt/presProps.xml" Id="Rdaa3eb1e21b543c4" /><Relationship Type="http://schemas.openxmlformats.org/officeDocument/2006/relationships/tableStyles" Target="/ppt/tableStyles.xml" Id="R40523367ee5c4f92" /><Relationship Type="http://schemas.openxmlformats.org/officeDocument/2006/relationships/slide" Target="/ppt/slides/slide1.xml" Id="R3fc00ae2215d4038" /><Relationship Type="http://schemas.openxmlformats.org/officeDocument/2006/relationships/slide" Target="/ppt/slides/slide2.xml" Id="Rbc2349f4b2514801" /><Relationship Type="http://schemas.openxmlformats.org/officeDocument/2006/relationships/slide" Target="/ppt/slides/slide3.xml" Id="R957a816678e548f7" /><Relationship Type="http://schemas.openxmlformats.org/officeDocument/2006/relationships/slide" Target="/ppt/slides/slide4.xml" Id="R4c4e3df2f47146ef" /><Relationship Type="http://schemas.openxmlformats.org/officeDocument/2006/relationships/slide" Target="/ppt/slides/slide5.xml" Id="R32d0516c4c9f4b0c" /><Relationship Type="http://schemas.openxmlformats.org/officeDocument/2006/relationships/slide" Target="/ppt/slides/slide6.xml" Id="R3d916954cb174b91" /><Relationship Type="http://schemas.openxmlformats.org/officeDocument/2006/relationships/slide" Target="/ppt/slides/slide7.xml" Id="R4ec0249278924410" /><Relationship Type="http://schemas.openxmlformats.org/officeDocument/2006/relationships/slide" Target="/ppt/slides/slide8.xml" Id="Rc96128aa8b394fa9" /><Relationship Type="http://schemas.openxmlformats.org/officeDocument/2006/relationships/slide" Target="/ppt/slides/slide9.xml" Id="R714dd71098e744bc" /><Relationship Type="http://schemas.openxmlformats.org/officeDocument/2006/relationships/slide" Target="/ppt/slides/slide10.xml" Id="Rdcd9d59df9194a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ec392f551d42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1c6b70385c48d6" /><Relationship Type="http://schemas.openxmlformats.org/officeDocument/2006/relationships/notesMaster" Target="/ppt/notesMasters/notesMaster1.xml" Id="Rf32e808ac25242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c6f944de404db8" /><Relationship Type="http://schemas.openxmlformats.org/officeDocument/2006/relationships/notesMaster" Target="/ppt/notesMasters/notesMaster1.xml" Id="Recae07bdea8a4b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655bdb61614ce7" /><Relationship Type="http://schemas.openxmlformats.org/officeDocument/2006/relationships/notesMaster" Target="/ppt/notesMasters/notesMaster1.xml" Id="R447195c2a87d44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d4413d6a4248e8" /><Relationship Type="http://schemas.openxmlformats.org/officeDocument/2006/relationships/notesMaster" Target="/ppt/notesMasters/notesMaster1.xml" Id="R2db9d8f03dec46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f2360fdee34c46" /><Relationship Type="http://schemas.openxmlformats.org/officeDocument/2006/relationships/notesMaster" Target="/ppt/notesMasters/notesMaster1.xml" Id="Rd8e27b845df04c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0fa7dbacbd48ad" /><Relationship Type="http://schemas.openxmlformats.org/officeDocument/2006/relationships/notesMaster" Target="/ppt/notesMasters/notesMaster1.xml" Id="R5c1a6fa9c63b48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7ecf3d13764c85" /><Relationship Type="http://schemas.openxmlformats.org/officeDocument/2006/relationships/notesMaster" Target="/ppt/notesMasters/notesMaster1.xml" Id="R07623302d6d44d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4500d6be71475a" /><Relationship Type="http://schemas.openxmlformats.org/officeDocument/2006/relationships/notesMaster" Target="/ppt/notesMasters/notesMaster1.xml" Id="R786164b6680a4b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add4f829ec47bf" /><Relationship Type="http://schemas.openxmlformats.org/officeDocument/2006/relationships/notesMaster" Target="/ppt/notesMasters/notesMaster1.xml" Id="Raf2677aece0f4d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111538d7b94433" /><Relationship Type="http://schemas.openxmlformats.org/officeDocument/2006/relationships/notesMaster" Target="/ppt/notesMasters/notesMaster1.xml" Id="R21e0e887077641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has two sections: a short literature review, followed by our project status and next steps. The illustration is conceptual AI-generated artwork.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 means Alzheimer’s disease; FTD means frontotemporal dementia. The dataset has 19 scalp electrodes and 500 Hz source sampling. Its derivatives include filtering, re-referencing, ASR, ICA and ICLabel artifact-component rejection. The illustration is conceptual AI-generated artwork.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https://doi.org/10.3390/data8060095</a:t>
            </a:r>
          </a:p>
          <a:p xmlns:a="http://schemas.openxmlformats.org/drawingml/2006/main">
            <a:r>
              <a:t>https://openneuro.org/datasets/ds004504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2021 study directly compares epoch-level tenfold validation with leave-one-person-out validation and reports major drops. Rostamikia et al. report 87.8% AD versus FTD and 93.5% dementia versus control accuracy using tenfold CV. Their tasks and validation are not identical to our three-class nested subject evaluation, so their percentages should not be compared as like-for-like scores. Gupta et al. use CP factors for healthy, MCI and AD cohorts, not our AD/FTD/control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https://doi.org/10.3390/diagnostics11081437</a:t>
            </a:r>
          </a:p>
          <a:p xmlns:a="http://schemas.openxmlformats.org/drawingml/2006/main">
            <a:r>
              <a:t>https://doi.org/10.1007/s11571-024-10152-7</a:t>
            </a:r>
          </a:p>
          <a:p xmlns:a="http://schemas.openxmlformats.org/drawingml/2006/main">
            <a:r>
              <a:t>https://arxiv.org/abs/2211.13793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steps included downsampling to 250 Hz, non-overlapping four-second windows, common-average rereferencing, fixed amplitude/step/flat-channel exclusions and, from V2 onward, a 0.5-second guard around EEGLAB boundary annotations. The controlled 69-person dataset has 4,090 windows per group. Later full-cohort analyses re-QC’d the remaining people. The original raw EEG remains untouched.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  <a:p xmlns:a="http://schemas.openxmlformats.org/drawingml/2006/main">
            <a:r>
              <a:t>C:/Projects/AIBSI/preprocessing/reports/03_signal_quality_audit_and_cleaning.md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spectral tensor represented participant by electrode by frequency by recording-time bin. Decomposition finds a small collection of factors. It may capture common patterns, but optimizing reconstruction does not ensure the factors separate diagnoses. The illustration is conceptual rather than an exact mathematical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  <a:p xmlns:a="http://schemas.openxmlformats.org/drawingml/2006/main">
            <a:r>
              <a:t>https://arxiv.org/abs/2211.13793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later experiments use three repeats of five-fold outer participant CV with three-fold inner validation. Preprocessing fits, decomposition bases, feature selection and classifier tuning remain inside training folds. Reported numbers are internal cross-validation results, not estimates from an untouched external cohort.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  <a:p xmlns:a="http://schemas.openxmlformats.org/drawingml/2006/main">
            <a:r>
              <a:t>C:/Projects/AIBSI/tensor_pipeline/v4_tuning/PROTOCOL.md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mean balanced accuracy 59.7%, mean accuracy 60.6%, FTD recall 43.5%. Classifier families tune their own settings and can select different representations. The complete inner-selected pipeline is the primary outcome, 54.5% BA. Results average three CV repeats. No external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C:/Projects/AIBSI/tensor_pipeline/outputs/v4_tuning/nested_report.json</a:t>
            </a:r>
          </a:p>
          <a:p xmlns:a="http://schemas.openxmlformats.org/drawingml/2006/main">
            <a:r>
              <a:t>C:/Projects/AIBSI/tensor_pipeline/outputs/v4_tuning/EXPERIMENT_REPORT.md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Balanced cohort: 23 AD, 23 FTD, 23 CN. Tucker mean BA 56.0%, FTD recall 50.7%; spectral control mean BA 51.7%. These are secondary family results, not a confirmatory comparison. V2 primary automatic family selection was 47.3% BA. Results use participant-level nested CV.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C:/Projects/AIBSI/tensor_pipeline/outputs/v2_tensor_train/nested_benchmark/nested_report.json</a:t>
            </a:r>
          </a:p>
          <a:p xmlns:a="http://schemas.openxmlformats.org/drawingml/2006/main">
            <a:r>
              <a:t>C:/Projects/AIBSI/tensor_pipeline/outputs/v2_tensor_train/EXPERIMENT_REPORT.md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V2 report shows high training scores relative to held-out people, consistent with overfitting; it does not prove the specific cause. Unsupervised decomposition prioritizes reconstruction rather than diagnosis. V5 selected pipeline 55.0% balanced accuracy and 33.3% FTD recall; this is an internal 15-fold result. Comparing V2, V4 and V5 percentages directly is limited by changing cohorts and procedures.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  <a:p xmlns:a="http://schemas.openxmlformats.org/drawingml/2006/main">
            <a:r>
              <a:t>C:/Projects/AIBSI/tensor_pipeline/outputs/v5_connectivity/nested_report.json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curation rules label-blind and fixed before model evaluation. Examine slow drift, muscle bursts, spikes and channel/subject quality profiles. Compare same pipelines and person-level splits across input variants. Independent data are needed for a credible external estimate. The illustration is conceptual AI-generated artwork.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C:/Projects/AIBSI/PROJECT_MASTER_REPORT.md</a:t>
            </a:r>
          </a:p>
          <a:p xmlns:a="http://schemas.openxmlformats.org/drawingml/2006/main">
            <a:r>
              <a:t>C:/Projects/AIBSI/preprocessing/reports/03_signal_quality_audit_and_cleaning.md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e14da230e4f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bd8ee3e5b54836" /><Relationship Type="http://schemas.openxmlformats.org/officeDocument/2006/relationships/slideLayout" Target="/ppt/slideLayouts/slideLayout1.xml" Id="R1b7c2c43ad934f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7c2c43ad934f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014bc0a464a1b" /><Relationship Type="http://schemas.openxmlformats.org/officeDocument/2006/relationships/image" Target="/ppt/media/image.png" Id="Rbe3c3fac4f34431e" /><Relationship Type="http://schemas.openxmlformats.org/officeDocument/2006/relationships/notesSlide" Target="/ppt/notesSlides/notesSlide1.xml" Id="R13c3aa0d68cc4b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72f72f19d4eef" /><Relationship Type="http://schemas.openxmlformats.org/officeDocument/2006/relationships/image" Target="/ppt/media/image2.png" Id="Rc83c511dabb74dbe" /><Relationship Type="http://schemas.openxmlformats.org/officeDocument/2006/relationships/notesSlide" Target="/ppt/notesSlides/notesSlide2.xml" Id="R7766ccc3affc46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d531a78214cb1" /><Relationship Type="http://schemas.openxmlformats.org/officeDocument/2006/relationships/notesSlide" Target="/ppt/notesSlides/notesSlide3.xml" Id="Rf24e1b84b32c49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f462101ec47e1" /><Relationship Type="http://schemas.openxmlformats.org/officeDocument/2006/relationships/notesSlide" Target="/ppt/notesSlides/notesSlide4.xml" Id="R773f9b1e3ca940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3c22bcd7a47fb" /><Relationship Type="http://schemas.openxmlformats.org/officeDocument/2006/relationships/image" Target="/ppt/media/image3.png" Id="Rd0c6bf331c724430" /><Relationship Type="http://schemas.openxmlformats.org/officeDocument/2006/relationships/notesSlide" Target="/ppt/notesSlides/notesSlide5.xml" Id="Rd3f458a41d714e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10cb454d34707" /><Relationship Type="http://schemas.openxmlformats.org/officeDocument/2006/relationships/notesSlide" Target="/ppt/notesSlides/notesSlide6.xml" Id="R231c7e2d44604d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ebfd080d64be7" /><Relationship Type="http://schemas.openxmlformats.org/officeDocument/2006/relationships/chart" Target="/ppt/slides/charts/chart1.xml" Id="R2932bf0a72a4462e" /><Relationship Type="http://schemas.openxmlformats.org/officeDocument/2006/relationships/notesSlide" Target="/ppt/notesSlides/notesSlide7.xml" Id="R9eb60b063fc745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d8fcafa46487b" /><Relationship Type="http://schemas.openxmlformats.org/officeDocument/2006/relationships/chart" Target="/ppt/slides/charts/chart2.xml" Id="R8a19bef8475b48de" /><Relationship Type="http://schemas.openxmlformats.org/officeDocument/2006/relationships/notesSlide" Target="/ppt/notesSlides/notesSlide8.xml" Id="R7e094e605b9744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8ccc30fa74baa" /><Relationship Type="http://schemas.openxmlformats.org/officeDocument/2006/relationships/notesSlide" Target="/ppt/notesSlides/notesSlide9.xml" Id="Radfb182d1faa4a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676ead33643f1" /><Relationship Type="http://schemas.openxmlformats.org/officeDocument/2006/relationships/image" Target="/ppt/media/image4.png" Id="Rac9f4318ac984a8c" /><Relationship Type="http://schemas.openxmlformats.org/officeDocument/2006/relationships/notesSlide" Target="/ppt/notesSlides/notesSlide10.xml" Id="Rc8dc6e28e8324b3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Balanced accuracy</c:v>
          </c:tx>
          <c:spPr>
            <a:solidFill xmlns:a="http://schemas.openxmlformats.org/drawingml/2006/main">
              <a:srgbClr val="007F83"/>
            </a:solidFill>
          </c:spPr>
          <c:cat>
            <c:strRef>
              <c:f>'Chart Data'!$A$2:$A$5</c:f>
              <c:strCache>
                <c:ptCount val="4"/>
                <c:pt idx="0">
                  <c:v>Logistic
regression</c:v>
                </c:pt>
                <c:pt idx="1">
                  <c:v>RBF SVM</c:v>
                </c:pt>
                <c:pt idx="2">
                  <c:v>XGBoost</c:v>
                </c:pt>
                <c:pt idx="3">
                  <c:v>Supervised
TT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0.545505</c:v>
                </c:pt>
                <c:pt idx="1">
                  <c:v>0.596822</c:v>
                </c:pt>
                <c:pt idx="2">
                  <c:v>0.576369</c:v>
                </c:pt>
                <c:pt idx="3">
                  <c:v>0.508857</c:v>
                </c:pt>
              </c:numCache>
            </c:numRef>
          </c:val>
        </c:ser>
        <c:ser>
          <c:idx val="1"/>
          <c:order val="1"/>
          <c:tx>
            <c:v>Accuracy</c:v>
          </c:tx>
          <c:spPr>
            <a:solidFill xmlns:a="http://schemas.openxmlformats.org/drawingml/2006/main">
              <a:srgbClr val="4779B8"/>
            </a:solidFill>
          </c:spPr>
          <c:cat>
            <c:strRef>
              <c:f>'Chart Data'!$C$2:$C$5</c:f>
              <c:strCache>
                <c:ptCount val="4"/>
                <c:pt idx="0">
                  <c:v>Logistic
regression</c:v>
                </c:pt>
                <c:pt idx="1">
                  <c:v>RBF SVM</c:v>
                </c:pt>
                <c:pt idx="2">
                  <c:v>XGBoost</c:v>
                </c:pt>
                <c:pt idx="3">
                  <c:v>Supervised
TT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0.556818</c:v>
                </c:pt>
                <c:pt idx="1">
                  <c:v>0.606061</c:v>
                </c:pt>
                <c:pt idx="2">
                  <c:v>0.594697</c:v>
                </c:pt>
                <c:pt idx="3">
                  <c:v>0.526515</c:v>
                </c:pt>
              </c:numCache>
            </c:numRef>
          </c:val>
        </c:ser>
        <c:ser>
          <c:idx val="2"/>
          <c:order val="2"/>
          <c:tx>
            <c:v>FTD recall</c:v>
          </c:tx>
          <c:spPr>
            <a:solidFill xmlns:a="http://schemas.openxmlformats.org/drawingml/2006/main">
              <a:srgbClr val="D98236"/>
            </a:solidFill>
          </c:spPr>
          <c:cat>
            <c:strRef>
              <c:f>'Chart Data'!$E$2:$E$5</c:f>
              <c:strCache>
                <c:ptCount val="4"/>
                <c:pt idx="0">
                  <c:v>Logistic
regression</c:v>
                </c:pt>
                <c:pt idx="1">
                  <c:v>RBF SVM</c:v>
                </c:pt>
                <c:pt idx="2">
                  <c:v>XGBoost</c:v>
                </c:pt>
                <c:pt idx="3">
                  <c:v>Supervised
TT</c:v>
                </c:pt>
              </c:strCache>
            </c:strRef>
          </c:cat>
          <c:val>
            <c:numRef>
              <c:f>'Chart Data'!$F$2:$F$5</c:f>
              <c:numCache>
                <c:formatCode>0.0%</c:formatCode>
                <c:ptCount val="4"/>
                <c:pt idx="0">
                  <c:v>0.391304</c:v>
                </c:pt>
                <c:pt idx="1">
                  <c:v>0.434783</c:v>
                </c:pt>
                <c:pt idx="2">
                  <c:v>0.391304</c:v>
                </c:pt>
                <c:pt idx="3">
                  <c:v>0.304348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B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8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6677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Balanced accuracy</c:v>
          </c:tx>
          <c:spPr>
            <a:solidFill xmlns:a="http://schemas.openxmlformats.org/drawingml/2006/main">
              <a:srgbClr val="007F83"/>
            </a:solidFill>
          </c:spPr>
          <c:cat>
            <c:strRef>
              <c:f>'Chart Data'!$A$2:$A$5</c:f>
              <c:strCache>
                <c:ptCount val="4"/>
                <c:pt idx="0">
                  <c:v>Subject
TT</c:v>
                </c:pt>
                <c:pt idx="1">
                  <c:v>Window
TT</c:v>
                </c:pt>
                <c:pt idx="2">
                  <c:v>Tucker /
HOSVD</c:v>
                </c:pt>
                <c:pt idx="3">
                  <c:v>Spectral
control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0.502415</c:v>
                </c:pt>
                <c:pt idx="1">
                  <c:v>0.512077</c:v>
                </c:pt>
                <c:pt idx="2">
                  <c:v>0.560386</c:v>
                </c:pt>
                <c:pt idx="3">
                  <c:v>0.516908</c:v>
                </c:pt>
              </c:numCache>
            </c:numRef>
          </c:val>
        </c:ser>
        <c:ser>
          <c:idx val="1"/>
          <c:order val="1"/>
          <c:tx>
            <c:v>FTD recall</c:v>
          </c:tx>
          <c:spPr>
            <a:solidFill xmlns:a="http://schemas.openxmlformats.org/drawingml/2006/main">
              <a:srgbClr val="D98236"/>
            </a:solidFill>
          </c:spPr>
          <c:cat>
            <c:strRef>
              <c:f>'Chart Data'!$C$2:$C$5</c:f>
              <c:strCache>
                <c:ptCount val="4"/>
                <c:pt idx="0">
                  <c:v>Subject
TT</c:v>
                </c:pt>
                <c:pt idx="1">
                  <c:v>Window
TT</c:v>
                </c:pt>
                <c:pt idx="2">
                  <c:v>Tucker /
HOSVD</c:v>
                </c:pt>
                <c:pt idx="3">
                  <c:v>Spectral
control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0.347826</c:v>
                </c:pt>
                <c:pt idx="1">
                  <c:v>0.434783</c:v>
                </c:pt>
                <c:pt idx="2">
                  <c:v>0.507246</c:v>
                </c:pt>
                <c:pt idx="3">
                  <c:v>0.362319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02B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8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6677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EFAC6-0FE5-4B64-992A-A5E6206C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AD8CC-B171-4AC1-88C5-CDD6FBEF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Literature review and project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FA4C6-F202-4D57-A2E7-CF9602D6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B3950-9E8A-4B12-9B8B-029C32B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74676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resting EEG help distinguish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Alzheimer’s disease, frontotemporal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dementia and healthy controls?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1DA82-C570-4A90-8230-F284E73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A participant level study of EEG features,</a:t>
            </a:r>
          </a:p>
          <a:p xmlns:a="http://schemas.openxmlformats.org/drawingml/2006/main">
            <a:pPr>
              <a:defRPr sz="2025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tensor decomposition and classification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c3fac4f34431e"/>
          <a:stretch xmlns:a="http://schemas.openxmlformats.org/drawingml/2006/main"/>
        </p:blipFill>
        <p:spPr>
          <a:xfrm xmlns:a="http://schemas.openxmlformats.org/drawingml/2006/main">
            <a:off x="8039100" y="2000250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B7C7F-004E-41AC-B936-2855DAC4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EE2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E8"/>
                </a:solidFill>
                <a:latin typeface="Arial"/>
                <a:ea typeface="Arial"/>
                <a:cs typeface="Arial"/>
              </a:rPr>
              <a:t>First status presentation</a:t>
            </a:r>
          </a:p>
        </p:txBody>
      </p:sp>
    </p:spTree>
    <p:extLst>
      <p:ext uri="{BB962C8B-B14F-4D97-AF65-F5344CB8AC3E}">
        <p14:creationId xmlns:p14="http://schemas.microsoft.com/office/powerpoint/2010/main" val="846741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1FB35-25A0-46C0-9D30-724023F2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Background: EEG and dementia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D2515-86E8-48EE-AFA5-A3E698B0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What prior work gives 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BA51E-66EC-47A7-AE82-06FA0542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AEEDE-C962-4D2B-8823-A394872F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00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EEG measures brain rhythms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CCB19-044C-4B76-B4E3-EBB49C80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700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Frequency power, timing and electrode relationships can differ across dementia groups.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37E5A-A91E-4FD2-B3D7-7FD7C4C6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700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Open research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172B2-2C67-49CB-8CB9-9A2A2AAE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7000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Miltiadous et al. released eyes-closed EEG from 88 people: 36 AD, 23 FTD and 29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DE0E4-6F82-4B1C-866B-29565944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700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Signals are already cleaned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2A1B8-1337-4145-96DF-0ACD3388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700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The authors provide raw recordings and artifact-cleaned derivatives. Our analysis begins with the derivatives.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c511dabb74dbe"/>
          <a:stretch xmlns:a="http://schemas.openxmlformats.org/drawingml/2006/main"/>
        </p:blipFill>
        <p:spPr>
          <a:xfrm xmlns:a="http://schemas.openxmlformats.org/drawingml/2006/main">
            <a:off x="8210550" y="2400300"/>
            <a:ext cx="3381375" cy="3381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D62BC-2613-498B-BB8C-2F23D9C8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Miltiadous et al., Data (2023), DOI: 10.3390/data8060095</a:t>
            </a:r>
          </a:p>
        </p:txBody>
      </p:sp>
    </p:spTree>
    <p:extLst>
      <p:ext uri="{BB962C8B-B14F-4D97-AF65-F5344CB8AC3E}">
        <p14:creationId xmlns:p14="http://schemas.microsoft.com/office/powerpoint/2010/main" val="1996493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3DE98-38A8-4BB1-B05E-858D5D66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What earlier studies found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3685F-FC2A-426F-991D-69711796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Three ideas shaped our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E0418-F902-4ED2-87B2-37664E0C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278A9-FC0D-4622-A285-825653DD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Validation changes the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59C13-C056-4DEF-9E6A-CDE03AD1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Miltiadous et al. found much lower accuracy when testing on unseen people than when splitting EEG epochs.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7A801-DDF0-4FA2-BFED-5294F54E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Feature choice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85E02-06A2-40A1-A137-64C2201C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Rostamikia et al. examined power, complexity and connectivity. Gupta et al. used tensor factors to retain EEG 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9D2C2-9591-4CFA-AEC8-CDBDB42F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Our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F5EF7-BDFD-48D6-AAB8-E00D97EC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Do compact tensor features improve three-class, person-level prediction beyond simpler EEG features?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4E150-7D8F-4729-A5AD-67F073A7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Miltiadous et al. (2021); Rostamikia et al. (2024); Gupta et al. (2023)</a:t>
            </a:r>
          </a:p>
        </p:txBody>
      </p:sp>
    </p:spTree>
    <p:extLst>
      <p:ext uri="{BB962C8B-B14F-4D97-AF65-F5344CB8AC3E}">
        <p14:creationId xmlns:p14="http://schemas.microsoft.com/office/powerpoint/2010/main" val="785599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8D0B5-C55C-40B4-939D-5CBF96EA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Data and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DB495-6A78-451E-85A8-C31B6024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We worked from preprocessed EEG, then applied project-specific quality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A1FC5-DD71-4DD9-A7BE-F0130FAD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9C8C1-DF45-49CF-8883-7BCD9517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95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Primary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32397-EC22-4358-8300-95B16EA7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09587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69 people: 23 per diagnosis</a:t>
            </a:r>
          </a:p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12,270 clean four-second windows</a:t>
            </a:r>
          </a:p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Balanced for the first comparisons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A77EE-A6AC-42FA-82BF-304B6962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47875"/>
            <a:ext cx="5095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Later full-cohort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86B5C-3CFB-4432-8F70-206C3C2F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05100"/>
            <a:ext cx="509587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88 people from the source dataset</a:t>
            </a:r>
          </a:p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16,824 eligible windows after re-QC</a:t>
            </a:r>
          </a:p>
          <a:p xmlns:a="http://schemas.openxmlformats.org/drawingml/2006/main">
            <a:pPr>
              <a:defRPr sz="2100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Kept each person together in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D64D6-6D03-4F69-8134-F40A7D1E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Boundary guards and artifact checks reduce avoidable signal problems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6A8DB-DB8B-479A-99FA-15C41664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Authors’ filtering/ASR/ICA were not repeated. More targeted curation is proposed.</a:t>
            </a:r>
          </a:p>
        </p:txBody>
      </p:sp>
    </p:spTree>
    <p:extLst>
      <p:ext uri="{BB962C8B-B14F-4D97-AF65-F5344CB8AC3E}">
        <p14:creationId xmlns:p14="http://schemas.microsoft.com/office/powerpoint/2010/main" val="2524148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7E7A7-4DF3-4C21-954C-689538B1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How the method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8CDA3-3F31-4E24-BB1B-F713AF4E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Compress a structured EEG description, then predict one label per person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14DB0-0EFF-4544-9ECB-76857880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E7FFD-0CA2-4DEB-BE9B-F4CE58EE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EEG recording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D052C-7FB6-420E-8ECC-929E3166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Short clean windows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19 electrode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2E4D7-5464-4236-9312-9D5424ED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97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Signal description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BC5CA-7E63-42EF-8E8B-CBDFA274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24125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Power across frequencies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and recording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BA2A7-B17E-44DC-BBB0-3EB5480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9775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7A0CF-1BA3-4F8F-92E1-1CB04DF3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24125"/>
            <a:ext cx="3095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Compact features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one prediction per person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6bf331c724430"/>
          <a:stretch xmlns:a="http://schemas.openxmlformats.org/drawingml/2006/main"/>
        </p:blipFill>
        <p:spPr>
          <a:xfrm xmlns:a="http://schemas.openxmlformats.org/drawingml/2006/main">
            <a:off x="5162550" y="354330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FDCDA-A65C-4123-BBD9-93DB7B23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Tensor decomposition keeps electrode, frequency and time structure while reducing size.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93AC2-F5AB-4730-AA78-6923CFC3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Compared PCA/NMF, CP, Tucker, Tensor Train and simpler spectral controls.</a:t>
            </a:r>
          </a:p>
        </p:txBody>
      </p:sp>
    </p:spTree>
    <p:extLst>
      <p:ext uri="{BB962C8B-B14F-4D97-AF65-F5344CB8AC3E}">
        <p14:creationId xmlns:p14="http://schemas.microsoft.com/office/powerpoint/2010/main" val="1699520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F7330-1AA5-4B77-9CE8-15FD2308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How we evaluate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20746-0F96-4858-93D2-AE31CE52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The unit of evidence is the person, not the EEG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3A535-0A57-4F80-8DAC-27AFABA7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1DDA9-61B2-4112-983C-E0188785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Participant-level splits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AB4B8-D623-429C-BB47-2DFC4403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All windows from one participant stay in the same training or test fold.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3912A-E46B-4FC6-8D21-E2AE18DB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Nested selection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4E352-F486-47A4-B8A7-E58BA481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Inner folds choose features and model settings. Outer folds estimate performance on held-out people.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A1522-7219-405D-B97C-9DF8A521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A9875-B649-411D-A4CE-01060186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Accuracy is total correct. Recall is correct within a class. Balanced accuracy averages recall across AD, FTD and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E97E1-B127-4269-9852-5F89D7BA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Chance balanced accuracy for three classes: 33.3%. No independent external cohort yet.</a:t>
            </a:r>
          </a:p>
        </p:txBody>
      </p:sp>
    </p:spTree>
    <p:extLst>
      <p:ext uri="{BB962C8B-B14F-4D97-AF65-F5344CB8AC3E}">
        <p14:creationId xmlns:p14="http://schemas.microsoft.com/office/powerpoint/2010/main" val="2906367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D7850-662A-4D97-849F-7EEA8E48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Classifier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79A9C-346A-4D88-942C-8821C546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V4: same 88 people and the same outer evaluation splits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44227-7FCD-41F6-8286-0C3C5C8A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32bf0a72a4462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D2081-E153-4613-99FE-29E63F86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RBF SVM led these families, but FTD remained difficult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51D39-8A96-47B1-B175-6AE1F5C6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Observed family results are secondary. Primary automatic selection: 54.5% balanced accuracy.</a:t>
            </a:r>
          </a:p>
        </p:txBody>
      </p:sp>
    </p:spTree>
    <p:extLst>
      <p:ext uri="{BB962C8B-B14F-4D97-AF65-F5344CB8AC3E}">
        <p14:creationId xmlns:p14="http://schemas.microsoft.com/office/powerpoint/2010/main" val="701769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A4A8F-840A-4109-A44E-9395B9BA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Decomposition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ADB3C-7DCE-4C96-81A6-D4965A9A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V2: the balanced 69-person cohort, evaluated with the same splits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35BED-4F28-4D3C-9CA0-BD8F3781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19bef8475b48d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95EB0-6938-4CBD-BD72-2D117722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Tucker reached 56.0% balanced accuracy as a method-family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F2A7E-1851-451B-83C3-7652B7BC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Accuracy equals balanced accuracy here. Complete automatic selection: 47.3% BA.</a:t>
            </a:r>
          </a:p>
        </p:txBody>
      </p:sp>
    </p:spTree>
    <p:extLst>
      <p:ext uri="{BB962C8B-B14F-4D97-AF65-F5344CB8AC3E}">
        <p14:creationId xmlns:p14="http://schemas.microsoft.com/office/powerpoint/2010/main" val="1482661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C2585-402F-4300-AF04-DB129043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What the results mean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960A5-8422-4DE0-AD49-AA133BF3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Promising signals, but limited generalization so far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43405-A065-4193-B0B7-EA1F8581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263FB-3AE7-4BDF-8DCB-68D67EDA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E3C67-70B9-4749-8448-DE6C7754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Tensor methods did not consistently beat simple spectral features. More model complexity has not solved the FTD errors.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54E8A-2EE2-44F7-B245-6D0CD340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Latest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8C8DC-4D0C-460D-9094-2E6848A1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V5 compared power, covariance and connectivity features in all 88 people. Selected pipeline: 55.0% balanced accuracy, 33.3% FTD recall.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FDC06-4AA6-4D54-BF1D-958C3C77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Working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7FA69-458B-446A-BFD1-3DB9C2A2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Only 23 FTD people, overlap in EEG patterns and remaining noise may limit learning. Compression may discard weak clues.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7C78A-DD19-4BFB-9583-08E77912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Hypotheses are unproven. Internal results do not establish clinical validity or an accuracy ceiling.</a:t>
            </a:r>
          </a:p>
        </p:txBody>
      </p:sp>
    </p:spTree>
    <p:extLst>
      <p:ext uri="{BB962C8B-B14F-4D97-AF65-F5344CB8AC3E}">
        <p14:creationId xmlns:p14="http://schemas.microsoft.com/office/powerpoint/2010/main" val="1813489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46F9E-8BC0-4A04-84D2-C247404A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45"/>
                </a:solidFill>
                <a:latin typeface="Arial"/>
                <a:ea typeface="Arial"/>
                <a:cs typeface="Arial"/>
              </a:rPr>
              <a:t>Project status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682C2-39F9-49D2-9923-C8DCCBC9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Test whether targeted signal curation improves participant-level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29377-326E-4DF6-A3B8-89A6299B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E33B1-AFD5-4FFF-94FA-1A48D28D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5AA26-54A6-4048-B79A-AA4AF917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EEG inventory and reproducible preparation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Corrected channel labels and boundary handling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Tensor and classifier comparisons</a:t>
            </a:r>
          </a:p>
          <a:p xmlns:a="http://schemas.openxmlformats.org/drawingml/2006/main">
            <a:pPr>
              <a:defRPr sz="202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Recorded FTD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9BDA2-BA60-44AE-BE89-1E643967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Next experiment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26C91-93D4-44BF-9E1F-BBE17D47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239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Audit residual artifacts in the primary cohort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Fix quality rules before evaluating outcomes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Compare current and curated inputs on the same splits</a:t>
            </a:r>
          </a:p>
          <a:p xmlns:a="http://schemas.openxmlformats.org/drawingml/2006/main">
            <a:pPr>
              <a:defRPr sz="1875" b="0">
                <a:solidFill>
                  <a:srgbClr val="10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B45"/>
                </a:solidFill>
                <a:latin typeface="Arial"/>
                <a:ea typeface="Arial"/>
                <a:cs typeface="Arial"/>
              </a:rPr>
              <a:t>Seek new FTD and external participants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f4318ac984a8c"/>
          <a:stretch xmlns:a="http://schemas.openxmlformats.org/drawingml/2006/main"/>
        </p:blipFill>
        <p:spPr>
          <a:xfrm xmlns:a="http://schemas.openxmlformats.org/drawingml/2006/main">
            <a:off x="8162925" y="253365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589F8-BC44-4706-AAE9-7D5389B4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79"/>
                </a:solidFill>
                <a:latin typeface="Arial"/>
                <a:ea typeface="Arial"/>
                <a:cs typeface="Arial"/>
              </a:rPr>
              <a:t>No additional curation experiment has been completed yet.</a:t>
            </a:r>
          </a:p>
        </p:txBody>
      </p:sp>
    </p:spTree>
    <p:extLst>
      <p:ext uri="{BB962C8B-B14F-4D97-AF65-F5344CB8AC3E}">
        <p14:creationId xmlns:p14="http://schemas.microsoft.com/office/powerpoint/2010/main" val="1614406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2026-09-28T15:06:49.1410000Z</dcterms:created>
  <dcterms:modified xsi:type="dcterms:W3CDTF">2026-09-28T15:06:49.1410000Z</dcterms:modified>
</coreProperties>
</file>