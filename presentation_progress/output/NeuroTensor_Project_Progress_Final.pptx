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4.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5.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6.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7.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8.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9.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2e638370ec24ef5" /><Relationship Type="http://schemas.openxmlformats.org/officeDocument/2006/relationships/extended-properties" Target="/docProps/app.xml" Id="R17cb37b4781e4c87" /><Relationship Type="http://schemas.openxmlformats.org/officeDocument/2006/relationships/officeDocument" Target="/ppt/presentation.xml" Id="Re8575c1d5beb4c98" /></Relationships>
</file>

<file path=ppt/presentation.xml><?xml version="1.0" encoding="utf-8"?>
<p:presentation xmlns:p="http://schemas.openxmlformats.org/presentationml/2006/main">
  <p:sldMasterIdLst>
    <p:sldMasterId xmlns:r="http://schemas.openxmlformats.org/officeDocument/2006/relationships" id="2147483648" r:id="R86285ea902d14784"/>
  </p:sldMasterIdLst>
  <p:notesMasterIdLst>
    <p:notesMasterId xmlns:r="http://schemas.openxmlformats.org/officeDocument/2006/relationships" r:id="Re6f0461b3c76405d"/>
  </p:notesMasterIdLst>
  <p:sldIdLst>
    <p:sldId xmlns:r="http://schemas.openxmlformats.org/officeDocument/2006/relationships" id="256" r:id="Rfe7a30feb7c34a0d"/>
    <p:sldId xmlns:r="http://schemas.openxmlformats.org/officeDocument/2006/relationships" id="257" r:id="R88e6881bb1c841cc"/>
    <p:sldId xmlns:r="http://schemas.openxmlformats.org/officeDocument/2006/relationships" id="258" r:id="R92616eaca14341b6"/>
    <p:sldId xmlns:r="http://schemas.openxmlformats.org/officeDocument/2006/relationships" id="259" r:id="Raa41bd22457f49b7"/>
    <p:sldId xmlns:r="http://schemas.openxmlformats.org/officeDocument/2006/relationships" id="260" r:id="Radef7b0cfb504491"/>
    <p:sldId xmlns:r="http://schemas.openxmlformats.org/officeDocument/2006/relationships" id="261" r:id="R0f03d56f232b4dde"/>
    <p:sldId xmlns:r="http://schemas.openxmlformats.org/officeDocument/2006/relationships" id="262" r:id="R2318cb5990cd48d8"/>
    <p:sldId xmlns:r="http://schemas.openxmlformats.org/officeDocument/2006/relationships" id="263" r:id="Rcf823f2079cb4664"/>
    <p:sldId xmlns:r="http://schemas.openxmlformats.org/officeDocument/2006/relationships" id="264" r:id="R5ac7134390e348ea"/>
    <p:sldId xmlns:r="http://schemas.openxmlformats.org/officeDocument/2006/relationships" id="265" r:id="Rc848d81a6e4343b0"/>
    <p:sldId xmlns:r="http://schemas.openxmlformats.org/officeDocument/2006/relationships" id="266" r:id="Ra6b5ddb110b44555"/>
    <p:sldId xmlns:r="http://schemas.openxmlformats.org/officeDocument/2006/relationships" id="267" r:id="Ra7d04c04598d4c5f"/>
    <p:sldId xmlns:r="http://schemas.openxmlformats.org/officeDocument/2006/relationships" id="268" r:id="R6f46e1798c4147dc"/>
    <p:sldId xmlns:r="http://schemas.openxmlformats.org/officeDocument/2006/relationships" id="269" r:id="R34199b01fb7e4a14"/>
    <p:sldId xmlns:r="http://schemas.openxmlformats.org/officeDocument/2006/relationships" id="270" r:id="Ra61b3b743ccf4f30"/>
    <p:sldId xmlns:r="http://schemas.openxmlformats.org/officeDocument/2006/relationships" id="271" r:id="Rd6ff894d266544d2"/>
    <p:sldId xmlns:r="http://schemas.openxmlformats.org/officeDocument/2006/relationships" id="272" r:id="Rc474a467cc104b13"/>
    <p:sldId xmlns:r="http://schemas.openxmlformats.org/officeDocument/2006/relationships" id="273" r:id="R4be9508dada2498a"/>
    <p:sldId xmlns:r="http://schemas.openxmlformats.org/officeDocument/2006/relationships" id="274" r:id="Rfae794eb4bf24856"/>
    <p:sldId xmlns:r="http://schemas.openxmlformats.org/officeDocument/2006/relationships" id="275" r:id="Rf2eec434c5434fa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675b0fdf3454740" /><Relationship Type="http://schemas.openxmlformats.org/officeDocument/2006/relationships/slideMaster" Target="/ppt/slideMasters/slideMaster1.xml" Id="R86285ea902d14784" /><Relationship Type="http://schemas.openxmlformats.org/officeDocument/2006/relationships/notesMaster" Target="/ppt/notesMasters/notesMaster1.xml" Id="Re6f0461b3c76405d" /><Relationship Type="http://schemas.openxmlformats.org/officeDocument/2006/relationships/presProps" Target="/ppt/presProps.xml" Id="Ra90177b90c5d45c0" /><Relationship Type="http://schemas.openxmlformats.org/officeDocument/2006/relationships/tableStyles" Target="/ppt/tableStyles.xml" Id="R1767fccb24f7489a" /><Relationship Type="http://schemas.openxmlformats.org/officeDocument/2006/relationships/slide" Target="/ppt/slides/slide1.xml" Id="Rfe7a30feb7c34a0d" /><Relationship Type="http://schemas.openxmlformats.org/officeDocument/2006/relationships/slide" Target="/ppt/slides/slide2.xml" Id="R88e6881bb1c841cc" /><Relationship Type="http://schemas.openxmlformats.org/officeDocument/2006/relationships/slide" Target="/ppt/slides/slide3.xml" Id="R92616eaca14341b6" /><Relationship Type="http://schemas.openxmlformats.org/officeDocument/2006/relationships/slide" Target="/ppt/slides/slide4.xml" Id="Raa41bd22457f49b7" /><Relationship Type="http://schemas.openxmlformats.org/officeDocument/2006/relationships/slide" Target="/ppt/slides/slide5.xml" Id="Radef7b0cfb504491" /><Relationship Type="http://schemas.openxmlformats.org/officeDocument/2006/relationships/slide" Target="/ppt/slides/slide6.xml" Id="R0f03d56f232b4dde" /><Relationship Type="http://schemas.openxmlformats.org/officeDocument/2006/relationships/slide" Target="/ppt/slides/slide7.xml" Id="R2318cb5990cd48d8" /><Relationship Type="http://schemas.openxmlformats.org/officeDocument/2006/relationships/slide" Target="/ppt/slides/slide8.xml" Id="Rcf823f2079cb4664" /><Relationship Type="http://schemas.openxmlformats.org/officeDocument/2006/relationships/slide" Target="/ppt/slides/slide9.xml" Id="R5ac7134390e348ea" /><Relationship Type="http://schemas.openxmlformats.org/officeDocument/2006/relationships/slide" Target="/ppt/slides/slide10.xml" Id="Rc848d81a6e4343b0" /><Relationship Type="http://schemas.openxmlformats.org/officeDocument/2006/relationships/slide" Target="/ppt/slides/slide11.xml" Id="Ra6b5ddb110b44555" /><Relationship Type="http://schemas.openxmlformats.org/officeDocument/2006/relationships/slide" Target="/ppt/slides/slide12.xml" Id="Ra7d04c04598d4c5f" /><Relationship Type="http://schemas.openxmlformats.org/officeDocument/2006/relationships/slide" Target="/ppt/slides/slide13.xml" Id="R6f46e1798c4147dc" /><Relationship Type="http://schemas.openxmlformats.org/officeDocument/2006/relationships/slide" Target="/ppt/slides/slide14.xml" Id="R34199b01fb7e4a14" /><Relationship Type="http://schemas.openxmlformats.org/officeDocument/2006/relationships/slide" Target="/ppt/slides/slide15.xml" Id="Ra61b3b743ccf4f30" /><Relationship Type="http://schemas.openxmlformats.org/officeDocument/2006/relationships/slide" Target="/ppt/slides/slide16.xml" Id="Rd6ff894d266544d2" /><Relationship Type="http://schemas.openxmlformats.org/officeDocument/2006/relationships/slide" Target="/ppt/slides/slide17.xml" Id="Rc474a467cc104b13" /><Relationship Type="http://schemas.openxmlformats.org/officeDocument/2006/relationships/slide" Target="/ppt/slides/slide18.xml" Id="R4be9508dada2498a" /><Relationship Type="http://schemas.openxmlformats.org/officeDocument/2006/relationships/slide" Target="/ppt/slides/slide19.xml" Id="Rfae794eb4bf24856" /><Relationship Type="http://schemas.openxmlformats.org/officeDocument/2006/relationships/slide" Target="/ppt/slides/slide20.xml" Id="Rf2eec434c5434fa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dc96a4f7659425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c2f37cf263541ab" /><Relationship Type="http://schemas.openxmlformats.org/officeDocument/2006/relationships/notesMaster" Target="/ppt/notesMasters/notesMaster1.xml" Id="R412d83b713304688" /></Relationships>
</file>

<file path=ppt/notesSlides/_rels/notesSlide2.xml.rels>&#65279;<?xml version="1.0" encoding="utf-8"?><Relationships xmlns="http://schemas.openxmlformats.org/package/2006/relationships"><Relationship Type="http://schemas.openxmlformats.org/officeDocument/2006/relationships/slide" Target="/ppt/slides/slide2.xml" Id="Ra4a64bb087aa454c" /><Relationship Type="http://schemas.openxmlformats.org/officeDocument/2006/relationships/notesMaster" Target="/ppt/notesMasters/notesMaster1.xml" Id="Rfbfa3d7ccf434b82" /></Relationships>
</file>

<file path=ppt/notesSlides/_rels/notesSlide3.xml.rels>&#65279;<?xml version="1.0" encoding="utf-8"?><Relationships xmlns="http://schemas.openxmlformats.org/package/2006/relationships"><Relationship Type="http://schemas.openxmlformats.org/officeDocument/2006/relationships/slide" Target="/ppt/slides/slide3.xml" Id="Raa2e5f6f68064647" /><Relationship Type="http://schemas.openxmlformats.org/officeDocument/2006/relationships/notesMaster" Target="/ppt/notesMasters/notesMaster1.xml" Id="R3bd3cdd0fd01484a" /></Relationships>
</file>

<file path=ppt/notesSlides/_rels/notesSlide4.xml.rels>&#65279;<?xml version="1.0" encoding="utf-8"?><Relationships xmlns="http://schemas.openxmlformats.org/package/2006/relationships"><Relationship Type="http://schemas.openxmlformats.org/officeDocument/2006/relationships/slide" Target="/ppt/slides/slide4.xml" Id="Rc8943f8caf93494c" /><Relationship Type="http://schemas.openxmlformats.org/officeDocument/2006/relationships/notesMaster" Target="/ppt/notesMasters/notesMaster1.xml" Id="R8d983a68e14149a0" /></Relationships>
</file>

<file path=ppt/notesSlides/_rels/notesSlide5.xml.rels>&#65279;<?xml version="1.0" encoding="utf-8"?><Relationships xmlns="http://schemas.openxmlformats.org/package/2006/relationships"><Relationship Type="http://schemas.openxmlformats.org/officeDocument/2006/relationships/slide" Target="/ppt/slides/slide5.xml" Id="R3d107ace23024b04" /><Relationship Type="http://schemas.openxmlformats.org/officeDocument/2006/relationships/notesMaster" Target="/ppt/notesMasters/notesMaster1.xml" Id="R8c7334efa1e14664" /></Relationships>
</file>

<file path=ppt/notesSlides/_rels/notesSlide6.xml.rels>&#65279;<?xml version="1.0" encoding="utf-8"?><Relationships xmlns="http://schemas.openxmlformats.org/package/2006/relationships"><Relationship Type="http://schemas.openxmlformats.org/officeDocument/2006/relationships/slide" Target="/ppt/slides/slide6.xml" Id="R6653df684ac24283" /><Relationship Type="http://schemas.openxmlformats.org/officeDocument/2006/relationships/notesMaster" Target="/ppt/notesMasters/notesMaster1.xml" Id="R54270c042bc749f0" /></Relationships>
</file>

<file path=ppt/notesSlides/_rels/notesSlide7.xml.rels>&#65279;<?xml version="1.0" encoding="utf-8"?><Relationships xmlns="http://schemas.openxmlformats.org/package/2006/relationships"><Relationship Type="http://schemas.openxmlformats.org/officeDocument/2006/relationships/slide" Target="/ppt/slides/slide7.xml" Id="Rcc8c527926634e88" /><Relationship Type="http://schemas.openxmlformats.org/officeDocument/2006/relationships/notesMaster" Target="/ppt/notesMasters/notesMaster1.xml" Id="R57ff6c4a854e4860" /></Relationships>
</file>

<file path=ppt/notesSlides/_rels/notesSlide8.xml.rels>&#65279;<?xml version="1.0" encoding="utf-8"?><Relationships xmlns="http://schemas.openxmlformats.org/package/2006/relationships"><Relationship Type="http://schemas.openxmlformats.org/officeDocument/2006/relationships/slide" Target="/ppt/slides/slide8.xml" Id="Rb16da7a417824f03" /><Relationship Type="http://schemas.openxmlformats.org/officeDocument/2006/relationships/notesMaster" Target="/ppt/notesMasters/notesMaster1.xml" Id="R18224313207a4f8e" /></Relationships>
</file>

<file path=ppt/notesSlides/_rels/notesSlide9.xml.rels>&#65279;<?xml version="1.0" encoding="utf-8"?><Relationships xmlns="http://schemas.openxmlformats.org/package/2006/relationships"><Relationship Type="http://schemas.openxmlformats.org/officeDocument/2006/relationships/slide" Target="/ppt/slides/slide9.xml" Id="R166f64290f4f4dd2" /><Relationship Type="http://schemas.openxmlformats.org/officeDocument/2006/relationships/notesMaster" Target="/ppt/notesMasters/notesMaster1.xml" Id="Re41a350437d94cf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a17b39dc50d41cc" /><Relationship Type="http://schemas.openxmlformats.org/officeDocument/2006/relationships/notesMaster" Target="/ppt/notesMasters/notesMaster1.xml" Id="R3f0cb1006185407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b620cd0a8ee4ac4" /><Relationship Type="http://schemas.openxmlformats.org/officeDocument/2006/relationships/notesMaster" Target="/ppt/notesMasters/notesMaster1.xml" Id="Ra74a1922a200431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1b6d9dc59924b05" /><Relationship Type="http://schemas.openxmlformats.org/officeDocument/2006/relationships/notesMaster" Target="/ppt/notesMasters/notesMaster1.xml" Id="Rfa52a5d4405f4a5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ad777387be34347" /><Relationship Type="http://schemas.openxmlformats.org/officeDocument/2006/relationships/notesMaster" Target="/ppt/notesMasters/notesMaster1.xml" Id="Re5342d840604488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f37dc63a0a14855" /><Relationship Type="http://schemas.openxmlformats.org/officeDocument/2006/relationships/notesMaster" Target="/ppt/notesMasters/notesMaster1.xml" Id="R2ebafd1b22f8469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6ab22ba705e404c" /><Relationship Type="http://schemas.openxmlformats.org/officeDocument/2006/relationships/notesMaster" Target="/ppt/notesMasters/notesMaster1.xml" Id="Ra4e1fcf361fc4a2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550d8bf9b4c4858" /><Relationship Type="http://schemas.openxmlformats.org/officeDocument/2006/relationships/notesMaster" Target="/ppt/notesMasters/notesMaster1.xml" Id="Rc10cb988f4fa47c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b9d292f0c244cf1" /><Relationship Type="http://schemas.openxmlformats.org/officeDocument/2006/relationships/notesMaster" Target="/ppt/notesMasters/notesMaster1.xml" Id="R2c3abe7a4bd744f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e4c4da8180e4c48" /><Relationship Type="http://schemas.openxmlformats.org/officeDocument/2006/relationships/notesMaster" Target="/ppt/notesMasters/notesMaster1.xml" Id="Rd44a953fa75e4c9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16f391221b94547" /><Relationship Type="http://schemas.openxmlformats.org/officeDocument/2006/relationships/notesMaster" Target="/ppt/notesMasters/notesMaster1.xml" Id="R5d6124e0f26e401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9142001d3554a71" /><Relationship Type="http://schemas.openxmlformats.org/officeDocument/2006/relationships/notesMaster" Target="/ppt/notesMasters/notesMaster1.xml" Id="R991cb281f68b46d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studies three-class classification from eyes-closed resting EEG. AD and FTD are both causes of dementia. Our research objective is to recognize patterns that transfer to people outside training. This is an internal research benchmark and does not establish clinical diagnostic performance.</a:t>
            </a:r>
          </a:p>
          <a:p xmlns:a="http://schemas.openxmlformats.org/drawingml/2006/main">
            <a:r>
              <a:t/>
            </a:r>
          </a:p>
          <a:p xmlns:a="http://schemas.openxmlformats.org/drawingml/2006/main">
            <a:r>
              <a:t>Sources:</a:t>
            </a:r>
          </a:p>
          <a:p xmlns:a="http://schemas.openxmlformats.org/drawingml/2006/main">
            <a:r>
              <a:t>C:/Projects/AIBSI/PROJECT_MASTER_REPORT.md</a:t>
            </a:r>
          </a:p>
          <a:p xmlns:a="http://schemas.openxmlformats.org/drawingml/2006/main">
            <a:r>
              <a:t>https://www.mdpi.com/2306-5729/8/6/95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EEG measures electrical activity at the scalp. It provides an indirect view of brain function. Clinical diagnosis uses a broader assessment. The dataset is small at the participant level. The model needs to generalize across individual oscillatory baselines and recording differences. Do not claim that all errors are noise or that this dataset has a known accuracy ceiling.</a:t>
            </a:r>
          </a:p>
          <a:p xmlns:a="http://schemas.openxmlformats.org/drawingml/2006/main">
            <a:r>
              <a:t/>
            </a:r>
          </a:p>
          <a:p xmlns:a="http://schemas.openxmlformats.org/drawingml/2006/main">
            <a:r>
              <a:t>Sources:</a:t>
            </a:r>
          </a:p>
          <a:p xmlns:a="http://schemas.openxmlformats.org/drawingml/2006/main">
            <a:r>
              <a:t>C:/Projects/AIBSI/PROJECT_MASTER_REPORT.md</a:t>
            </a:r>
          </a:p>
          <a:p xmlns:a="http://schemas.openxmlformats.org/drawingml/2006/main">
            <a:r>
              <a:t>https://www.nia.nih.gov/health/alzheimers-symptoms-and-diagnosis/how-biomarkers-help-diagnose-dementia</a:t>
            </a:r>
          </a:p>
          <a:p xmlns:a="http://schemas.openxmlformats.org/drawingml/2006/main">
            <a:r>
              <a:t>https://pmc.ncbi.nlm.nih.gov/articles/PMC4561903/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full dataset contains 36 AD, 23 FTD and 29 cognitively normal participants. Recordings vary in duration. We use EEG as predictors. Age, sex and MMSE are not model inputs in the current experiments.</a:t>
            </a:r>
          </a:p>
          <a:p xmlns:a="http://schemas.openxmlformats.org/drawingml/2006/main">
            <a:r>
              <a:t/>
            </a:r>
          </a:p>
          <a:p xmlns:a="http://schemas.openxmlformats.org/drawingml/2006/main">
            <a:r>
              <a:t>Sources:</a:t>
            </a:r>
          </a:p>
          <a:p xmlns:a="http://schemas.openxmlformats.org/drawingml/2006/main">
            <a:r>
              <a:t>C:/Projects/AIBSI/PROJECT_MASTER_REPORT.md</a:t>
            </a:r>
          </a:p>
          <a:p xmlns:a="http://schemas.openxmlformats.org/drawingml/2006/main">
            <a:r>
              <a:t>C:/Projects/AIBSI/dataset/ds004504/dataset_description.json</a:t>
            </a:r>
          </a:p>
          <a:p xmlns:a="http://schemas.openxmlformats.org/drawingml/2006/main">
            <a:r>
              <a:t>https://www.mdpi.com/2306-5729/8/6/95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Authors supplied approximately 0.5–45 Hz filtering, A1–A2 referencing, ASR with threshold 17, RunICA and ICLabel artifact rejection. Our original primary QC excluded 65 windows and moved 61 additional windows for class balance. V2 excluded windows near EEGLAB boundary events with a 0.5-second guard. The current primary array itself retains its original window set, while later analysis indices enforce boundary exclusions. Broad filtering, ASR and ICA were not repeated. The source README calls the filter Butterworth, while sampled embedded history records pop_eegfiltnew, so this slide states the supported passband without asserting exact filter design.</a:t>
            </a:r>
          </a:p>
          <a:p xmlns:a="http://schemas.openxmlformats.org/drawingml/2006/main">
            <a:r>
              <a:t/>
            </a:r>
          </a:p>
          <a:p xmlns:a="http://schemas.openxmlformats.org/drawingml/2006/main">
            <a:r>
              <a:t>Sources:</a:t>
            </a:r>
          </a:p>
          <a:p xmlns:a="http://schemas.openxmlformats.org/drawingml/2006/main">
            <a:r>
              <a:t>C:/Projects/AIBSI/PROJECT_MASTER_REPORT.md</a:t>
            </a:r>
          </a:p>
          <a:p xmlns:a="http://schemas.openxmlformats.org/drawingml/2006/main">
            <a:r>
              <a:t>C:/Projects/AIBSI/preprocessing/reports/03_signal_quality_audit_and_cleaning.md</a:t>
            </a:r>
          </a:p>
          <a:p xmlns:a="http://schemas.openxmlformats.org/drawingml/2006/main">
            <a:r>
              <a:t>C:/Projects/AIBSI/dataset/ds004504/README</a:t>
            </a:r>
          </a:p>
          <a:p xmlns:a="http://schemas.openxmlformats.org/drawingml/2006/main">
            <a:r>
              <a:t>C:/Projects/AIBSI/tensor_pipeline/v2/AUDIT_AND_PROTOCOL.md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primary cohort selected 23 people per diagnosis, with 12,270 four-second windows after QC and balancing. Boundary guarding in V2 retained 11,942 windows from the same 69 people. V3 used 16,824 eligible windows from all 88 people, with class and subject weighting. The additional AD/CN people expanded diversity, but the number of FTD people remained 23. More windows from a person do not create more independent patients.</a:t>
            </a:r>
          </a:p>
          <a:p xmlns:a="http://schemas.openxmlformats.org/drawingml/2006/main">
            <a:r>
              <a:t/>
            </a:r>
          </a:p>
          <a:p xmlns:a="http://schemas.openxmlformats.org/drawingml/2006/main">
            <a:r>
              <a:t>Sources:</a:t>
            </a:r>
          </a:p>
          <a:p xmlns:a="http://schemas.openxmlformats.org/drawingml/2006/main">
            <a:r>
              <a:t>C:/Projects/AIBSI/PROJECT_MASTER_REPORT.md</a:t>
            </a:r>
          </a:p>
          <a:p xmlns:a="http://schemas.openxmlformats.org/drawingml/2006/main">
            <a:r>
              <a:t>C:/Projects/AIBSI/tensor_pipeline/outputs/v3_waveform_full_cohort/preparation_report.json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Some spectral controls do not use decomposition. Features from multiple windows are pooled for each participant, or V5 uses groups of windows called bags while keeping every bag of a participant together during validation. All learned transformations fit only on the training partition.</a:t>
            </a:r>
          </a:p>
          <a:p xmlns:a="http://schemas.openxmlformats.org/drawingml/2006/main">
            <a:r>
              <a:t/>
            </a:r>
          </a:p>
          <a:p xmlns:a="http://schemas.openxmlformats.org/drawingml/2006/main">
            <a:r>
              <a:t>Sources:</a:t>
            </a:r>
          </a:p>
          <a:p xmlns:a="http://schemas.openxmlformats.org/drawingml/2006/main">
            <a:r>
              <a:t>C:/Projects/AIBSI/PROJECT_MASTER_REPORT.md</a:t>
            </a:r>
          </a:p>
          <a:p xmlns:a="http://schemas.openxmlformats.org/drawingml/2006/main">
            <a:r>
              <a:t>C:/Projects/AIBSI/tensor_pipeline/v5_connectivity/PROTOCOL.md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tensor had shape 69 × 19 × 59 × 10. The product of 19, 59 and 10 is 11,210 values per person. Rank 3, 5 and 8 were explored in early factor models. Rank has different meanings in PCA, CP, Tucker and Tensor Train, so it does not imply an identical feature count across all methods. Unsupervised decomposition prioritizes reconstruction or retained variation. A large source of EEG variation may be unrelated to diagnosis. Low rank can suppress noise but can also discard subtle discriminative information.</a:t>
            </a:r>
          </a:p>
          <a:p xmlns:a="http://schemas.openxmlformats.org/drawingml/2006/main">
            <a:r>
              <a:t/>
            </a:r>
          </a:p>
          <a:p xmlns:a="http://schemas.openxmlformats.org/drawingml/2006/main">
            <a:r>
              <a:t>Sources:</a:t>
            </a:r>
          </a:p>
          <a:p xmlns:a="http://schemas.openxmlformats.org/drawingml/2006/main">
            <a:r>
              <a:t>C:/Projects/AIBSI/PROJECT_MASTER_REPORT.md</a:t>
            </a:r>
          </a:p>
          <a:p xmlns:a="http://schemas.openxmlformats.org/drawingml/2006/main">
            <a:r>
              <a:t>C:/Projects/AIBSI/tensor_pipeline/outputs/summary/EXPERIMENT_REPORT.md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PCA is a linear flattened baseline. NMF imposes nonnegative factors. CP decomposes a tensor into a sum of rank-one outer products. Tucker learns factor matrices and a core. TT factorizes dimensions into a chain of cores. The old anatomical graph used incorrect channel labels and its penalty scaling had a caveat. V2 verified row order and used fixed anatomical graph pre-smoothing before TT, which is a different method. Supervised TT jointly learned waveform factors and a classification head.</a:t>
            </a:r>
          </a:p>
          <a:p xmlns:a="http://schemas.openxmlformats.org/drawingml/2006/main">
            <a:r>
              <a:t/>
            </a:r>
          </a:p>
          <a:p xmlns:a="http://schemas.openxmlformats.org/drawingml/2006/main">
            <a:r>
              <a:t>Sources:</a:t>
            </a:r>
          </a:p>
          <a:p xmlns:a="http://schemas.openxmlformats.org/drawingml/2006/main">
            <a:r>
              <a:t>C:/Projects/AIBSI/PROJECT_MASTER_REPORT.md</a:t>
            </a:r>
          </a:p>
          <a:p xmlns:a="http://schemas.openxmlformats.org/drawingml/2006/main">
            <a:r>
              <a:t>C:/Projects/AIBSI/tensor_pipeline/v2/AUDIT_AND_PROTOCOL.md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Most current experiments use three repeats of five-fold outer subject cross-validation and three-fold inner validation. Keep all windows of one person together. Scaling, decomposition bases, feature selection and classifier tuning use only current training participants. Ordinary accuracy and balanced accuracy coincide in the balanced V2 cohort. They differ in the 88-person cohort. A best family observed after examining outer scores is secondary. The complete inner-selected pipeline is the primary endpoint. CV repeat standard deviation is not a confidence interval. Researcher reuse of these people remains a limitation.</a:t>
            </a:r>
          </a:p>
          <a:p xmlns:a="http://schemas.openxmlformats.org/drawingml/2006/main">
            <a:r>
              <a:t/>
            </a:r>
          </a:p>
          <a:p xmlns:a="http://schemas.openxmlformats.org/drawingml/2006/main">
            <a:r>
              <a:t>Sources:</a:t>
            </a:r>
          </a:p>
          <a:p xmlns:a="http://schemas.openxmlformats.org/drawingml/2006/main">
            <a:r>
              <a:t>C:/Projects/AIBSI/PROJECT_MASTER_REPORT.md</a:t>
            </a:r>
          </a:p>
          <a:p xmlns:a="http://schemas.openxmlformats.org/drawingml/2006/main">
            <a:r>
              <a:t>C:/Projects/AIBSI/tensor_pipeline/v4_tuning/PROTOCOL.md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V1 best PCA and NMF plus logistic regression reached 54.1% in a non-nested comparison. V2 best observed Tucker family reached 56.0%, but the complete inner-selected pipeline reached 47.3%. V3 spectral control reached 55.8%. V4 best observed SVM family reached 59.7%. V5 local JSON records all 15 completed folds, 55.0% primary BA. V5 is absent from the older master summary and is presented here as a local experimental result. No external cohort validation exists.</a:t>
            </a:r>
          </a:p>
          <a:p xmlns:a="http://schemas.openxmlformats.org/drawingml/2006/main">
            <a:r>
              <a:t/>
            </a:r>
          </a:p>
          <a:p xmlns:a="http://schemas.openxmlformats.org/drawingml/2006/main">
            <a:r>
              <a:t>Sources:</a:t>
            </a:r>
          </a:p>
          <a:p xmlns:a="http://schemas.openxmlformats.org/drawingml/2006/main">
            <a:r>
              <a:t>C:/Projects/AIBSI/PROJECT_MASTER_REPORT.md</a:t>
            </a:r>
          </a:p>
          <a:p xmlns:a="http://schemas.openxmlformats.org/drawingml/2006/main">
            <a:r>
              <a:t>C:/Projects/AIBSI/tensor_pipeline/outputs/v2_tensor_train/nested_benchmark/nested_report.json</a:t>
            </a:r>
          </a:p>
          <a:p xmlns:a="http://schemas.openxmlformats.org/drawingml/2006/main">
            <a:r>
              <a:t>C:/Projects/AIBSI/tensor_pipeline/outputs/v3_waveform_full_cohort/nested_report.json</a:t>
            </a:r>
          </a:p>
          <a:p xmlns:a="http://schemas.openxmlformats.org/drawingml/2006/main">
            <a:r>
              <a:t>C:/Projects/AIBSI/tensor_pipeline/outputs/v4_tuning/nested_report.json</a:t>
            </a:r>
          </a:p>
          <a:p xmlns:a="http://schemas.openxmlformats.org/drawingml/2006/main">
            <a:r>
              <a:t>C:/Projects/AIBSI/tensor_pipeline/outputs/v5_connectivity/nested_report.json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classifier family tunes features and its own settings within inner CV. Consequently, these rows can use different representations across outer folds. The primary endpoint, automatic selection of the full pipeline, is 54.516%. SVM is the strongest observed family with 59.682% BA and 60.606% ordinary accuracy. Values come directly from the nested report. The bars show means without confidence intervals.</a:t>
            </a:r>
          </a:p>
          <a:p xmlns:a="http://schemas.openxmlformats.org/drawingml/2006/main">
            <a:r>
              <a:t/>
            </a:r>
          </a:p>
          <a:p xmlns:a="http://schemas.openxmlformats.org/drawingml/2006/main">
            <a:r>
              <a:t>Sources:</a:t>
            </a:r>
          </a:p>
          <a:p xmlns:a="http://schemas.openxmlformats.org/drawingml/2006/main">
            <a:r>
              <a:t>C:/Projects/AIBSI/tensor_pipeline/outputs/v4_tuning/nested_report.json</a:t>
            </a:r>
          </a:p>
          <a:p xmlns:a="http://schemas.openxmlformats.org/drawingml/2006/main">
            <a:r>
              <a:t>C:/Projects/AIBSI/tensor_pipeline/outputs/v4_tuning/EXPERIMENT_REPORT.md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recalls average three repetitions. The FTD class has only 23 independent participants. Low FTD recall persists across classifier families even with class weighting. Class weights rebalance training loss but do not add new FTD examples or ensure clean separation.</a:t>
            </a:r>
          </a:p>
          <a:p xmlns:a="http://schemas.openxmlformats.org/drawingml/2006/main">
            <a:r>
              <a:t/>
            </a:r>
          </a:p>
          <a:p xmlns:a="http://schemas.openxmlformats.org/drawingml/2006/main">
            <a:r>
              <a:t>Sources:</a:t>
            </a:r>
          </a:p>
          <a:p xmlns:a="http://schemas.openxmlformats.org/drawingml/2006/main">
            <a:r>
              <a:t>C:/Projects/AIBSI/tensor_pipeline/outputs/v4_tuning/nested_report.json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Macro F1 averages class-wise F1 scores. F1 balances precision with recall. Values on the chart express F1 on a 0–100 scale for visual comparison, not as ordinary accuracy. The spectral control has no tensor decomposition. Graph + TT means fixed graph pre-smoothing followed by TT. These family results independently select rank or model settings within training folds. The primary full-family selection scored 47.343%.</a:t>
            </a:r>
          </a:p>
          <a:p xmlns:a="http://schemas.openxmlformats.org/drawingml/2006/main">
            <a:r>
              <a:t/>
            </a:r>
          </a:p>
          <a:p xmlns:a="http://schemas.openxmlformats.org/drawingml/2006/main">
            <a:r>
              <a:t>Sources:</a:t>
            </a:r>
          </a:p>
          <a:p xmlns:a="http://schemas.openxmlformats.org/drawingml/2006/main">
            <a:r>
              <a:t>C:/Projects/AIBSI/tensor_pipeline/outputs/v2_tensor_train/nested_benchmark/nested_report.json</a:t>
            </a:r>
          </a:p>
          <a:p xmlns:a="http://schemas.openxmlformats.org/drawingml/2006/main">
            <a:r>
              <a:t>C:/Projects/AIBSI/tensor_pipeline/outputs/v2_tensor_train/EXPERIMENT_REPORT.md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Recall values calculate the mean sensitivity for AD, FTD and CN from the three saved repetitions. Tucker achieved the highest FTD recall among these V2 families. This finding does not prove a reproducible gain on an independent cohort.</a:t>
            </a:r>
          </a:p>
          <a:p xmlns:a="http://schemas.openxmlformats.org/drawingml/2006/main">
            <a:r>
              <a:t/>
            </a:r>
          </a:p>
          <a:p xmlns:a="http://schemas.openxmlformats.org/drawingml/2006/main">
            <a:r>
              <a:t>Sources:</a:t>
            </a:r>
          </a:p>
          <a:p xmlns:a="http://schemas.openxmlformats.org/drawingml/2006/main">
            <a:r>
              <a:t>C:/Projects/AIBSI/tensor_pipeline/outputs/v2_tensor_train/nested_benchmark/nested_report.json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Waveform features used channel × lag × local-position tensors with a 120-ms lag span. They pooled squared filter responses across windows and time. This preserves second-order waveform information but discards ordering and higher-order detail. It is not a test of every possible waveform model. Waveform arms kept approximately 0.5–45 Hz content and the spectral control used 1–30 Hz, so this is not a perfectly bandwidth-matched ablation. The 100-iteration supervised TT optimizer did not report convergence in the initial run.</a:t>
            </a:r>
          </a:p>
          <a:p xmlns:a="http://schemas.openxmlformats.org/drawingml/2006/main">
            <a:r>
              <a:t/>
            </a:r>
          </a:p>
          <a:p xmlns:a="http://schemas.openxmlformats.org/drawingml/2006/main">
            <a:r>
              <a:t>Sources:</a:t>
            </a:r>
          </a:p>
          <a:p xmlns:a="http://schemas.openxmlformats.org/drawingml/2006/main">
            <a:r>
              <a:t>C:/Projects/AIBSI/tensor_pipeline/outputs/v3_waveform_full_cohort/nested_report.json</a:t>
            </a:r>
          </a:p>
          <a:p xmlns:a="http://schemas.openxmlformats.org/drawingml/2006/main">
            <a:r>
              <a:t>C:/Projects/AIBSI/tensor_pipeline/outputs/v3_waveform_full_cohort/EXPERIMENT_REPORT.md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V5 compared power, Riemannian covariance features, connectivity and hybrid features. Riemannian methods compare covariance matrices using their geometry. Connectivity measures include correlation, amplitude-envelope correlation, imaginary phase-locking components and weighted phase-lag index. Whole-recording, four-bag and eight-bag representations kept each participant together. Hierarchical CN-versus-dementia then AD-versus-FTD classification achieved 53.3% BA, multiclass selection 56.0%. Bag-family results were 54.8%, 53.2% and 51.1% for one, four and eight bags. These are internal local experimental results, with no independent external validation.</a:t>
            </a:r>
          </a:p>
          <a:p xmlns:a="http://schemas.openxmlformats.org/drawingml/2006/main">
            <a:r>
              <a:t/>
            </a:r>
          </a:p>
          <a:p xmlns:a="http://schemas.openxmlformats.org/drawingml/2006/main">
            <a:r>
              <a:t>Sources:</a:t>
            </a:r>
          </a:p>
          <a:p xmlns:a="http://schemas.openxmlformats.org/drawingml/2006/main">
            <a:r>
              <a:t>C:/Projects/AIBSI/tensor_pipeline/outputs/v5_connectivity/nested_report.json</a:t>
            </a:r>
          </a:p>
          <a:p xmlns:a="http://schemas.openxmlformats.org/drawingml/2006/main">
            <a:r>
              <a:t>C:/Projects/AIBSI/tensor_pipeline/v5_connectivity/PROTOCOL.md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figure uses the rounded percentages in the V2 report. High training accuracy with much lower held-out performance is consistent with overfitting and unstable selection on a small sample. EEG overlap and FTD heterogeneity are plausible contributors. Unsupervised decomposition optimizes signal reconstruction rather than diagnosis separation. Pooling removes temporal detail. Residual noise may also contribute, but we have not measured how much. More iterations alone did not improve the V3 fixed-model comparison.</a:t>
            </a:r>
          </a:p>
          <a:p xmlns:a="http://schemas.openxmlformats.org/drawingml/2006/main">
            <a:r>
              <a:t/>
            </a:r>
          </a:p>
          <a:p xmlns:a="http://schemas.openxmlformats.org/drawingml/2006/main">
            <a:r>
              <a:t>Sources:</a:t>
            </a:r>
          </a:p>
          <a:p xmlns:a="http://schemas.openxmlformats.org/drawingml/2006/main">
            <a:r>
              <a:t>C:/Projects/AIBSI/PROJECT_MASTER_REPORT.md</a:t>
            </a:r>
          </a:p>
          <a:p xmlns:a="http://schemas.openxmlformats.org/drawingml/2006/main">
            <a:r>
              <a:t>C:/Projects/AIBSI/tensor_pipeline/outputs/v2_tensor_train/EXPERIMENT_REPORT.md</a:t>
            </a:r>
          </a:p>
          <a:p xmlns:a="http://schemas.openxmlformats.org/drawingml/2006/main">
            <a:r>
              <a:t>C:/Projects/AIBSI/tensor_pipeline/outputs/v3_waveform_full_cohort/convergence_sensitivity/REPORT.md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curation includes band-specific outliers, slow drift, muscle bursts, repeated transients and subject/channel quality profiles. We already use processed EEG and boundary-aware later analysis indices. Thresholds must not be chosen to improve diagnosis-specific test scores. Compare the same model and participant splits across input variants with rules defined before outcomes. A separate external cohort is needed to confirm performance after repeated work on this dataset. No new curation run was performed for this presentation.</a:t>
            </a:r>
          </a:p>
          <a:p xmlns:a="http://schemas.openxmlformats.org/drawingml/2006/main">
            <a:r>
              <a:t/>
            </a:r>
          </a:p>
          <a:p xmlns:a="http://schemas.openxmlformats.org/drawingml/2006/main">
            <a:r>
              <a:t>Sources:</a:t>
            </a:r>
          </a:p>
          <a:p xmlns:a="http://schemas.openxmlformats.org/drawingml/2006/main">
            <a:r>
              <a:t>C:/Projects/AIBSI/PROJECT_MASTER_REPORT.md</a:t>
            </a:r>
          </a:p>
          <a:p xmlns:a="http://schemas.openxmlformats.org/drawingml/2006/main">
            <a:r>
              <a:t>C:/Projects/AIBSI/preprocessing/reports/03_signal_quality_audit_and_cleaning.md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V1 results are maxima from a non-nested rank/classifier comparison, not a primary nested estimate. V1 anatomy-specific claims are unreliable due to wrong label order; ordinary flattened PCA is unaffected by that permutation. The longer-iteration supervised TT test was post-hoc and only 3 of 25 long fits reported convergence. V4 stronger regularization improved convergence status to 200 of 285 fits but did not make supervised TT the best model. The fusion starts with TT and spectral features, then selects training-side features, so it does not prove that tensor features caused a gain.</a:t>
            </a:r>
          </a:p>
          <a:p xmlns:a="http://schemas.openxmlformats.org/drawingml/2006/main">
            <a:r>
              <a:t/>
            </a:r>
          </a:p>
          <a:p xmlns:a="http://schemas.openxmlformats.org/drawingml/2006/main">
            <a:r>
              <a:t>Sources:</a:t>
            </a:r>
          </a:p>
          <a:p xmlns:a="http://schemas.openxmlformats.org/drawingml/2006/main">
            <a:r>
              <a:t>C:/Projects/AIBSI/PROJECT_MASTER_REPORT.md</a:t>
            </a:r>
          </a:p>
          <a:p xmlns:a="http://schemas.openxmlformats.org/drawingml/2006/main">
            <a:r>
              <a:t>C:/Projects/AIBSI/tensor_pipeline/outputs/v3_waveform_full_cohort/convergence_sensitivity/REPORT.md</a:t>
            </a:r>
          </a:p>
          <a:p xmlns:a="http://schemas.openxmlformats.org/drawingml/2006/main">
            <a:r>
              <a:t>C:/Projects/AIBSI/tensor_pipeline/outputs/v4_tuning/EXPERIMENT_REPORT.md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sources and local artifacts:</a:t>
            </a:r>
          </a:p>
          <a:p xmlns:a="http://schemas.openxmlformats.org/drawingml/2006/main">
            <a:r>
              <a:t>C:/Projects/AIBSI/PROJECT_MASTER_REPORT.md</a:t>
            </a:r>
          </a:p>
          <a:p xmlns:a="http://schemas.openxmlformats.org/drawingml/2006/main">
            <a:r>
              <a:t>C:/Projects/AIBSI/tensor_pipeline/outputs/v2_tensor_train/nested_benchmark/nested_report.json</a:t>
            </a:r>
          </a:p>
          <a:p xmlns:a="http://schemas.openxmlformats.org/drawingml/2006/main">
            <a:r>
              <a:t>C:/Projects/AIBSI/tensor_pipeline/outputs/v3_waveform_full_cohort/nested_report.json</a:t>
            </a:r>
          </a:p>
          <a:p xmlns:a="http://schemas.openxmlformats.org/drawingml/2006/main">
            <a:r>
              <a:t>C:/Projects/AIBSI/tensor_pipeline/outputs/v4_tuning/nested_report.json</a:t>
            </a:r>
          </a:p>
          <a:p xmlns:a="http://schemas.openxmlformats.org/drawingml/2006/main">
            <a:r>
              <a:t>C:/Projects/AIBSI/tensor_pipeline/outputs/v5_connectivity/nested_report.json</a:t>
            </a:r>
          </a:p>
          <a:p xmlns:a="http://schemas.openxmlformats.org/drawingml/2006/main">
            <a:r>
              <a:t>Additional sources: https://www.mdpi.com/2306-5729/8/6/95</a:t>
            </a:r>
          </a:p>
          <a:p xmlns:a="http://schemas.openxmlformats.org/drawingml/2006/main">
            <a:r>
              <a:t>https://www.nia.nih.gov/health/alzheimers-symptoms-and-diagnosis/how-biomarkers-help-diagnose-dementia</a:t>
            </a:r>
          </a:p>
          <a:p xmlns:a="http://schemas.openxmlformats.org/drawingml/2006/main">
            <a:r>
              <a:t>https://pmc.ncbi.nlm.nih.gov/articles/PMC4561903/</a:t>
            </a:r>
          </a:p>
          <a:p xmlns:a="http://schemas.openxmlformats.org/drawingml/2006/main">
            <a:r>
              <a:t>https://pmc.ncbi.nlm.nih.gov/articles/PMC13184051/</a:t>
            </a:r>
          </a:p>
          <a:p xmlns:a="http://schemas.openxmlformats.org/drawingml/2006/main">
            <a:r>
              <a:t>No figure in this deck implies that these results establish an attainable accuracy ceiling. Bars compare methods within an experiment. Rounded percentages follow the underlying saved metric values.</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24a6b4210044fe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37471f0b7924fac" /><Relationship Type="http://schemas.openxmlformats.org/officeDocument/2006/relationships/slideLayout" Target="/ppt/slideLayouts/slideLayout1.xml" Id="R5ee67278a1b24d9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ee67278a1b24d9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af1171498794eb3" /><Relationship Type="http://schemas.openxmlformats.org/officeDocument/2006/relationships/notesSlide" Target="/ppt/notesSlides/notesSlide1.xml" Id="Ra9b7bc00dc5d4fe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7e97b3ec0e64c08" /><Relationship Type="http://schemas.openxmlformats.org/officeDocument/2006/relationships/notesSlide" Target="/ppt/notesSlides/notesSlide2.xml" Id="Rcf3eb039803e4d0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86f071adc7b4dd8" /><Relationship Type="http://schemas.openxmlformats.org/officeDocument/2006/relationships/chart" Target="/ppt/slides/charts/chart1.xml" Id="R5ecf89abcdfd4133" /><Relationship Type="http://schemas.openxmlformats.org/officeDocument/2006/relationships/notesSlide" Target="/ppt/notesSlides/notesSlide3.xml" Id="R1f46c34988514f0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69e291a14b34709" /><Relationship Type="http://schemas.openxmlformats.org/officeDocument/2006/relationships/notesSlide" Target="/ppt/notesSlides/notesSlide4.xml" Id="R59039652002b4bb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37c1db588d6414a" /><Relationship Type="http://schemas.openxmlformats.org/officeDocument/2006/relationships/chart" Target="/ppt/slides/charts/chart2.xml" Id="Rbf07b23d1cae446b" /><Relationship Type="http://schemas.openxmlformats.org/officeDocument/2006/relationships/notesSlide" Target="/ppt/notesSlides/notesSlide5.xml" Id="R64caf806543b467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92851ce412143c9" /><Relationship Type="http://schemas.openxmlformats.org/officeDocument/2006/relationships/notesSlide" Target="/ppt/notesSlides/notesSlide6.xml" Id="R348915882fb54b3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d2297e6b6d54e86" /><Relationship Type="http://schemas.openxmlformats.org/officeDocument/2006/relationships/notesSlide" Target="/ppt/notesSlides/notesSlide7.xml" Id="R81178b8b4587417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e7cb7e6a6184b04" /><Relationship Type="http://schemas.openxmlformats.org/officeDocument/2006/relationships/notesSlide" Target="/ppt/notesSlides/notesSlide8.xml" Id="Rda0378c8caf94ed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fd78552a09f4a2b" /><Relationship Type="http://schemas.openxmlformats.org/officeDocument/2006/relationships/notesSlide" Target="/ppt/notesSlides/notesSlide9.xml" Id="R0f7c47e759814f2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b0b196e9f29485e" /><Relationship Type="http://schemas.openxmlformats.org/officeDocument/2006/relationships/notesSlide" Target="/ppt/notesSlides/notesSlide10.xml" Id="Rd4fe6af01314470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a2d86224be049ce" /><Relationship Type="http://schemas.openxmlformats.org/officeDocument/2006/relationships/chart" Target="/ppt/slides/charts/chart3.xml" Id="R562c09601941426f" /><Relationship Type="http://schemas.openxmlformats.org/officeDocument/2006/relationships/notesSlide" Target="/ppt/notesSlides/notesSlide11.xml" Id="Rbf4672280a844ff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199e1bc08c84f36" /><Relationship Type="http://schemas.openxmlformats.org/officeDocument/2006/relationships/chart" Target="/ppt/slides/charts/chart4.xml" Id="Rd01dde4fe3d84854" /><Relationship Type="http://schemas.openxmlformats.org/officeDocument/2006/relationships/notesSlide" Target="/ppt/notesSlides/notesSlide12.xml" Id="R50a42cdcb760423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e8e486773c04248" /><Relationship Type="http://schemas.openxmlformats.org/officeDocument/2006/relationships/chart" Target="/ppt/slides/charts/chart5.xml" Id="Re3bcb55ea8a74106" /><Relationship Type="http://schemas.openxmlformats.org/officeDocument/2006/relationships/notesSlide" Target="/ppt/notesSlides/notesSlide13.xml" Id="Rd6edb98ff00b419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1e3fe414ec8439c" /><Relationship Type="http://schemas.openxmlformats.org/officeDocument/2006/relationships/chart" Target="/ppt/slides/charts/chart6.xml" Id="R9de6d4d386874e44" /><Relationship Type="http://schemas.openxmlformats.org/officeDocument/2006/relationships/notesSlide" Target="/ppt/notesSlides/notesSlide14.xml" Id="Rd0b6e7191c57490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2069d57222d4120" /><Relationship Type="http://schemas.openxmlformats.org/officeDocument/2006/relationships/chart" Target="/ppt/slides/charts/chart7.xml" Id="Rf34dee3401414d31" /><Relationship Type="http://schemas.openxmlformats.org/officeDocument/2006/relationships/notesSlide" Target="/ppt/notesSlides/notesSlide15.xml" Id="R2b53d9372ebf4a7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ec538bdb5334530" /><Relationship Type="http://schemas.openxmlformats.org/officeDocument/2006/relationships/chart" Target="/ppt/slides/charts/chart8.xml" Id="R7044d7f1c37f4e47" /><Relationship Type="http://schemas.openxmlformats.org/officeDocument/2006/relationships/notesSlide" Target="/ppt/notesSlides/notesSlide16.xml" Id="R268fc3b70c1e4c7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bbc81575215450a" /><Relationship Type="http://schemas.openxmlformats.org/officeDocument/2006/relationships/chart" Target="/ppt/slides/charts/chart9.xml" Id="R401ee31092954ea1" /><Relationship Type="http://schemas.openxmlformats.org/officeDocument/2006/relationships/notesSlide" Target="/ppt/notesSlides/notesSlide17.xml" Id="Ra4f5968448824ed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541378ab93a491d" /><Relationship Type="http://schemas.openxmlformats.org/officeDocument/2006/relationships/notesSlide" Target="/ppt/notesSlides/notesSlide18.xml" Id="Raabb1361c3f94a0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69fff5707a541c6" /><Relationship Type="http://schemas.openxmlformats.org/officeDocument/2006/relationships/notesSlide" Target="/ppt/notesSlides/notesSlide19.xml" Id="R4ced90d8e30241a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41798d378cf54bb5" /><Relationship Type="http://schemas.openxmlformats.org/officeDocument/2006/relationships/notesSlide" Target="/ppt/notesSlides/notesSlide20.xml" Id="R65126aa52d1d404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Participants</c:v>
          </c:tx>
          <c:spPr>
            <a:solidFill xmlns:a="http://schemas.openxmlformats.org/drawingml/2006/main">
              <a:srgbClr val="007F83"/>
            </a:solidFill>
          </c:spPr>
          <c:cat>
            <c:strRef>
              <c:f>'Chart Data'!$A$2:$A$4</c:f>
              <c:strCache>
                <c:ptCount val="3"/>
                <c:pt idx="0">
                  <c:v>Alzheimer’s
AD</c:v>
                </c:pt>
                <c:pt idx="1">
                  <c:v>Frontotemporal
FTD</c:v>
                </c:pt>
                <c:pt idx="2">
                  <c:v>Controls
CN</c:v>
                </c:pt>
              </c:strCache>
            </c:strRef>
          </c:cat>
          <c:val>
            <c:numRef>
              <c:f>'Chart Data'!$B$2:$B$4</c:f>
              <c:numCache>
                <c:formatCode>0</c:formatCode>
                <c:ptCount val="3"/>
                <c:pt idx="0">
                  <c:v>36</c:v>
                </c:pt>
                <c:pt idx="1">
                  <c:v>23</c:v>
                </c:pt>
                <c:pt idx="2">
                  <c:v>29</c:v>
                </c:pt>
              </c:numCache>
            </c:numRef>
          </c:val>
        </c:ser>
        <c:dLbls>
          <c:txPr>
            <a:bodyPr xmlns:a="http://schemas.openxmlformats.org/drawingml/2006/main" anchorCtr="1"/>
            <a:lstStyle xmlns:a="http://schemas.openxmlformats.org/drawingml/2006/main"/>
            <a:p xmlns:a="http://schemas.openxmlformats.org/drawingml/2006/main">
              <a:pPr>
                <a:defRPr sz="1500" b="1">
                  <a:solidFill>
                    <a:srgbClr val="102B45"/>
                  </a:solidFill>
                  <a:latin typeface="Arial"/>
                  <a:ea typeface="Arial"/>
                  <a:cs typeface="Arial"/>
                </a:defRPr>
              </a:pPr>
            </a:p>
          </c:txPr>
          <c:dLblPos val="outEnd"/>
          <c:showLegendKey val="0"/>
          <c:showVal val="1"/>
          <c:showCatName val="0"/>
          <c:showSerName val="0"/>
          <c:showPercent val="0"/>
          <c:showBubbleSize val="0"/>
          <c:showLeaderLines val="0"/>
        </c:dLbls>
        <c:gapWidth val="85"/>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E1E8"/>
            </a:solidFill>
          </a:ln>
        </c:spPr>
        <c:txPr>
          <a:bodyPr xmlns:a="http://schemas.openxmlformats.org/drawingml/2006/main" anchorCtr="1"/>
          <a:lstStyle xmlns:a="http://schemas.openxmlformats.org/drawingml/2006/main"/>
          <a:p xmlns:a="http://schemas.openxmlformats.org/drawingml/2006/main">
            <a:pPr>
              <a:defRPr sz="1575">
                <a:solidFill>
                  <a:srgbClr val="102B45"/>
                </a:solidFill>
                <a:latin typeface="Arial"/>
                <a:ea typeface="Arial"/>
                <a:cs typeface="Arial"/>
              </a:defRPr>
            </a:pPr>
          </a:p>
        </c:txPr>
        <c:crossAx val="48672768"/>
      </c:catAx>
      <c:valAx>
        <c:axId val="48672768"/>
        <c:scaling>
          <c:orientation val="minMax"/>
          <c:max val="40"/>
          <c:min val="0"/>
        </c:scaling>
        <c:delete val="0"/>
        <c:axPos val="l"/>
        <c:majorGridlines>
          <c:spPr>
            <a:ln xmlns:a="http://schemas.openxmlformats.org/drawingml/2006/main" w="9525">
              <a:solidFill>
                <a:srgbClr val="D8E1E8"/>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566779"/>
                </a:solidFill>
                <a:latin typeface="Arial"/>
                <a:ea typeface="Arial"/>
                <a:cs typeface="Arial"/>
              </a:defRPr>
            </a:pPr>
          </a:p>
        </c:txPr>
        <c:crossAx val="48650112"/>
        <c:crossBetween val="between"/>
        <c:majorUnit val="1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Primary cohort</c:v>
          </c:tx>
          <c:spPr>
            <a:solidFill xmlns:a="http://schemas.openxmlformats.org/drawingml/2006/main">
              <a:srgbClr val="4779B8"/>
            </a:solidFill>
          </c:spPr>
          <c:cat>
            <c:strRef>
              <c:f>'Chart Data'!$A$2:$A$4</c:f>
              <c:strCache>
                <c:ptCount val="3"/>
                <c:pt idx="0">
                  <c:v>AD</c:v>
                </c:pt>
                <c:pt idx="1">
                  <c:v>FTD</c:v>
                </c:pt>
                <c:pt idx="2">
                  <c:v>CN</c:v>
                </c:pt>
              </c:strCache>
            </c:strRef>
          </c:cat>
          <c:val>
            <c:numRef>
              <c:f>'Chart Data'!$B$2:$B$4</c:f>
              <c:numCache>
                <c:formatCode>0</c:formatCode>
                <c:ptCount val="3"/>
                <c:pt idx="0">
                  <c:v>23</c:v>
                </c:pt>
                <c:pt idx="1">
                  <c:v>23</c:v>
                </c:pt>
                <c:pt idx="2">
                  <c:v>23</c:v>
                </c:pt>
              </c:numCache>
            </c:numRef>
          </c:val>
        </c:ser>
        <c:ser>
          <c:idx val="1"/>
          <c:order val="1"/>
          <c:tx>
            <c:v>Full cohort</c:v>
          </c:tx>
          <c:spPr>
            <a:solidFill xmlns:a="http://schemas.openxmlformats.org/drawingml/2006/main">
              <a:srgbClr val="007F83"/>
            </a:solidFill>
          </c:spPr>
          <c:cat>
            <c:strRef>
              <c:f>'Chart Data'!$C$2:$C$4</c:f>
              <c:strCache>
                <c:ptCount val="3"/>
                <c:pt idx="0">
                  <c:v>AD</c:v>
                </c:pt>
                <c:pt idx="1">
                  <c:v>FTD</c:v>
                </c:pt>
                <c:pt idx="2">
                  <c:v>CN</c:v>
                </c:pt>
              </c:strCache>
            </c:strRef>
          </c:cat>
          <c:val>
            <c:numRef>
              <c:f>'Chart Data'!$D$2:$D$4</c:f>
              <c:numCache>
                <c:formatCode>0</c:formatCode>
                <c:ptCount val="3"/>
                <c:pt idx="0">
                  <c:v>36</c:v>
                </c:pt>
                <c:pt idx="1">
                  <c:v>23</c:v>
                </c:pt>
                <c:pt idx="2">
                  <c:v>29</c:v>
                </c:pt>
              </c:numCache>
            </c:numRef>
          </c:val>
        </c:ser>
        <c:dLbls>
          <c:txPr>
            <a:bodyPr xmlns:a="http://schemas.openxmlformats.org/drawingml/2006/main" anchorCtr="1"/>
            <a:lstStyle xmlns:a="http://schemas.openxmlformats.org/drawingml/2006/main"/>
            <a:p xmlns:a="http://schemas.openxmlformats.org/drawingml/2006/main">
              <a:pPr>
                <a:defRPr sz="1500" b="1">
                  <a:solidFill>
                    <a:srgbClr val="102B45"/>
                  </a:solidFill>
                  <a:latin typeface="Arial"/>
                  <a:ea typeface="Arial"/>
                  <a:cs typeface="Arial"/>
                </a:defRPr>
              </a:pPr>
            </a:p>
          </c:txPr>
          <c:dLblPos val="outEnd"/>
          <c:showLegendKey val="0"/>
          <c:showVal val="1"/>
          <c:showCatName val="0"/>
          <c:showSerName val="0"/>
          <c:showPercent val="0"/>
          <c:showBubbleSize val="0"/>
          <c:showLeaderLines val="0"/>
        </c:dLbls>
        <c:gapWidth val="85"/>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E1E8"/>
            </a:solidFill>
          </a:ln>
        </c:spPr>
        <c:txPr>
          <a:bodyPr xmlns:a="http://schemas.openxmlformats.org/drawingml/2006/main" anchorCtr="1"/>
          <a:lstStyle xmlns:a="http://schemas.openxmlformats.org/drawingml/2006/main"/>
          <a:p xmlns:a="http://schemas.openxmlformats.org/drawingml/2006/main">
            <a:pPr>
              <a:defRPr sz="1575">
                <a:solidFill>
                  <a:srgbClr val="102B45"/>
                </a:solidFill>
                <a:latin typeface="Arial"/>
                <a:ea typeface="Arial"/>
                <a:cs typeface="Arial"/>
              </a:defRPr>
            </a:pPr>
          </a:p>
        </c:txPr>
        <c:crossAx val="48672768"/>
      </c:catAx>
      <c:valAx>
        <c:axId val="48672768"/>
        <c:scaling>
          <c:orientation val="minMax"/>
          <c:max val="40"/>
          <c:min val="0"/>
        </c:scaling>
        <c:delete val="0"/>
        <c:axPos val="l"/>
        <c:majorGridlines>
          <c:spPr>
            <a:ln xmlns:a="http://schemas.openxmlformats.org/drawingml/2006/main" w="9525">
              <a:solidFill>
                <a:srgbClr val="D8E1E8"/>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566779"/>
                </a:solidFill>
                <a:latin typeface="Arial"/>
                <a:ea typeface="Arial"/>
                <a:cs typeface="Arial"/>
              </a:defRPr>
            </a:pPr>
          </a:p>
        </c:txPr>
        <c:crossAx val="48650112"/>
        <c:crossBetween val="between"/>
        <c:majorUnit val="1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566779"/>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Balanced accuracy</c:v>
          </c:tx>
          <c:spPr>
            <a:solidFill xmlns:a="http://schemas.openxmlformats.org/drawingml/2006/main">
              <a:srgbClr val="007F83"/>
            </a:solidFill>
          </c:spPr>
          <c:cat>
            <c:strRef>
              <c:f>'Chart Data'!$A$2:$A$6</c:f>
              <c:strCache>
                <c:ptCount val="5"/>
                <c:pt idx="0">
                  <c:v>Logistic
regression</c:v>
                </c:pt>
                <c:pt idx="1">
                  <c:v>RBF SVM</c:v>
                </c:pt>
                <c:pt idx="2">
                  <c:v>Random
forest</c:v>
                </c:pt>
                <c:pt idx="3">
                  <c:v>XGBoost</c:v>
                </c:pt>
                <c:pt idx="4">
                  <c:v>Supervised
TT</c:v>
                </c:pt>
              </c:strCache>
            </c:strRef>
          </c:cat>
          <c:val>
            <c:numRef>
              <c:f>'Chart Data'!$B$2:$B$6</c:f>
              <c:numCache>
                <c:formatCode>0.0%</c:formatCode>
                <c:ptCount val="5"/>
                <c:pt idx="0">
                  <c:v>0.545505</c:v>
                </c:pt>
                <c:pt idx="1">
                  <c:v>0.596822</c:v>
                </c:pt>
                <c:pt idx="2">
                  <c:v>0.583181</c:v>
                </c:pt>
                <c:pt idx="3">
                  <c:v>0.576369</c:v>
                </c:pt>
                <c:pt idx="4">
                  <c:v>0.508857</c:v>
                </c:pt>
              </c:numCache>
            </c:numRef>
          </c:val>
        </c:ser>
        <c:ser>
          <c:idx val="1"/>
          <c:order val="1"/>
          <c:tx>
            <c:v>Accuracy</c:v>
          </c:tx>
          <c:spPr>
            <a:solidFill xmlns:a="http://schemas.openxmlformats.org/drawingml/2006/main">
              <a:srgbClr val="4779B8"/>
            </a:solidFill>
          </c:spPr>
          <c:cat>
            <c:strRef>
              <c:f>'Chart Data'!$C$2:$C$6</c:f>
              <c:strCache>
                <c:ptCount val="5"/>
                <c:pt idx="0">
                  <c:v>Logistic
regression</c:v>
                </c:pt>
                <c:pt idx="1">
                  <c:v>RBF SVM</c:v>
                </c:pt>
                <c:pt idx="2">
                  <c:v>Random
forest</c:v>
                </c:pt>
                <c:pt idx="3">
                  <c:v>XGBoost</c:v>
                </c:pt>
                <c:pt idx="4">
                  <c:v>Supervised
TT</c:v>
                </c:pt>
              </c:strCache>
            </c:strRef>
          </c:cat>
          <c:val>
            <c:numRef>
              <c:f>'Chart Data'!$D$2:$D$6</c:f>
              <c:numCache>
                <c:formatCode>0.0%</c:formatCode>
                <c:ptCount val="5"/>
                <c:pt idx="0">
                  <c:v>0.556818</c:v>
                </c:pt>
                <c:pt idx="1">
                  <c:v>0.606061</c:v>
                </c:pt>
                <c:pt idx="2">
                  <c:v>0.598485</c:v>
                </c:pt>
                <c:pt idx="3">
                  <c:v>0.594697</c:v>
                </c:pt>
                <c:pt idx="4">
                  <c:v>0.526515</c:v>
                </c:pt>
              </c:numCache>
            </c:numRef>
          </c:val>
        </c:ser>
        <c:dLbls>
          <c:txPr>
            <a:bodyPr xmlns:a="http://schemas.openxmlformats.org/drawingml/2006/main" anchorCtr="1"/>
            <a:lstStyle xmlns:a="http://schemas.openxmlformats.org/drawingml/2006/main"/>
            <a:p xmlns:a="http://schemas.openxmlformats.org/drawingml/2006/main">
              <a:pPr>
                <a:defRPr sz="1500" b="1">
                  <a:solidFill>
                    <a:srgbClr val="102B45"/>
                  </a:solidFill>
                  <a:latin typeface="Arial"/>
                  <a:ea typeface="Arial"/>
                  <a:cs typeface="Arial"/>
                </a:defRPr>
              </a:pPr>
            </a:p>
          </c:txPr>
          <c:dLblPos val="outEnd"/>
          <c:showLegendKey val="0"/>
          <c:showVal val="1"/>
          <c:showCatName val="0"/>
          <c:showSerName val="0"/>
          <c:showPercent val="0"/>
          <c:showBubbleSize val="0"/>
          <c:showLeaderLines val="0"/>
        </c:dLbls>
        <c:gapWidth val="85"/>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E1E8"/>
            </a:solidFill>
          </a:ln>
        </c:spPr>
        <c:txPr>
          <a:bodyPr xmlns:a="http://schemas.openxmlformats.org/drawingml/2006/main" anchorCtr="1"/>
          <a:lstStyle xmlns:a="http://schemas.openxmlformats.org/drawingml/2006/main"/>
          <a:p xmlns:a="http://schemas.openxmlformats.org/drawingml/2006/main">
            <a:pPr>
              <a:defRPr sz="1575">
                <a:solidFill>
                  <a:srgbClr val="102B45"/>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8E1E8"/>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566779"/>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566779"/>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AD</c:v>
          </c:tx>
          <c:spPr>
            <a:solidFill xmlns:a="http://schemas.openxmlformats.org/drawingml/2006/main">
              <a:srgbClr val="4779B8"/>
            </a:solidFill>
          </c:spPr>
          <c:cat>
            <c:strRef>
              <c:f>'Chart Data'!$A$2:$A$6</c:f>
              <c:strCache>
                <c:ptCount val="5"/>
                <c:pt idx="0">
                  <c:v>Logistic
regression</c:v>
                </c:pt>
                <c:pt idx="1">
                  <c:v>RBF SVM</c:v>
                </c:pt>
                <c:pt idx="2">
                  <c:v>Random
forest</c:v>
                </c:pt>
                <c:pt idx="3">
                  <c:v>XGBoost</c:v>
                </c:pt>
                <c:pt idx="4">
                  <c:v>Supervised
TT</c:v>
                </c:pt>
              </c:strCache>
            </c:strRef>
          </c:cat>
          <c:val>
            <c:numRef>
              <c:f>'Chart Data'!$B$2:$B$6</c:f>
              <c:numCache>
                <c:formatCode>0.0%</c:formatCode>
                <c:ptCount val="5"/>
                <c:pt idx="0">
                  <c:v>0.555556</c:v>
                </c:pt>
                <c:pt idx="1">
                  <c:v>0.574074</c:v>
                </c:pt>
                <c:pt idx="2">
                  <c:v>0.611111</c:v>
                </c:pt>
                <c:pt idx="3">
                  <c:v>0.648148</c:v>
                </c:pt>
                <c:pt idx="4">
                  <c:v>0.555556</c:v>
                </c:pt>
              </c:numCache>
            </c:numRef>
          </c:val>
        </c:ser>
        <c:ser>
          <c:idx val="1"/>
          <c:order val="1"/>
          <c:tx>
            <c:v>FTD</c:v>
          </c:tx>
          <c:spPr>
            <a:solidFill xmlns:a="http://schemas.openxmlformats.org/drawingml/2006/main">
              <a:srgbClr val="D98236"/>
            </a:solidFill>
          </c:spPr>
          <c:cat>
            <c:strRef>
              <c:f>'Chart Data'!$C$2:$C$6</c:f>
              <c:strCache>
                <c:ptCount val="5"/>
                <c:pt idx="0">
                  <c:v>Logistic
regression</c:v>
                </c:pt>
                <c:pt idx="1">
                  <c:v>RBF SVM</c:v>
                </c:pt>
                <c:pt idx="2">
                  <c:v>Random
forest</c:v>
                </c:pt>
                <c:pt idx="3">
                  <c:v>XGBoost</c:v>
                </c:pt>
                <c:pt idx="4">
                  <c:v>Supervised
TT</c:v>
                </c:pt>
              </c:strCache>
            </c:strRef>
          </c:cat>
          <c:val>
            <c:numRef>
              <c:f>'Chart Data'!$D$2:$D$6</c:f>
              <c:numCache>
                <c:formatCode>0.0%</c:formatCode>
                <c:ptCount val="5"/>
                <c:pt idx="0">
                  <c:v>0.391304</c:v>
                </c:pt>
                <c:pt idx="1">
                  <c:v>0.434783</c:v>
                </c:pt>
                <c:pt idx="2">
                  <c:v>0.391304</c:v>
                </c:pt>
                <c:pt idx="3">
                  <c:v>0.391304</c:v>
                </c:pt>
                <c:pt idx="4">
                  <c:v>0.304348</c:v>
                </c:pt>
              </c:numCache>
            </c:numRef>
          </c:val>
        </c:ser>
        <c:ser>
          <c:idx val="2"/>
          <c:order val="2"/>
          <c:tx>
            <c:v>CN</c:v>
          </c:tx>
          <c:spPr>
            <a:solidFill xmlns:a="http://schemas.openxmlformats.org/drawingml/2006/main">
              <a:srgbClr val="007F83"/>
            </a:solidFill>
          </c:spPr>
          <c:cat>
            <c:strRef>
              <c:f>'Chart Data'!$E$2:$E$6</c:f>
              <c:strCache>
                <c:ptCount val="5"/>
                <c:pt idx="0">
                  <c:v>Logistic
regression</c:v>
                </c:pt>
                <c:pt idx="1">
                  <c:v>RBF SVM</c:v>
                </c:pt>
                <c:pt idx="2">
                  <c:v>Random
forest</c:v>
                </c:pt>
                <c:pt idx="3">
                  <c:v>XGBoost</c:v>
                </c:pt>
                <c:pt idx="4">
                  <c:v>Supervised
TT</c:v>
                </c:pt>
              </c:strCache>
            </c:strRef>
          </c:cat>
          <c:val>
            <c:numRef>
              <c:f>'Chart Data'!$F$2:$F$6</c:f>
              <c:numCache>
                <c:formatCode>0.0%</c:formatCode>
                <c:ptCount val="5"/>
                <c:pt idx="0">
                  <c:v>0.689655</c:v>
                </c:pt>
                <c:pt idx="1">
                  <c:v>0.781609</c:v>
                </c:pt>
                <c:pt idx="2">
                  <c:v>0.747126</c:v>
                </c:pt>
                <c:pt idx="3">
                  <c:v>0.689655</c:v>
                </c:pt>
                <c:pt idx="4">
                  <c:v>0.666667</c:v>
                </c:pt>
              </c:numCache>
            </c:numRef>
          </c:val>
        </c:ser>
        <c:dLbls>
          <c:txPr>
            <a:bodyPr xmlns:a="http://schemas.openxmlformats.org/drawingml/2006/main" anchorCtr="1"/>
            <a:lstStyle xmlns:a="http://schemas.openxmlformats.org/drawingml/2006/main"/>
            <a:p xmlns:a="http://schemas.openxmlformats.org/drawingml/2006/main">
              <a:pPr>
                <a:defRPr sz="1350" b="1">
                  <a:solidFill>
                    <a:srgbClr val="102B45"/>
                  </a:solidFill>
                  <a:latin typeface="Arial"/>
                  <a:ea typeface="Arial"/>
                  <a:cs typeface="Arial"/>
                </a:defRPr>
              </a:pPr>
            </a:p>
          </c:txPr>
          <c:dLblPos val="outEnd"/>
          <c:showLegendKey val="0"/>
          <c:showVal val="1"/>
          <c:showCatName val="0"/>
          <c:showSerName val="0"/>
          <c:showPercent val="0"/>
          <c:showBubbleSize val="0"/>
          <c:showLeaderLines val="0"/>
        </c:dLbls>
        <c:gapWidth val="85"/>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E1E8"/>
            </a:solidFill>
          </a:ln>
        </c:spPr>
        <c:txPr>
          <a:bodyPr xmlns:a="http://schemas.openxmlformats.org/drawingml/2006/main" anchorCtr="1"/>
          <a:lstStyle xmlns:a="http://schemas.openxmlformats.org/drawingml/2006/main"/>
          <a:p xmlns:a="http://schemas.openxmlformats.org/drawingml/2006/main">
            <a:pPr>
              <a:defRPr sz="1575">
                <a:solidFill>
                  <a:srgbClr val="102B45"/>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8E1E8"/>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566779"/>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566779"/>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Accuracy and balanced accuracy</c:v>
          </c:tx>
          <c:spPr>
            <a:solidFill xmlns:a="http://schemas.openxmlformats.org/drawingml/2006/main">
              <a:srgbClr val="007F83"/>
            </a:solidFill>
          </c:spPr>
          <c:cat>
            <c:strRef>
              <c:f>'Chart Data'!$A$2:$A$7</c:f>
              <c:strCache>
                <c:ptCount val="6"/>
                <c:pt idx="0">
                  <c:v>Subject
TT</c:v>
                </c:pt>
                <c:pt idx="1">
                  <c:v>Window
TT</c:v>
                </c:pt>
                <c:pt idx="2">
                  <c:v>Graph +
TT</c:v>
                </c:pt>
                <c:pt idx="3">
                  <c:v>Tucker /
HOSVD</c:v>
                </c:pt>
                <c:pt idx="4">
                  <c:v>TT +
spectral</c:v>
                </c:pt>
                <c:pt idx="5">
                  <c:v>Spectral
control</c:v>
                </c:pt>
              </c:strCache>
            </c:strRef>
          </c:cat>
          <c:val>
            <c:numRef>
              <c:f>'Chart Data'!$B$2:$B$7</c:f>
              <c:numCache>
                <c:formatCode>0.0%</c:formatCode>
                <c:ptCount val="6"/>
                <c:pt idx="0">
                  <c:v>0.502415</c:v>
                </c:pt>
                <c:pt idx="1">
                  <c:v>0.512077</c:v>
                </c:pt>
                <c:pt idx="2">
                  <c:v>0.531401</c:v>
                </c:pt>
                <c:pt idx="3">
                  <c:v>0.560386</c:v>
                </c:pt>
                <c:pt idx="4">
                  <c:v>0.541063</c:v>
                </c:pt>
                <c:pt idx="5">
                  <c:v>0.516908</c:v>
                </c:pt>
              </c:numCache>
            </c:numRef>
          </c:val>
        </c:ser>
        <c:ser>
          <c:idx val="1"/>
          <c:order val="1"/>
          <c:tx>
            <c:v>Macro F1 (0–100 scale)</c:v>
          </c:tx>
          <c:spPr>
            <a:solidFill xmlns:a="http://schemas.openxmlformats.org/drawingml/2006/main">
              <a:srgbClr val="4779B8"/>
            </a:solidFill>
          </c:spPr>
          <c:cat>
            <c:strRef>
              <c:f>'Chart Data'!$C$2:$C$7</c:f>
              <c:strCache>
                <c:ptCount val="6"/>
                <c:pt idx="0">
                  <c:v>Subject
TT</c:v>
                </c:pt>
                <c:pt idx="1">
                  <c:v>Window
TT</c:v>
                </c:pt>
                <c:pt idx="2">
                  <c:v>Graph +
TT</c:v>
                </c:pt>
                <c:pt idx="3">
                  <c:v>Tucker /
HOSVD</c:v>
                </c:pt>
                <c:pt idx="4">
                  <c:v>TT +
spectral</c:v>
                </c:pt>
                <c:pt idx="5">
                  <c:v>Spectral
control</c:v>
                </c:pt>
              </c:strCache>
            </c:strRef>
          </c:cat>
          <c:val>
            <c:numRef>
              <c:f>'Chart Data'!$D$2:$D$7</c:f>
              <c:numCache>
                <c:formatCode>0.0%</c:formatCode>
                <c:ptCount val="6"/>
                <c:pt idx="0">
                  <c:v>0.494619</c:v>
                </c:pt>
                <c:pt idx="1">
                  <c:v>0.509043</c:v>
                </c:pt>
                <c:pt idx="2">
                  <c:v>0.533426</c:v>
                </c:pt>
                <c:pt idx="3">
                  <c:v>0.559644</c:v>
                </c:pt>
                <c:pt idx="4">
                  <c:v>0.536026</c:v>
                </c:pt>
                <c:pt idx="5">
                  <c:v>0.510134</c:v>
                </c:pt>
              </c:numCache>
            </c:numRef>
          </c:val>
        </c:ser>
        <c:dLbls>
          <c:txPr>
            <a:bodyPr xmlns:a="http://schemas.openxmlformats.org/drawingml/2006/main" anchorCtr="1"/>
            <a:lstStyle xmlns:a="http://schemas.openxmlformats.org/drawingml/2006/main"/>
            <a:p xmlns:a="http://schemas.openxmlformats.org/drawingml/2006/main">
              <a:pPr>
                <a:defRPr sz="1350" b="1">
                  <a:solidFill>
                    <a:srgbClr val="102B45"/>
                  </a:solidFill>
                  <a:latin typeface="Arial"/>
                  <a:ea typeface="Arial"/>
                  <a:cs typeface="Arial"/>
                </a:defRPr>
              </a:pPr>
            </a:p>
          </c:txPr>
          <c:dLblPos val="outEnd"/>
          <c:showLegendKey val="0"/>
          <c:showVal val="1"/>
          <c:showCatName val="0"/>
          <c:showSerName val="0"/>
          <c:showPercent val="0"/>
          <c:showBubbleSize val="0"/>
          <c:showLeaderLines val="0"/>
        </c:dLbls>
        <c:gapWidth val="85"/>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E1E8"/>
            </a:solidFill>
          </a:ln>
        </c:spPr>
        <c:txPr>
          <a:bodyPr xmlns:a="http://schemas.openxmlformats.org/drawingml/2006/main" anchorCtr="1"/>
          <a:lstStyle xmlns:a="http://schemas.openxmlformats.org/drawingml/2006/main"/>
          <a:p xmlns:a="http://schemas.openxmlformats.org/drawingml/2006/main">
            <a:pPr>
              <a:defRPr sz="1500">
                <a:solidFill>
                  <a:srgbClr val="102B45"/>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8E1E8"/>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566779"/>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566779"/>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AD</c:v>
          </c:tx>
          <c:spPr>
            <a:solidFill xmlns:a="http://schemas.openxmlformats.org/drawingml/2006/main">
              <a:srgbClr val="4779B8"/>
            </a:solidFill>
          </c:spPr>
          <c:cat>
            <c:strRef>
              <c:f>'Chart Data'!$A$2:$A$7</c:f>
              <c:strCache>
                <c:ptCount val="6"/>
                <c:pt idx="0">
                  <c:v>Subject
TT</c:v>
                </c:pt>
                <c:pt idx="1">
                  <c:v>Window
TT</c:v>
                </c:pt>
                <c:pt idx="2">
                  <c:v>Graph +
TT</c:v>
                </c:pt>
                <c:pt idx="3">
                  <c:v>Tucker /
HOSVD</c:v>
                </c:pt>
                <c:pt idx="4">
                  <c:v>TT +
spectral</c:v>
                </c:pt>
                <c:pt idx="5">
                  <c:v>Spectral
control</c:v>
                </c:pt>
              </c:strCache>
            </c:strRef>
          </c:cat>
          <c:val>
            <c:numRef>
              <c:f>'Chart Data'!$B$2:$B$7</c:f>
              <c:numCache>
                <c:formatCode>0.0%</c:formatCode>
                <c:ptCount val="6"/>
                <c:pt idx="0">
                  <c:v>0.492754</c:v>
                </c:pt>
                <c:pt idx="1">
                  <c:v>0.463768</c:v>
                </c:pt>
                <c:pt idx="2">
                  <c:v>0.492754</c:v>
                </c:pt>
                <c:pt idx="3">
                  <c:v>0.594203</c:v>
                </c:pt>
                <c:pt idx="4">
                  <c:v>0.565217</c:v>
                </c:pt>
                <c:pt idx="5">
                  <c:v>0.536232</c:v>
                </c:pt>
              </c:numCache>
            </c:numRef>
          </c:val>
        </c:ser>
        <c:ser>
          <c:idx val="1"/>
          <c:order val="1"/>
          <c:tx>
            <c:v>FTD</c:v>
          </c:tx>
          <c:spPr>
            <a:solidFill xmlns:a="http://schemas.openxmlformats.org/drawingml/2006/main">
              <a:srgbClr val="D98236"/>
            </a:solidFill>
          </c:spPr>
          <c:cat>
            <c:strRef>
              <c:f>'Chart Data'!$C$2:$C$7</c:f>
              <c:strCache>
                <c:ptCount val="6"/>
                <c:pt idx="0">
                  <c:v>Subject
TT</c:v>
                </c:pt>
                <c:pt idx="1">
                  <c:v>Window
TT</c:v>
                </c:pt>
                <c:pt idx="2">
                  <c:v>Graph +
TT</c:v>
                </c:pt>
                <c:pt idx="3">
                  <c:v>Tucker /
HOSVD</c:v>
                </c:pt>
                <c:pt idx="4">
                  <c:v>TT +
spectral</c:v>
                </c:pt>
                <c:pt idx="5">
                  <c:v>Spectral
control</c:v>
                </c:pt>
              </c:strCache>
            </c:strRef>
          </c:cat>
          <c:val>
            <c:numRef>
              <c:f>'Chart Data'!$D$2:$D$7</c:f>
              <c:numCache>
                <c:formatCode>0.0%</c:formatCode>
                <c:ptCount val="6"/>
                <c:pt idx="0">
                  <c:v>0.347826</c:v>
                </c:pt>
                <c:pt idx="1">
                  <c:v>0.434783</c:v>
                </c:pt>
                <c:pt idx="2">
                  <c:v>0.478261</c:v>
                </c:pt>
                <c:pt idx="3">
                  <c:v>0.507246</c:v>
                </c:pt>
                <c:pt idx="4">
                  <c:v>0.376812</c:v>
                </c:pt>
                <c:pt idx="5">
                  <c:v>0.362319</c:v>
                </c:pt>
              </c:numCache>
            </c:numRef>
          </c:val>
        </c:ser>
        <c:ser>
          <c:idx val="2"/>
          <c:order val="2"/>
          <c:tx>
            <c:v>CN</c:v>
          </c:tx>
          <c:spPr>
            <a:solidFill xmlns:a="http://schemas.openxmlformats.org/drawingml/2006/main">
              <a:srgbClr val="007F83"/>
            </a:solidFill>
          </c:spPr>
          <c:cat>
            <c:strRef>
              <c:f>'Chart Data'!$E$2:$E$7</c:f>
              <c:strCache>
                <c:ptCount val="6"/>
                <c:pt idx="0">
                  <c:v>Subject
TT</c:v>
                </c:pt>
                <c:pt idx="1">
                  <c:v>Window
TT</c:v>
                </c:pt>
                <c:pt idx="2">
                  <c:v>Graph +
TT</c:v>
                </c:pt>
                <c:pt idx="3">
                  <c:v>Tucker /
HOSVD</c:v>
                </c:pt>
                <c:pt idx="4">
                  <c:v>TT +
spectral</c:v>
                </c:pt>
                <c:pt idx="5">
                  <c:v>Spectral
control</c:v>
                </c:pt>
              </c:strCache>
            </c:strRef>
          </c:cat>
          <c:val>
            <c:numRef>
              <c:f>'Chart Data'!$F$2:$F$7</c:f>
              <c:numCache>
                <c:formatCode>0.0%</c:formatCode>
                <c:ptCount val="6"/>
                <c:pt idx="0">
                  <c:v>0.666667</c:v>
                </c:pt>
                <c:pt idx="1">
                  <c:v>0.637681</c:v>
                </c:pt>
                <c:pt idx="2">
                  <c:v>0.623188</c:v>
                </c:pt>
                <c:pt idx="3">
                  <c:v>0.57971</c:v>
                </c:pt>
                <c:pt idx="4">
                  <c:v>0.681159</c:v>
                </c:pt>
                <c:pt idx="5">
                  <c:v>0.652174</c:v>
                </c:pt>
              </c:numCache>
            </c:numRef>
          </c:val>
        </c:ser>
        <c:dLbls>
          <c:txPr>
            <a:bodyPr xmlns:a="http://schemas.openxmlformats.org/drawingml/2006/main" anchorCtr="1"/>
            <a:lstStyle xmlns:a="http://schemas.openxmlformats.org/drawingml/2006/main"/>
            <a:p xmlns:a="http://schemas.openxmlformats.org/drawingml/2006/main">
              <a:pPr>
                <a:defRPr sz="1275" b="1">
                  <a:solidFill>
                    <a:srgbClr val="102B45"/>
                  </a:solidFill>
                  <a:latin typeface="Arial"/>
                  <a:ea typeface="Arial"/>
                  <a:cs typeface="Arial"/>
                </a:defRPr>
              </a:pPr>
            </a:p>
          </c:txPr>
          <c:dLblPos val="outEnd"/>
          <c:showLegendKey val="0"/>
          <c:showVal val="1"/>
          <c:showCatName val="0"/>
          <c:showSerName val="0"/>
          <c:showPercent val="0"/>
          <c:showBubbleSize val="0"/>
          <c:showLeaderLines val="0"/>
        </c:dLbls>
        <c:gapWidth val="20"/>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E1E8"/>
            </a:solidFill>
          </a:ln>
        </c:spPr>
        <c:txPr>
          <a:bodyPr xmlns:a="http://schemas.openxmlformats.org/drawingml/2006/main" anchorCtr="1"/>
          <a:lstStyle xmlns:a="http://schemas.openxmlformats.org/drawingml/2006/main"/>
          <a:p xmlns:a="http://schemas.openxmlformats.org/drawingml/2006/main">
            <a:pPr>
              <a:defRPr sz="1500">
                <a:solidFill>
                  <a:srgbClr val="102B45"/>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8E1E8"/>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566779"/>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566779"/>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Balanced accuracy</c:v>
          </c:tx>
          <c:spPr>
            <a:solidFill xmlns:a="http://schemas.openxmlformats.org/drawingml/2006/main">
              <a:srgbClr val="007F83"/>
            </a:solidFill>
          </c:spPr>
          <c:cat>
            <c:strRef>
              <c:f>'Chart Data'!$A$2:$A$5</c:f>
              <c:strCache>
                <c:ptCount val="4"/>
                <c:pt idx="0">
                  <c:v>Waveform TT</c:v>
                </c:pt>
                <c:pt idx="1">
                  <c:v>Waveform Tucker</c:v>
                </c:pt>
                <c:pt idx="2">
                  <c:v>Supervised TT</c:v>
                </c:pt>
                <c:pt idx="3">
                  <c:v>Spectral control</c:v>
                </c:pt>
              </c:strCache>
            </c:strRef>
          </c:cat>
          <c:val>
            <c:numRef>
              <c:f>'Chart Data'!$B$2:$B$5</c:f>
              <c:numCache>
                <c:formatCode>0.0%</c:formatCode>
                <c:ptCount val="4"/>
                <c:pt idx="0">
                  <c:v>0.509319</c:v>
                </c:pt>
                <c:pt idx="1">
                  <c:v>0.517982</c:v>
                </c:pt>
                <c:pt idx="2">
                  <c:v>0.499047</c:v>
                </c:pt>
                <c:pt idx="3">
                  <c:v>0.558253</c:v>
                </c:pt>
              </c:numCache>
            </c:numRef>
          </c:val>
        </c:ser>
        <c:ser>
          <c:idx val="1"/>
          <c:order val="1"/>
          <c:tx>
            <c:v>Accuracy</c:v>
          </c:tx>
          <c:spPr>
            <a:solidFill xmlns:a="http://schemas.openxmlformats.org/drawingml/2006/main">
              <a:srgbClr val="4779B8"/>
            </a:solidFill>
          </c:spPr>
          <c:cat>
            <c:strRef>
              <c:f>'Chart Data'!$C$2:$C$5</c:f>
              <c:strCache>
                <c:ptCount val="4"/>
                <c:pt idx="0">
                  <c:v>Waveform TT</c:v>
                </c:pt>
                <c:pt idx="1">
                  <c:v>Waveform Tucker</c:v>
                </c:pt>
                <c:pt idx="2">
                  <c:v>Supervised TT</c:v>
                </c:pt>
                <c:pt idx="3">
                  <c:v>Spectral control</c:v>
                </c:pt>
              </c:strCache>
            </c:strRef>
          </c:cat>
          <c:val>
            <c:numRef>
              <c:f>'Chart Data'!$D$2:$D$5</c:f>
              <c:numCache>
                <c:formatCode>0.0%</c:formatCode>
                <c:ptCount val="4"/>
                <c:pt idx="0">
                  <c:v>0.515152</c:v>
                </c:pt>
                <c:pt idx="1">
                  <c:v>0.522727</c:v>
                </c:pt>
                <c:pt idx="2">
                  <c:v>0.522727</c:v>
                </c:pt>
                <c:pt idx="3">
                  <c:v>0.568182</c:v>
                </c:pt>
              </c:numCache>
            </c:numRef>
          </c:val>
        </c:ser>
        <c:dLbls>
          <c:txPr>
            <a:bodyPr xmlns:a="http://schemas.openxmlformats.org/drawingml/2006/main" anchorCtr="1"/>
            <a:lstStyle xmlns:a="http://schemas.openxmlformats.org/drawingml/2006/main"/>
            <a:p xmlns:a="http://schemas.openxmlformats.org/drawingml/2006/main">
              <a:pPr>
                <a:defRPr sz="1500" b="1">
                  <a:solidFill>
                    <a:srgbClr val="102B45"/>
                  </a:solidFill>
                  <a:latin typeface="Arial"/>
                  <a:ea typeface="Arial"/>
                  <a:cs typeface="Arial"/>
                </a:defRPr>
              </a:pPr>
            </a:p>
          </c:txPr>
          <c:dLblPos val="outEnd"/>
          <c:showLegendKey val="0"/>
          <c:showVal val="1"/>
          <c:showCatName val="0"/>
          <c:showSerName val="0"/>
          <c:showPercent val="0"/>
          <c:showBubbleSize val="0"/>
          <c:showLeaderLines val="0"/>
        </c:dLbls>
        <c:gapWidth val="85"/>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E1E8"/>
            </a:solidFill>
          </a:ln>
        </c:spPr>
        <c:txPr>
          <a:bodyPr xmlns:a="http://schemas.openxmlformats.org/drawingml/2006/main" anchorCtr="1"/>
          <a:lstStyle xmlns:a="http://schemas.openxmlformats.org/drawingml/2006/main"/>
          <a:p xmlns:a="http://schemas.openxmlformats.org/drawingml/2006/main">
            <a:pPr>
              <a:defRPr sz="1575">
                <a:solidFill>
                  <a:srgbClr val="102B45"/>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8E1E8"/>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566779"/>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566779"/>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Balanced accuracy</c:v>
          </c:tx>
          <c:spPr>
            <a:solidFill xmlns:a="http://schemas.openxmlformats.org/drawingml/2006/main">
              <a:srgbClr val="007F83"/>
            </a:solidFill>
          </c:spPr>
          <c:cat>
            <c:strRef>
              <c:f>'Chart Data'!$A$2:$A$5</c:f>
              <c:strCache>
                <c:ptCount val="4"/>
                <c:pt idx="0">
                  <c:v>Spectral power</c:v>
                </c:pt>
                <c:pt idx="1">
                  <c:v>Covariance
geometry</c:v>
                </c:pt>
                <c:pt idx="2">
                  <c:v>Connectivity</c:v>
                </c:pt>
                <c:pt idx="3">
                  <c:v>Combined
features</c:v>
                </c:pt>
              </c:strCache>
            </c:strRef>
          </c:cat>
          <c:val>
            <c:numRef>
              <c:f>'Chart Data'!$B$2:$B$5</c:f>
              <c:numCache>
                <c:formatCode>0.0%</c:formatCode>
                <c:ptCount val="4"/>
                <c:pt idx="0">
                  <c:v>0.565726</c:v>
                </c:pt>
                <c:pt idx="1">
                  <c:v>0.554214</c:v>
                </c:pt>
                <c:pt idx="2">
                  <c:v>0.513924</c:v>
                </c:pt>
                <c:pt idx="3">
                  <c:v>0.543228</c:v>
                </c:pt>
              </c:numCache>
            </c:numRef>
          </c:val>
        </c:ser>
        <c:ser>
          <c:idx val="1"/>
          <c:order val="1"/>
          <c:tx>
            <c:v>FTD recall</c:v>
          </c:tx>
          <c:spPr>
            <a:solidFill xmlns:a="http://schemas.openxmlformats.org/drawingml/2006/main">
              <a:srgbClr val="D98236"/>
            </a:solidFill>
          </c:spPr>
          <c:cat>
            <c:strRef>
              <c:f>'Chart Data'!$C$2:$C$5</c:f>
              <c:strCache>
                <c:ptCount val="4"/>
                <c:pt idx="0">
                  <c:v>Spectral power</c:v>
                </c:pt>
                <c:pt idx="1">
                  <c:v>Covariance
geometry</c:v>
                </c:pt>
                <c:pt idx="2">
                  <c:v>Connectivity</c:v>
                </c:pt>
                <c:pt idx="3">
                  <c:v>Combined
features</c:v>
                </c:pt>
              </c:strCache>
            </c:strRef>
          </c:cat>
          <c:val>
            <c:numRef>
              <c:f>'Chart Data'!$D$2:$D$5</c:f>
              <c:numCache>
                <c:formatCode>0.0%</c:formatCode>
                <c:ptCount val="4"/>
                <c:pt idx="0">
                  <c:v>0.391304</c:v>
                </c:pt>
                <c:pt idx="1">
                  <c:v>0.347826</c:v>
                </c:pt>
                <c:pt idx="2">
                  <c:v>0.289855</c:v>
                </c:pt>
                <c:pt idx="3">
                  <c:v>0.376812</c:v>
                </c:pt>
              </c:numCache>
            </c:numRef>
          </c:val>
        </c:ser>
        <c:dLbls>
          <c:txPr>
            <a:bodyPr xmlns:a="http://schemas.openxmlformats.org/drawingml/2006/main" anchorCtr="1"/>
            <a:lstStyle xmlns:a="http://schemas.openxmlformats.org/drawingml/2006/main"/>
            <a:p xmlns:a="http://schemas.openxmlformats.org/drawingml/2006/main">
              <a:pPr>
                <a:defRPr sz="1500" b="1">
                  <a:solidFill>
                    <a:srgbClr val="102B45"/>
                  </a:solidFill>
                  <a:latin typeface="Arial"/>
                  <a:ea typeface="Arial"/>
                  <a:cs typeface="Arial"/>
                </a:defRPr>
              </a:pPr>
            </a:p>
          </c:txPr>
          <c:dLblPos val="outEnd"/>
          <c:showLegendKey val="0"/>
          <c:showVal val="1"/>
          <c:showCatName val="0"/>
          <c:showSerName val="0"/>
          <c:showPercent val="0"/>
          <c:showBubbleSize val="0"/>
          <c:showLeaderLines val="0"/>
        </c:dLbls>
        <c:gapWidth val="85"/>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E1E8"/>
            </a:solidFill>
          </a:ln>
        </c:spPr>
        <c:txPr>
          <a:bodyPr xmlns:a="http://schemas.openxmlformats.org/drawingml/2006/main" anchorCtr="1"/>
          <a:lstStyle xmlns:a="http://schemas.openxmlformats.org/drawingml/2006/main"/>
          <a:p xmlns:a="http://schemas.openxmlformats.org/drawingml/2006/main">
            <a:pPr>
              <a:defRPr sz="1575">
                <a:solidFill>
                  <a:srgbClr val="102B45"/>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8E1E8"/>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566779"/>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566779"/>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Training</c:v>
          </c:tx>
          <c:spPr>
            <a:solidFill xmlns:a="http://schemas.openxmlformats.org/drawingml/2006/main">
              <a:srgbClr val="A9B8C5"/>
            </a:solidFill>
          </c:spPr>
          <c:cat>
            <c:strRef>
              <c:f>'Chart Data'!$A$2:$A$4</c:f>
              <c:strCache>
                <c:ptCount val="3"/>
                <c:pt idx="0">
                  <c:v>Selected pipeline</c:v>
                </c:pt>
                <c:pt idx="1">
                  <c:v>Tucker / HOSVD</c:v>
                </c:pt>
                <c:pt idx="2">
                  <c:v>Window TT</c:v>
                </c:pt>
              </c:strCache>
            </c:strRef>
          </c:cat>
          <c:val>
            <c:numRef>
              <c:f>'Chart Data'!$B$2:$B$4</c:f>
              <c:numCache>
                <c:formatCode>0.0%</c:formatCode>
                <c:ptCount val="3"/>
                <c:pt idx="0">
                  <c:v>0.951</c:v>
                </c:pt>
                <c:pt idx="1">
                  <c:v>0.966</c:v>
                </c:pt>
                <c:pt idx="2">
                  <c:v>0.965</c:v>
                </c:pt>
              </c:numCache>
            </c:numRef>
          </c:val>
        </c:ser>
        <c:ser>
          <c:idx val="1"/>
          <c:order val="1"/>
          <c:tx>
            <c:v>Inner validation</c:v>
          </c:tx>
          <c:spPr>
            <a:solidFill xmlns:a="http://schemas.openxmlformats.org/drawingml/2006/main">
              <a:srgbClr val="4779B8"/>
            </a:solidFill>
          </c:spPr>
          <c:cat>
            <c:strRef>
              <c:f>'Chart Data'!$C$2:$C$4</c:f>
              <c:strCache>
                <c:ptCount val="3"/>
                <c:pt idx="0">
                  <c:v>Selected pipeline</c:v>
                </c:pt>
                <c:pt idx="1">
                  <c:v>Tucker / HOSVD</c:v>
                </c:pt>
                <c:pt idx="2">
                  <c:v>Window TT</c:v>
                </c:pt>
              </c:strCache>
            </c:strRef>
          </c:cat>
          <c:val>
            <c:numRef>
              <c:f>'Chart Data'!$D$2:$D$4</c:f>
              <c:numCache>
                <c:formatCode>0.0%</c:formatCode>
                <c:ptCount val="3"/>
                <c:pt idx="0">
                  <c:v>0.65</c:v>
                </c:pt>
                <c:pt idx="1">
                  <c:v>0.571</c:v>
                </c:pt>
                <c:pt idx="2">
                  <c:v>0.62</c:v>
                </c:pt>
              </c:numCache>
            </c:numRef>
          </c:val>
        </c:ser>
        <c:ser>
          <c:idx val="2"/>
          <c:order val="2"/>
          <c:tx>
            <c:v>Held-out people</c:v>
          </c:tx>
          <c:spPr>
            <a:solidFill xmlns:a="http://schemas.openxmlformats.org/drawingml/2006/main">
              <a:srgbClr val="007F83"/>
            </a:solidFill>
          </c:spPr>
          <c:cat>
            <c:strRef>
              <c:f>'Chart Data'!$E$2:$E$4</c:f>
              <c:strCache>
                <c:ptCount val="3"/>
                <c:pt idx="0">
                  <c:v>Selected pipeline</c:v>
                </c:pt>
                <c:pt idx="1">
                  <c:v>Tucker / HOSVD</c:v>
                </c:pt>
                <c:pt idx="2">
                  <c:v>Window TT</c:v>
                </c:pt>
              </c:strCache>
            </c:strRef>
          </c:cat>
          <c:val>
            <c:numRef>
              <c:f>'Chart Data'!$F$2:$F$4</c:f>
              <c:numCache>
                <c:formatCode>0.0%</c:formatCode>
                <c:ptCount val="3"/>
                <c:pt idx="0">
                  <c:v>0.473</c:v>
                </c:pt>
                <c:pt idx="1">
                  <c:v>0.56</c:v>
                </c:pt>
                <c:pt idx="2">
                  <c:v>0.512</c:v>
                </c:pt>
              </c:numCache>
            </c:numRef>
          </c:val>
        </c:ser>
        <c:dLbls>
          <c:txPr>
            <a:bodyPr xmlns:a="http://schemas.openxmlformats.org/drawingml/2006/main" anchorCtr="1"/>
            <a:lstStyle xmlns:a="http://schemas.openxmlformats.org/drawingml/2006/main"/>
            <a:p xmlns:a="http://schemas.openxmlformats.org/drawingml/2006/main">
              <a:pPr>
                <a:defRPr sz="1350" b="1">
                  <a:solidFill>
                    <a:srgbClr val="102B45"/>
                  </a:solidFill>
                  <a:latin typeface="Arial"/>
                  <a:ea typeface="Arial"/>
                  <a:cs typeface="Arial"/>
                </a:defRPr>
              </a:pPr>
            </a:p>
          </c:txPr>
          <c:dLblPos val="outEnd"/>
          <c:showLegendKey val="0"/>
          <c:showVal val="1"/>
          <c:showCatName val="0"/>
          <c:showSerName val="0"/>
          <c:showPercent val="0"/>
          <c:showBubbleSize val="0"/>
          <c:showLeaderLines val="0"/>
        </c:dLbls>
        <c:gapWidth val="85"/>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E1E8"/>
            </a:solidFill>
          </a:ln>
        </c:spPr>
        <c:txPr>
          <a:bodyPr xmlns:a="http://schemas.openxmlformats.org/drawingml/2006/main" anchorCtr="1"/>
          <a:lstStyle xmlns:a="http://schemas.openxmlformats.org/drawingml/2006/main"/>
          <a:p xmlns:a="http://schemas.openxmlformats.org/drawingml/2006/main">
            <a:pPr>
              <a:defRPr sz="1575">
                <a:solidFill>
                  <a:srgbClr val="102B45"/>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8E1E8"/>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566779"/>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566779"/>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B4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8A80F09-C4D6-4C7D-8CE5-76CDF8F3B415}"/>
              </a:ext>
            </a:extLst>
          </p:cNvPr>
          <p:cNvSpPr>
            <a:spLocks xmlns:a="http://schemas.openxmlformats.org/drawingml/2006/main" noGrp="1"/>
          </p:cNvSpPr>
          <p:nvPr/>
        </p:nvSpPr>
        <p:spPr>
          <a:xfrm xmlns:a="http://schemas.openxmlformats.org/drawingml/2006/main">
            <a:off x="609600" y="4000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Problem statement</a:t>
            </a:r>
          </a:p>
        </p:txBody>
      </p:sp>
      <p:sp>
        <p:nvSpPr>
          <p:cNvPr id="2" name="">
            <a:extLst xmlns:a="http://schemas.openxmlformats.org/drawingml/2006/main">
              <a:ext uri="{FF2B5EF4-FFF2-40B4-BE49-F238E27FC236}">
                <a16:creationId xmlns:a16="http://schemas.microsoft.com/office/drawing/2014/main" id="{AF57B7A7-822D-46F0-A1EC-86BCBD8AE803}"/>
              </a:ext>
            </a:extLst>
          </p:cNvPr>
          <p:cNvSpPr>
            <a:spLocks xmlns:a="http://schemas.openxmlformats.org/drawingml/2006/main" noGrp="1"/>
          </p:cNvSpPr>
          <p:nvPr/>
        </p:nvSpPr>
        <p:spPr>
          <a:xfrm xmlns:a="http://schemas.openxmlformats.org/drawingml/2006/main">
            <a:off x="609600" y="12096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CEE2E8"/>
                </a:solidFill>
                <a:latin typeface="Arial"/>
                <a:ea typeface="Arial"/>
                <a:cs typeface="Arial"/>
              </a:defRPr>
            </a:pPr>
            <a:r>
              <a:rPr sz="1725" b="0">
                <a:solidFill>
                  <a:srgbClr val="CEE2E8"/>
                </a:solidFill>
                <a:latin typeface="Arial"/>
                <a:ea typeface="Arial"/>
                <a:cs typeface="Arial"/>
              </a:rPr>
              <a:t>EEG classification of Alzheimer’s disease and frontotemporal dementia</a:t>
            </a:r>
          </a:p>
        </p:txBody>
      </p:sp>
      <p:sp>
        <p:nvSpPr>
          <p:cNvPr id="3" name="">
            <a:extLst xmlns:a="http://schemas.openxmlformats.org/drawingml/2006/main">
              <a:ext uri="{FF2B5EF4-FFF2-40B4-BE49-F238E27FC236}">
                <a16:creationId xmlns:a16="http://schemas.microsoft.com/office/drawing/2014/main" id="{98C06F31-2F93-44EF-8858-0B88DAEA681D}"/>
              </a:ext>
            </a:extLst>
          </p:cNvPr>
          <p:cNvSpPr>
            <a:spLocks xmlns:a="http://schemas.openxmlformats.org/drawingml/2006/main" noGrp="1"/>
          </p:cNvSpPr>
          <p:nvPr/>
        </p:nvSpPr>
        <p:spPr>
          <a:xfrm xmlns:a="http://schemas.openxmlformats.org/drawingml/2006/main">
            <a:off x="1114425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CEE2E8"/>
                </a:solidFill>
                <a:latin typeface="Arial"/>
                <a:ea typeface="Arial"/>
                <a:cs typeface="Arial"/>
              </a:defRPr>
            </a:pPr>
            <a:r>
              <a:rPr sz="1125" b="0">
                <a:solidFill>
                  <a:srgbClr val="CEE2E8"/>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35E8A3C1-0422-4289-8268-97A4C5B8CDEF}"/>
              </a:ext>
            </a:extLst>
          </p:cNvPr>
          <p:cNvSpPr>
            <a:spLocks xmlns:a="http://schemas.openxmlformats.org/drawingml/2006/main" noGrp="1"/>
          </p:cNvSpPr>
          <p:nvPr/>
        </p:nvSpPr>
        <p:spPr>
          <a:xfrm xmlns:a="http://schemas.openxmlformats.org/drawingml/2006/main">
            <a:off x="609600" y="2238375"/>
            <a:ext cx="105727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75" b="1">
                <a:solidFill>
                  <a:srgbClr val="FFFFFF"/>
                </a:solidFill>
                <a:latin typeface="Arial"/>
                <a:ea typeface="Arial"/>
                <a:cs typeface="Arial"/>
              </a:defRPr>
            </a:pPr>
            <a:r>
              <a:rPr sz="3975" b="1">
                <a:solidFill>
                  <a:srgbClr val="FFFFFF"/>
                </a:solidFill>
                <a:latin typeface="Arial"/>
                <a:ea typeface="Arial"/>
                <a:cs typeface="Arial"/>
              </a:rPr>
              <a:t>Can a resting EEG help identify</a:t>
            </a:r>
          </a:p>
          <a:p xmlns:a="http://schemas.openxmlformats.org/drawingml/2006/main">
            <a:pPr>
              <a:defRPr sz="3975" b="1">
                <a:solidFill>
                  <a:srgbClr val="FFFFFF"/>
                </a:solidFill>
                <a:latin typeface="Arial"/>
                <a:ea typeface="Arial"/>
                <a:cs typeface="Arial"/>
              </a:defRPr>
            </a:pPr>
            <a:r>
              <a:rPr sz="3975" b="1">
                <a:solidFill>
                  <a:srgbClr val="FFFFFF"/>
                </a:solidFill>
                <a:latin typeface="Arial"/>
                <a:ea typeface="Arial"/>
                <a:cs typeface="Arial"/>
              </a:rPr>
              <a:t>the diagnosis of a new person?</a:t>
            </a:r>
          </a:p>
        </p:txBody>
      </p:sp>
      <p:sp>
        <p:nvSpPr>
          <p:cNvPr id="5" name="">
            <a:extLst xmlns:a="http://schemas.openxmlformats.org/drawingml/2006/main">
              <a:ext uri="{FF2B5EF4-FFF2-40B4-BE49-F238E27FC236}">
                <a16:creationId xmlns:a16="http://schemas.microsoft.com/office/drawing/2014/main" id="{FD097542-AE23-43AC-92AE-CCF9D1063EE7}"/>
              </a:ext>
            </a:extLst>
          </p:cNvPr>
          <p:cNvSpPr>
            <a:spLocks xmlns:a="http://schemas.openxmlformats.org/drawingml/2006/main" noGrp="1"/>
          </p:cNvSpPr>
          <p:nvPr/>
        </p:nvSpPr>
        <p:spPr>
          <a:xfrm xmlns:a="http://schemas.openxmlformats.org/drawingml/2006/main">
            <a:off x="609600" y="4019550"/>
            <a:ext cx="10572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D7E8EE"/>
                </a:solidFill>
                <a:latin typeface="Arial"/>
                <a:ea typeface="Arial"/>
                <a:cs typeface="Arial"/>
              </a:defRPr>
            </a:pPr>
            <a:r>
              <a:rPr sz="2175" b="0">
                <a:solidFill>
                  <a:srgbClr val="D7E8EE"/>
                </a:solidFill>
                <a:latin typeface="Arial"/>
                <a:ea typeface="Arial"/>
                <a:cs typeface="Arial"/>
              </a:rPr>
              <a:t>We compare Alzheimer’s disease, frontotemporal dementia,</a:t>
            </a:r>
          </a:p>
          <a:p xmlns:a="http://schemas.openxmlformats.org/drawingml/2006/main">
            <a:pPr>
              <a:defRPr sz="2175" b="0">
                <a:solidFill>
                  <a:srgbClr val="D7E8EE"/>
                </a:solidFill>
                <a:latin typeface="Arial"/>
                <a:ea typeface="Arial"/>
                <a:cs typeface="Arial"/>
              </a:defRPr>
            </a:pPr>
            <a:r>
              <a:rPr sz="2175" b="0">
                <a:solidFill>
                  <a:srgbClr val="D7E8EE"/>
                </a:solidFill>
                <a:latin typeface="Arial"/>
                <a:ea typeface="Arial"/>
                <a:cs typeface="Arial"/>
              </a:rPr>
              <a:t>and cognitively normal controls.</a:t>
            </a:r>
          </a:p>
        </p:txBody>
      </p:sp>
      <p:sp>
        <p:nvSpPr>
          <p:cNvPr id="6" name="">
            <a:extLst xmlns:a="http://schemas.openxmlformats.org/drawingml/2006/main">
              <a:ext uri="{FF2B5EF4-FFF2-40B4-BE49-F238E27FC236}">
                <a16:creationId xmlns:a16="http://schemas.microsoft.com/office/drawing/2014/main" id="{24C078DB-0039-49AE-B87C-77D436BCE13D}"/>
              </a:ext>
            </a:extLst>
          </p:cNvPr>
          <p:cNvSpPr>
            <a:spLocks xmlns:a="http://schemas.openxmlformats.org/drawingml/2006/main" noGrp="1"/>
          </p:cNvSpPr>
          <p:nvPr/>
        </p:nvSpPr>
        <p:spPr>
          <a:xfrm xmlns:a="http://schemas.openxmlformats.org/drawingml/2006/main">
            <a:off x="609600" y="5600700"/>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D7E8EE"/>
                </a:solidFill>
                <a:latin typeface="Arial"/>
                <a:ea typeface="Arial"/>
                <a:cs typeface="Arial"/>
              </a:defRPr>
            </a:pPr>
            <a:r>
              <a:rPr sz="1650" b="0">
                <a:solidFill>
                  <a:srgbClr val="D7E8EE"/>
                </a:solidFill>
                <a:latin typeface="Arial"/>
                <a:ea typeface="Arial"/>
                <a:cs typeface="Arial"/>
              </a:rPr>
              <a:t>Project progress presentation</a:t>
            </a:r>
          </a:p>
          <a:p xmlns:a="http://schemas.openxmlformats.org/drawingml/2006/main">
            <a:pPr>
              <a:defRPr sz="1650" b="0">
                <a:solidFill>
                  <a:srgbClr val="D7E8EE"/>
                </a:solidFill>
                <a:latin typeface="Arial"/>
                <a:ea typeface="Arial"/>
                <a:cs typeface="Arial"/>
              </a:defRPr>
            </a:pPr>
            <a:r>
              <a:rPr sz="1650" b="0">
                <a:solidFill>
                  <a:srgbClr val="D7E8EE"/>
                </a:solidFill>
                <a:latin typeface="Arial"/>
                <a:ea typeface="Arial"/>
                <a:cs typeface="Arial"/>
              </a:rPr>
              <a:t>27 September 2026</a:t>
            </a:r>
          </a:p>
        </p:txBody>
      </p:sp>
    </p:spTree>
    <p:extLst>
      <p:ext uri="{BB962C8B-B14F-4D97-AF65-F5344CB8AC3E}">
        <p14:creationId xmlns:p14="http://schemas.microsoft.com/office/powerpoint/2010/main" val="203961659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0D03964-E22E-4D27-9027-03D22625B08B}"/>
              </a:ext>
            </a:extLst>
          </p:cNvPr>
          <p:cNvSpPr>
            <a:spLocks xmlns:a="http://schemas.openxmlformats.org/drawingml/2006/main" noGrp="1"/>
          </p:cNvSpPr>
          <p:nvPr/>
        </p:nvSpPr>
        <p:spPr>
          <a:xfrm xmlns:a="http://schemas.openxmlformats.org/drawingml/2006/main">
            <a:off x="609600" y="4000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B45"/>
                </a:solidFill>
                <a:latin typeface="Arial"/>
                <a:ea typeface="Arial"/>
                <a:cs typeface="Arial"/>
              </a:defRPr>
            </a:pPr>
            <a:r>
              <a:rPr sz="3225" b="1">
                <a:solidFill>
                  <a:srgbClr val="102B45"/>
                </a:solidFill>
                <a:latin typeface="Arial"/>
                <a:ea typeface="Arial"/>
                <a:cs typeface="Arial"/>
              </a:rPr>
              <a:t>The core challenge</a:t>
            </a:r>
          </a:p>
        </p:txBody>
      </p:sp>
      <p:sp>
        <p:nvSpPr>
          <p:cNvPr id="2" name="">
            <a:extLst xmlns:a="http://schemas.openxmlformats.org/drawingml/2006/main">
              <a:ext uri="{FF2B5EF4-FFF2-40B4-BE49-F238E27FC236}">
                <a16:creationId xmlns:a16="http://schemas.microsoft.com/office/drawing/2014/main" id="{1307BA03-76A6-4D10-81A7-7FC74CD9BE1F}"/>
              </a:ext>
            </a:extLst>
          </p:cNvPr>
          <p:cNvSpPr>
            <a:spLocks xmlns:a="http://schemas.openxmlformats.org/drawingml/2006/main" noGrp="1"/>
          </p:cNvSpPr>
          <p:nvPr/>
        </p:nvSpPr>
        <p:spPr>
          <a:xfrm xmlns:a="http://schemas.openxmlformats.org/drawingml/2006/main">
            <a:off x="609600" y="12096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66779"/>
                </a:solidFill>
                <a:latin typeface="Arial"/>
                <a:ea typeface="Arial"/>
                <a:cs typeface="Arial"/>
              </a:defRPr>
            </a:pPr>
            <a:r>
              <a:rPr sz="1725" b="0">
                <a:solidFill>
                  <a:srgbClr val="566779"/>
                </a:solidFill>
                <a:latin typeface="Arial"/>
                <a:ea typeface="Arial"/>
                <a:cs typeface="Arial"/>
              </a:rPr>
              <a:t>EEG patterns vary across both diagnoses and individuals</a:t>
            </a:r>
          </a:p>
        </p:txBody>
      </p:sp>
      <p:sp>
        <p:nvSpPr>
          <p:cNvPr id="3" name="">
            <a:extLst xmlns:a="http://schemas.openxmlformats.org/drawingml/2006/main">
              <a:ext uri="{FF2B5EF4-FFF2-40B4-BE49-F238E27FC236}">
                <a16:creationId xmlns:a16="http://schemas.microsoft.com/office/drawing/2014/main" id="{24B727A0-4829-418E-B873-C0DE091E00DE}"/>
              </a:ext>
            </a:extLst>
          </p:cNvPr>
          <p:cNvSpPr>
            <a:spLocks xmlns:a="http://schemas.openxmlformats.org/drawingml/2006/main" noGrp="1"/>
          </p:cNvSpPr>
          <p:nvPr/>
        </p:nvSpPr>
        <p:spPr>
          <a:xfrm xmlns:a="http://schemas.openxmlformats.org/drawingml/2006/main">
            <a:off x="1114425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66779"/>
                </a:solidFill>
                <a:latin typeface="Arial"/>
                <a:ea typeface="Arial"/>
                <a:cs typeface="Arial"/>
              </a:defRPr>
            </a:pPr>
            <a:r>
              <a:rPr sz="1125" b="0">
                <a:solidFill>
                  <a:srgbClr val="566779"/>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2B7D0B41-BD3D-42AF-9797-1D78042F8EB9}"/>
              </a:ext>
            </a:extLst>
          </p:cNvPr>
          <p:cNvSpPr>
            <a:spLocks xmlns:a="http://schemas.openxmlformats.org/drawingml/2006/main" noGrp="1"/>
          </p:cNvSpPr>
          <p:nvPr/>
        </p:nvSpPr>
        <p:spPr>
          <a:xfrm xmlns:a="http://schemas.openxmlformats.org/drawingml/2006/main">
            <a:off x="609600" y="1895475"/>
            <a:ext cx="1066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2B45"/>
                </a:solidFill>
                <a:latin typeface="Arial"/>
                <a:ea typeface="Arial"/>
                <a:cs typeface="Arial"/>
              </a:defRPr>
            </a:pPr>
            <a:r>
              <a:rPr sz="2175" b="1">
                <a:solidFill>
                  <a:srgbClr val="102B45"/>
                </a:solidFill>
                <a:latin typeface="Arial"/>
                <a:ea typeface="Arial"/>
                <a:cs typeface="Arial"/>
              </a:rPr>
              <a:t>Overlapping brain activity</a:t>
            </a:r>
          </a:p>
        </p:txBody>
      </p:sp>
      <p:sp>
        <p:nvSpPr>
          <p:cNvPr id="5" name="">
            <a:extLst xmlns:a="http://schemas.openxmlformats.org/drawingml/2006/main">
              <a:ext uri="{FF2B5EF4-FFF2-40B4-BE49-F238E27FC236}">
                <a16:creationId xmlns:a16="http://schemas.microsoft.com/office/drawing/2014/main" id="{D4B882AC-15E7-4876-8BE0-385316AFA641}"/>
              </a:ext>
            </a:extLst>
          </p:cNvPr>
          <p:cNvSpPr>
            <a:spLocks xmlns:a="http://schemas.openxmlformats.org/drawingml/2006/main" noGrp="1"/>
          </p:cNvSpPr>
          <p:nvPr/>
        </p:nvSpPr>
        <p:spPr>
          <a:xfrm xmlns:a="http://schemas.openxmlformats.org/drawingml/2006/main">
            <a:off x="609600" y="2305050"/>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66779"/>
                </a:solidFill>
                <a:latin typeface="Arial"/>
                <a:ea typeface="Arial"/>
                <a:cs typeface="Arial"/>
              </a:defRPr>
            </a:pPr>
            <a:r>
              <a:rPr sz="1875" b="0">
                <a:solidFill>
                  <a:srgbClr val="566779"/>
                </a:solidFill>
                <a:latin typeface="Arial"/>
                <a:ea typeface="Arial"/>
                <a:cs typeface="Arial"/>
              </a:rPr>
              <a:t>Different diagnoses can produce similar changes in brain rhythms.</a:t>
            </a:r>
          </a:p>
        </p:txBody>
      </p:sp>
      <p:sp>
        <p:nvSpPr>
          <p:cNvPr id="6" name="">
            <a:extLst xmlns:a="http://schemas.openxmlformats.org/drawingml/2006/main">
              <a:ext uri="{FF2B5EF4-FFF2-40B4-BE49-F238E27FC236}">
                <a16:creationId xmlns:a16="http://schemas.microsoft.com/office/drawing/2014/main" id="{3CC909DE-B6BC-430E-B510-65A10F433E93}"/>
              </a:ext>
            </a:extLst>
          </p:cNvPr>
          <p:cNvSpPr>
            <a:spLocks xmlns:a="http://schemas.openxmlformats.org/drawingml/2006/main" noGrp="1"/>
          </p:cNvSpPr>
          <p:nvPr/>
        </p:nvSpPr>
        <p:spPr>
          <a:xfrm xmlns:a="http://schemas.openxmlformats.org/drawingml/2006/main">
            <a:off x="609600" y="2895600"/>
            <a:ext cx="1066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2B45"/>
                </a:solidFill>
                <a:latin typeface="Arial"/>
                <a:ea typeface="Arial"/>
                <a:cs typeface="Arial"/>
              </a:defRPr>
            </a:pPr>
            <a:r>
              <a:rPr sz="2175" b="1">
                <a:solidFill>
                  <a:srgbClr val="102B45"/>
                </a:solidFill>
                <a:latin typeface="Arial"/>
                <a:ea typeface="Arial"/>
                <a:cs typeface="Arial"/>
              </a:rPr>
              <a:t>Few independent patients</a:t>
            </a:r>
          </a:p>
        </p:txBody>
      </p:sp>
      <p:sp>
        <p:nvSpPr>
          <p:cNvPr id="7" name="">
            <a:extLst xmlns:a="http://schemas.openxmlformats.org/drawingml/2006/main">
              <a:ext uri="{FF2B5EF4-FFF2-40B4-BE49-F238E27FC236}">
                <a16:creationId xmlns:a16="http://schemas.microsoft.com/office/drawing/2014/main" id="{EAB9AA95-5DAF-4551-AFE3-E7B474D91E05}"/>
              </a:ext>
            </a:extLst>
          </p:cNvPr>
          <p:cNvSpPr>
            <a:spLocks xmlns:a="http://schemas.openxmlformats.org/drawingml/2006/main" noGrp="1"/>
          </p:cNvSpPr>
          <p:nvPr/>
        </p:nvSpPr>
        <p:spPr>
          <a:xfrm xmlns:a="http://schemas.openxmlformats.org/drawingml/2006/main">
            <a:off x="609600" y="3305175"/>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66779"/>
                </a:solidFill>
                <a:latin typeface="Arial"/>
                <a:ea typeface="Arial"/>
                <a:cs typeface="Arial"/>
              </a:defRPr>
            </a:pPr>
            <a:r>
              <a:rPr sz="1875" b="0">
                <a:solidFill>
                  <a:srgbClr val="566779"/>
                </a:solidFill>
                <a:latin typeface="Arial"/>
                <a:ea typeface="Arial"/>
                <a:cs typeface="Arial"/>
              </a:rPr>
              <a:t>Thousands of EEG windows come from only 88 people, including 23 with FTD.</a:t>
            </a:r>
          </a:p>
        </p:txBody>
      </p:sp>
      <p:sp>
        <p:nvSpPr>
          <p:cNvPr id="8" name="">
            <a:extLst xmlns:a="http://schemas.openxmlformats.org/drawingml/2006/main">
              <a:ext uri="{FF2B5EF4-FFF2-40B4-BE49-F238E27FC236}">
                <a16:creationId xmlns:a16="http://schemas.microsoft.com/office/drawing/2014/main" id="{076E62D1-A2B0-4674-BDFB-7758D818C0D4}"/>
              </a:ext>
            </a:extLst>
          </p:cNvPr>
          <p:cNvSpPr>
            <a:spLocks xmlns:a="http://schemas.openxmlformats.org/drawingml/2006/main" noGrp="1"/>
          </p:cNvSpPr>
          <p:nvPr/>
        </p:nvSpPr>
        <p:spPr>
          <a:xfrm xmlns:a="http://schemas.openxmlformats.org/drawingml/2006/main">
            <a:off x="609600" y="3895725"/>
            <a:ext cx="1066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2B45"/>
                </a:solidFill>
                <a:latin typeface="Arial"/>
                <a:ea typeface="Arial"/>
                <a:cs typeface="Arial"/>
              </a:defRPr>
            </a:pPr>
            <a:r>
              <a:rPr sz="2175" b="1">
                <a:solidFill>
                  <a:srgbClr val="102B45"/>
                </a:solidFill>
                <a:latin typeface="Arial"/>
                <a:ea typeface="Arial"/>
                <a:cs typeface="Arial"/>
              </a:rPr>
              <a:t>Signal quality and individual variation</a:t>
            </a:r>
          </a:p>
        </p:txBody>
      </p:sp>
      <p:sp>
        <p:nvSpPr>
          <p:cNvPr id="9" name="">
            <a:extLst xmlns:a="http://schemas.openxmlformats.org/drawingml/2006/main">
              <a:ext uri="{FF2B5EF4-FFF2-40B4-BE49-F238E27FC236}">
                <a16:creationId xmlns:a16="http://schemas.microsoft.com/office/drawing/2014/main" id="{DE5041F1-6F86-4C35-BDBC-745F36A59E26}"/>
              </a:ext>
            </a:extLst>
          </p:cNvPr>
          <p:cNvSpPr>
            <a:spLocks xmlns:a="http://schemas.openxmlformats.org/drawingml/2006/main" noGrp="1"/>
          </p:cNvSpPr>
          <p:nvPr/>
        </p:nvSpPr>
        <p:spPr>
          <a:xfrm xmlns:a="http://schemas.openxmlformats.org/drawingml/2006/main">
            <a:off x="609600" y="4305300"/>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66779"/>
                </a:solidFill>
                <a:latin typeface="Arial"/>
                <a:ea typeface="Arial"/>
                <a:cs typeface="Arial"/>
              </a:defRPr>
            </a:pPr>
            <a:r>
              <a:rPr sz="1875" b="0">
                <a:solidFill>
                  <a:srgbClr val="566779"/>
                </a:solidFill>
                <a:latin typeface="Arial"/>
                <a:ea typeface="Arial"/>
                <a:cs typeface="Arial"/>
              </a:rPr>
              <a:t>Movement, muscle activity and recording conditions can obscure useful patterns.</a:t>
            </a:r>
          </a:p>
        </p:txBody>
      </p:sp>
      <p:sp>
        <p:nvSpPr>
          <p:cNvPr id="10" name="">
            <a:extLst xmlns:a="http://schemas.openxmlformats.org/drawingml/2006/main">
              <a:ext uri="{FF2B5EF4-FFF2-40B4-BE49-F238E27FC236}">
                <a16:creationId xmlns:a16="http://schemas.microsoft.com/office/drawing/2014/main" id="{958908E2-3561-469F-94E9-16D048127B35}"/>
              </a:ext>
            </a:extLst>
          </p:cNvPr>
          <p:cNvSpPr>
            <a:spLocks xmlns:a="http://schemas.openxmlformats.org/drawingml/2006/main" noGrp="1"/>
          </p:cNvSpPr>
          <p:nvPr/>
        </p:nvSpPr>
        <p:spPr>
          <a:xfrm xmlns:a="http://schemas.openxmlformats.org/drawingml/2006/main">
            <a:off x="609600" y="4895850"/>
            <a:ext cx="1066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2B45"/>
                </a:solidFill>
                <a:latin typeface="Arial"/>
                <a:ea typeface="Arial"/>
                <a:cs typeface="Arial"/>
              </a:defRPr>
            </a:pPr>
            <a:r>
              <a:rPr sz="2175" b="1">
                <a:solidFill>
                  <a:srgbClr val="102B45"/>
                </a:solidFill>
                <a:latin typeface="Arial"/>
                <a:ea typeface="Arial"/>
                <a:cs typeface="Arial"/>
              </a:rPr>
              <a:t>Generalization to a new person</a:t>
            </a:r>
          </a:p>
        </p:txBody>
      </p:sp>
      <p:sp>
        <p:nvSpPr>
          <p:cNvPr id="11" name="">
            <a:extLst xmlns:a="http://schemas.openxmlformats.org/drawingml/2006/main">
              <a:ext uri="{FF2B5EF4-FFF2-40B4-BE49-F238E27FC236}">
                <a16:creationId xmlns:a16="http://schemas.microsoft.com/office/drawing/2014/main" id="{445377D7-D223-4267-B139-8EDA5A0CEDF0}"/>
              </a:ext>
            </a:extLst>
          </p:cNvPr>
          <p:cNvSpPr>
            <a:spLocks xmlns:a="http://schemas.openxmlformats.org/drawingml/2006/main" noGrp="1"/>
          </p:cNvSpPr>
          <p:nvPr/>
        </p:nvSpPr>
        <p:spPr>
          <a:xfrm xmlns:a="http://schemas.openxmlformats.org/drawingml/2006/main">
            <a:off x="609600" y="5305425"/>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66779"/>
                </a:solidFill>
                <a:latin typeface="Arial"/>
                <a:ea typeface="Arial"/>
                <a:cs typeface="Arial"/>
              </a:defRPr>
            </a:pPr>
            <a:r>
              <a:rPr sz="1875" b="0">
                <a:solidFill>
                  <a:srgbClr val="566779"/>
                </a:solidFill>
                <a:latin typeface="Arial"/>
                <a:ea typeface="Arial"/>
                <a:cs typeface="Arial"/>
              </a:rPr>
              <a:t>A model must recognize disease patterns across people.</a:t>
            </a:r>
          </a:p>
        </p:txBody>
      </p:sp>
    </p:spTree>
    <p:extLst>
      <p:ext uri="{BB962C8B-B14F-4D97-AF65-F5344CB8AC3E}">
        <p14:creationId xmlns:p14="http://schemas.microsoft.com/office/powerpoint/2010/main" val="165809245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FFA1BC0-323B-484E-BC65-A7BEC0EF0227}"/>
              </a:ext>
            </a:extLst>
          </p:cNvPr>
          <p:cNvSpPr>
            <a:spLocks xmlns:a="http://schemas.openxmlformats.org/drawingml/2006/main" noGrp="1"/>
          </p:cNvSpPr>
          <p:nvPr/>
        </p:nvSpPr>
        <p:spPr>
          <a:xfrm xmlns:a="http://schemas.openxmlformats.org/drawingml/2006/main">
            <a:off x="609600" y="4000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B45"/>
                </a:solidFill>
                <a:latin typeface="Arial"/>
                <a:ea typeface="Arial"/>
                <a:cs typeface="Arial"/>
              </a:defRPr>
            </a:pPr>
            <a:r>
              <a:rPr sz="3225" b="1">
                <a:solidFill>
                  <a:srgbClr val="102B45"/>
                </a:solidFill>
                <a:latin typeface="Arial"/>
                <a:ea typeface="Arial"/>
                <a:cs typeface="Arial"/>
              </a:rPr>
              <a:t>Dataset: OpenNeuro ds004504</a:t>
            </a:r>
          </a:p>
        </p:txBody>
      </p:sp>
      <p:sp>
        <p:nvSpPr>
          <p:cNvPr id="2" name="">
            <a:extLst xmlns:a="http://schemas.openxmlformats.org/drawingml/2006/main">
              <a:ext uri="{FF2B5EF4-FFF2-40B4-BE49-F238E27FC236}">
                <a16:creationId xmlns:a16="http://schemas.microsoft.com/office/drawing/2014/main" id="{AB35C8D7-A8B5-4E24-B8B7-C1A205174EBA}"/>
              </a:ext>
            </a:extLst>
          </p:cNvPr>
          <p:cNvSpPr>
            <a:spLocks xmlns:a="http://schemas.openxmlformats.org/drawingml/2006/main" noGrp="1"/>
          </p:cNvSpPr>
          <p:nvPr/>
        </p:nvSpPr>
        <p:spPr>
          <a:xfrm xmlns:a="http://schemas.openxmlformats.org/drawingml/2006/main">
            <a:off x="609600" y="12096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66779"/>
                </a:solidFill>
                <a:latin typeface="Arial"/>
                <a:ea typeface="Arial"/>
                <a:cs typeface="Arial"/>
              </a:defRPr>
            </a:pPr>
            <a:r>
              <a:rPr sz="1725" b="0">
                <a:solidFill>
                  <a:srgbClr val="566779"/>
                </a:solidFill>
                <a:latin typeface="Arial"/>
                <a:ea typeface="Arial"/>
                <a:cs typeface="Arial"/>
              </a:rPr>
              <a:t>Eyes-closed resting EEG from a clinical recording setting</a:t>
            </a:r>
          </a:p>
        </p:txBody>
      </p:sp>
      <p:sp>
        <p:nvSpPr>
          <p:cNvPr id="3" name="">
            <a:extLst xmlns:a="http://schemas.openxmlformats.org/drawingml/2006/main">
              <a:ext uri="{FF2B5EF4-FFF2-40B4-BE49-F238E27FC236}">
                <a16:creationId xmlns:a16="http://schemas.microsoft.com/office/drawing/2014/main" id="{8CD0F5D9-099D-4824-B085-98BEEB4D084E}"/>
              </a:ext>
            </a:extLst>
          </p:cNvPr>
          <p:cNvSpPr>
            <a:spLocks xmlns:a="http://schemas.openxmlformats.org/drawingml/2006/main" noGrp="1"/>
          </p:cNvSpPr>
          <p:nvPr/>
        </p:nvSpPr>
        <p:spPr>
          <a:xfrm xmlns:a="http://schemas.openxmlformats.org/drawingml/2006/main">
            <a:off x="1114425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66779"/>
                </a:solidFill>
                <a:latin typeface="Arial"/>
                <a:ea typeface="Arial"/>
                <a:cs typeface="Arial"/>
              </a:defRPr>
            </a:pPr>
            <a:r>
              <a:rPr sz="1125" b="0">
                <a:solidFill>
                  <a:srgbClr val="566779"/>
                </a:solidFill>
                <a:latin typeface="Arial"/>
                <a:ea typeface="Arial"/>
                <a:cs typeface="Arial"/>
              </a:rPr>
              <a:t>03</a:t>
            </a:r>
          </a:p>
        </p:txBody>
      </p:sp>
      <p:graphicFrame>
        <p:nvGraphicFramePr>
          <p:cNvPr id="12" name="Chart"/>
          <p:cNvGraphicFramePr/>
          <p:nvPr/>
        </p:nvGraphicFramePr>
        <p:xfrm>
          <a:off xmlns:a="http://schemas.openxmlformats.org/drawingml/2006/main" x="609600" y="1866900"/>
          <a:ext xmlns:a="http://schemas.openxmlformats.org/drawingml/2006/main" cx="6953250" cy="3429000"/>
        </p:xfrm>
        <a:graphic xmlns:a="http://schemas.openxmlformats.org/drawingml/2006/main">
          <a:graphicData uri="http://schemas.openxmlformats.org/drawingml/2006/chart">
            <c:chart xmlns:r="http://schemas.openxmlformats.org/officeDocument/2006/relationships" xmlns:c="http://schemas.openxmlformats.org/drawingml/2006/chart" r:id="R5ecf89abcdfd4133"/>
          </a:graphicData>
        </a:graphic>
      </p:graphicFrame>
      <p:sp>
        <p:nvSpPr>
          <p:cNvPr id="5" name="">
            <a:extLst xmlns:a="http://schemas.openxmlformats.org/drawingml/2006/main">
              <a:ext uri="{FF2B5EF4-FFF2-40B4-BE49-F238E27FC236}">
                <a16:creationId xmlns:a16="http://schemas.microsoft.com/office/drawing/2014/main" id="{06CCE30F-37F0-49BF-BE27-B026FFB37F84}"/>
              </a:ext>
            </a:extLst>
          </p:cNvPr>
          <p:cNvSpPr>
            <a:spLocks xmlns:a="http://schemas.openxmlformats.org/drawingml/2006/main" noGrp="1"/>
          </p:cNvSpPr>
          <p:nvPr/>
        </p:nvSpPr>
        <p:spPr>
          <a:xfrm xmlns:a="http://schemas.openxmlformats.org/drawingml/2006/main">
            <a:off x="8191500" y="2085975"/>
            <a:ext cx="314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02B45"/>
                </a:solidFill>
                <a:latin typeface="Arial"/>
                <a:ea typeface="Arial"/>
                <a:cs typeface="Arial"/>
              </a:defRPr>
            </a:pPr>
            <a:r>
              <a:rPr sz="3450" b="1">
                <a:solidFill>
                  <a:srgbClr val="102B45"/>
                </a:solidFill>
                <a:latin typeface="Arial"/>
                <a:ea typeface="Arial"/>
                <a:cs typeface="Arial"/>
              </a:rPr>
              <a:t>88 people</a:t>
            </a:r>
          </a:p>
        </p:txBody>
      </p:sp>
      <p:sp>
        <p:nvSpPr>
          <p:cNvPr id="6" name="">
            <a:extLst xmlns:a="http://schemas.openxmlformats.org/drawingml/2006/main">
              <a:ext uri="{FF2B5EF4-FFF2-40B4-BE49-F238E27FC236}">
                <a16:creationId xmlns:a16="http://schemas.microsoft.com/office/drawing/2014/main" id="{0C4A0678-E1C2-489A-945B-5E6A47830873}"/>
              </a:ext>
            </a:extLst>
          </p:cNvPr>
          <p:cNvSpPr>
            <a:spLocks xmlns:a="http://schemas.openxmlformats.org/drawingml/2006/main" noGrp="1"/>
          </p:cNvSpPr>
          <p:nvPr/>
        </p:nvSpPr>
        <p:spPr>
          <a:xfrm xmlns:a="http://schemas.openxmlformats.org/drawingml/2006/main">
            <a:off x="8191500" y="2924175"/>
            <a:ext cx="3143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66779"/>
                </a:solidFill>
                <a:latin typeface="Arial"/>
                <a:ea typeface="Arial"/>
                <a:cs typeface="Arial"/>
              </a:defRPr>
            </a:pPr>
            <a:r>
              <a:rPr sz="2025" b="0">
                <a:solidFill>
                  <a:srgbClr val="566779"/>
                </a:solidFill>
                <a:latin typeface="Arial"/>
                <a:ea typeface="Arial"/>
                <a:cs typeface="Arial"/>
              </a:rPr>
              <a:t>19 scalp electrodes</a:t>
            </a:r>
          </a:p>
          <a:p xmlns:a="http://schemas.openxmlformats.org/drawingml/2006/main">
            <a:pPr>
              <a:defRPr sz="2025" b="0">
                <a:solidFill>
                  <a:srgbClr val="566779"/>
                </a:solidFill>
                <a:latin typeface="Arial"/>
                <a:ea typeface="Arial"/>
                <a:cs typeface="Arial"/>
              </a:defRPr>
            </a:pPr>
            <a:r>
              <a:rPr sz="2025" b="0">
                <a:solidFill>
                  <a:srgbClr val="566779"/>
                </a:solidFill>
                <a:latin typeface="Arial"/>
                <a:ea typeface="Arial"/>
                <a:cs typeface="Arial"/>
              </a:rPr>
              <a:t>500 Hz source sampling</a:t>
            </a:r>
          </a:p>
          <a:p xmlns:a="http://schemas.openxmlformats.org/drawingml/2006/main">
            <a:pPr>
              <a:defRPr sz="2025" b="0">
                <a:solidFill>
                  <a:srgbClr val="566779"/>
                </a:solidFill>
                <a:latin typeface="Arial"/>
                <a:ea typeface="Arial"/>
                <a:cs typeface="Arial"/>
              </a:defRPr>
            </a:pPr>
            <a:r>
              <a:rPr sz="2025" b="0">
                <a:solidFill>
                  <a:srgbClr val="566779"/>
                </a:solidFill>
                <a:latin typeface="Arial"/>
                <a:ea typeface="Arial"/>
                <a:cs typeface="Arial"/>
              </a:rPr>
              <a:t>Local dataset version 1.0.9</a:t>
            </a:r>
          </a:p>
        </p:txBody>
      </p:sp>
      <p:sp>
        <p:nvSpPr>
          <p:cNvPr id="7" name="">
            <a:extLst xmlns:a="http://schemas.openxmlformats.org/drawingml/2006/main">
              <a:ext uri="{FF2B5EF4-FFF2-40B4-BE49-F238E27FC236}">
                <a16:creationId xmlns:a16="http://schemas.microsoft.com/office/drawing/2014/main" id="{5461552F-E0FE-43F5-9622-771098C82AD1}"/>
              </a:ext>
            </a:extLst>
          </p:cNvPr>
          <p:cNvSpPr>
            <a:spLocks xmlns:a="http://schemas.openxmlformats.org/drawingml/2006/main" noGrp="1"/>
          </p:cNvSpPr>
          <p:nvPr/>
        </p:nvSpPr>
        <p:spPr>
          <a:xfrm xmlns:a="http://schemas.openxmlformats.org/drawingml/2006/main">
            <a:off x="609600" y="573405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02B45"/>
                </a:solidFill>
                <a:latin typeface="Arial"/>
                <a:ea typeface="Arial"/>
                <a:cs typeface="Arial"/>
              </a:defRPr>
            </a:pPr>
            <a:r>
              <a:rPr sz="2025" b="1">
                <a:solidFill>
                  <a:srgbClr val="102B45"/>
                </a:solidFill>
                <a:latin typeface="Arial"/>
                <a:ea typeface="Arial"/>
                <a:cs typeface="Arial"/>
              </a:rPr>
              <a:t>FTD has the fewest independent participants</a:t>
            </a:r>
          </a:p>
        </p:txBody>
      </p:sp>
      <p:sp>
        <p:nvSpPr>
          <p:cNvPr id="8" name="">
            <a:extLst xmlns:a="http://schemas.openxmlformats.org/drawingml/2006/main">
              <a:ext uri="{FF2B5EF4-FFF2-40B4-BE49-F238E27FC236}">
                <a16:creationId xmlns:a16="http://schemas.microsoft.com/office/drawing/2014/main" id="{B330B264-EC7E-4A25-8D76-B9ADB0432337}"/>
              </a:ext>
            </a:extLst>
          </p:cNvPr>
          <p:cNvSpPr>
            <a:spLocks xmlns:a="http://schemas.openxmlformats.org/drawingml/2006/main" noGrp="1"/>
          </p:cNvSpPr>
          <p:nvPr/>
        </p:nvSpPr>
        <p:spPr>
          <a:xfrm xmlns:a="http://schemas.openxmlformats.org/drawingml/2006/main">
            <a:off x="609600" y="6381750"/>
            <a:ext cx="1038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66779"/>
                </a:solidFill>
                <a:latin typeface="Arial"/>
                <a:ea typeface="Arial"/>
                <a:cs typeface="Arial"/>
              </a:defRPr>
            </a:pPr>
            <a:r>
              <a:rPr sz="1125" b="0">
                <a:solidFill>
                  <a:srgbClr val="566779"/>
                </a:solidFill>
                <a:latin typeface="Arial"/>
                <a:ea typeface="Arial"/>
                <a:cs typeface="Arial"/>
              </a:rPr>
              <a:t>Source: Miltiadous et al., Data (2023), OpenNeuro ds004504</a:t>
            </a:r>
          </a:p>
        </p:txBody>
      </p:sp>
    </p:spTree>
    <p:extLst>
      <p:ext uri="{BB962C8B-B14F-4D97-AF65-F5344CB8AC3E}">
        <p14:creationId xmlns:p14="http://schemas.microsoft.com/office/powerpoint/2010/main" val="69178582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2C63A5B-8300-43F5-91BD-85D8CDA7BF12}"/>
              </a:ext>
            </a:extLst>
          </p:cNvPr>
          <p:cNvSpPr>
            <a:spLocks xmlns:a="http://schemas.openxmlformats.org/drawingml/2006/main" noGrp="1"/>
          </p:cNvSpPr>
          <p:nvPr/>
        </p:nvSpPr>
        <p:spPr>
          <a:xfrm xmlns:a="http://schemas.openxmlformats.org/drawingml/2006/main">
            <a:off x="609600" y="4000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B45"/>
                </a:solidFill>
                <a:latin typeface="Arial"/>
                <a:ea typeface="Arial"/>
                <a:cs typeface="Arial"/>
              </a:defRPr>
            </a:pPr>
            <a:r>
              <a:rPr sz="3225" b="1">
                <a:solidFill>
                  <a:srgbClr val="102B45"/>
                </a:solidFill>
                <a:latin typeface="Arial"/>
                <a:ea typeface="Arial"/>
                <a:cs typeface="Arial"/>
              </a:rPr>
              <a:t>Preprocessing already completed</a:t>
            </a:r>
          </a:p>
        </p:txBody>
      </p:sp>
      <p:sp>
        <p:nvSpPr>
          <p:cNvPr id="2" name="">
            <a:extLst xmlns:a="http://schemas.openxmlformats.org/drawingml/2006/main">
              <a:ext uri="{FF2B5EF4-FFF2-40B4-BE49-F238E27FC236}">
                <a16:creationId xmlns:a16="http://schemas.microsoft.com/office/drawing/2014/main" id="{D1B874BA-6DDF-4E8B-AC1F-AD000233DAFF}"/>
              </a:ext>
            </a:extLst>
          </p:cNvPr>
          <p:cNvSpPr>
            <a:spLocks xmlns:a="http://schemas.openxmlformats.org/drawingml/2006/main" noGrp="1"/>
          </p:cNvSpPr>
          <p:nvPr/>
        </p:nvSpPr>
        <p:spPr>
          <a:xfrm xmlns:a="http://schemas.openxmlformats.org/drawingml/2006/main">
            <a:off x="609600" y="12096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66779"/>
                </a:solidFill>
                <a:latin typeface="Arial"/>
                <a:ea typeface="Arial"/>
                <a:cs typeface="Arial"/>
              </a:defRPr>
            </a:pPr>
            <a:r>
              <a:rPr sz="1725" b="0">
                <a:solidFill>
                  <a:srgbClr val="566779"/>
                </a:solidFill>
                <a:latin typeface="Arial"/>
                <a:ea typeface="Arial"/>
                <a:cs typeface="Arial"/>
              </a:rPr>
              <a:t>We started with the authors’ cleaned EEG derivatives</a:t>
            </a:r>
          </a:p>
        </p:txBody>
      </p:sp>
      <p:sp>
        <p:nvSpPr>
          <p:cNvPr id="3" name="">
            <a:extLst xmlns:a="http://schemas.openxmlformats.org/drawingml/2006/main">
              <a:ext uri="{FF2B5EF4-FFF2-40B4-BE49-F238E27FC236}">
                <a16:creationId xmlns:a16="http://schemas.microsoft.com/office/drawing/2014/main" id="{857A5BAC-A40D-4F14-8A39-AC64FEC9516E}"/>
              </a:ext>
            </a:extLst>
          </p:cNvPr>
          <p:cNvSpPr>
            <a:spLocks xmlns:a="http://schemas.openxmlformats.org/drawingml/2006/main" noGrp="1"/>
          </p:cNvSpPr>
          <p:nvPr/>
        </p:nvSpPr>
        <p:spPr>
          <a:xfrm xmlns:a="http://schemas.openxmlformats.org/drawingml/2006/main">
            <a:off x="1114425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66779"/>
                </a:solidFill>
                <a:latin typeface="Arial"/>
                <a:ea typeface="Arial"/>
                <a:cs typeface="Arial"/>
              </a:defRPr>
            </a:pPr>
            <a:r>
              <a:rPr sz="1125" b="0">
                <a:solidFill>
                  <a:srgbClr val="566779"/>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6612BE84-28D8-467C-A79B-4D460BA1C212}"/>
              </a:ext>
            </a:extLst>
          </p:cNvPr>
          <p:cNvSpPr>
            <a:spLocks xmlns:a="http://schemas.openxmlformats.org/drawingml/2006/main" noGrp="1"/>
          </p:cNvSpPr>
          <p:nvPr/>
        </p:nvSpPr>
        <p:spPr>
          <a:xfrm xmlns:a="http://schemas.openxmlformats.org/drawingml/2006/main">
            <a:off x="609600" y="2047875"/>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7F83"/>
                </a:solidFill>
                <a:latin typeface="Arial"/>
                <a:ea typeface="Arial"/>
                <a:cs typeface="Arial"/>
              </a:defRPr>
            </a:pPr>
            <a:r>
              <a:rPr sz="2400" b="1">
                <a:solidFill>
                  <a:srgbClr val="007F83"/>
                </a:solidFill>
                <a:latin typeface="Arial"/>
                <a:ea typeface="Arial"/>
                <a:cs typeface="Arial"/>
              </a:rPr>
              <a:t>Dataset authors</a:t>
            </a:r>
          </a:p>
        </p:txBody>
      </p:sp>
      <p:sp>
        <p:nvSpPr>
          <p:cNvPr id="5" name="">
            <a:extLst xmlns:a="http://schemas.openxmlformats.org/drawingml/2006/main">
              <a:ext uri="{FF2B5EF4-FFF2-40B4-BE49-F238E27FC236}">
                <a16:creationId xmlns:a16="http://schemas.microsoft.com/office/drawing/2014/main" id="{B34B972C-06FD-45AE-8CCE-803B15B4E54E}"/>
              </a:ext>
            </a:extLst>
          </p:cNvPr>
          <p:cNvSpPr>
            <a:spLocks xmlns:a="http://schemas.openxmlformats.org/drawingml/2006/main" noGrp="1"/>
          </p:cNvSpPr>
          <p:nvPr/>
        </p:nvSpPr>
        <p:spPr>
          <a:xfrm xmlns:a="http://schemas.openxmlformats.org/drawingml/2006/main">
            <a:off x="609600" y="2714625"/>
            <a:ext cx="5095875"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02B45"/>
                </a:solidFill>
                <a:latin typeface="Arial"/>
                <a:ea typeface="Arial"/>
                <a:cs typeface="Arial"/>
              </a:defRPr>
            </a:pPr>
            <a:r>
              <a:rPr sz="2100" b="0">
                <a:solidFill>
                  <a:srgbClr val="102B45"/>
                </a:solidFill>
                <a:latin typeface="Arial"/>
                <a:ea typeface="Arial"/>
                <a:cs typeface="Arial"/>
              </a:rPr>
              <a:t>0.5–45 Hz filtering</a:t>
            </a:r>
          </a:p>
          <a:p xmlns:a="http://schemas.openxmlformats.org/drawingml/2006/main">
            <a:pPr>
              <a:defRPr sz="2100" b="0">
                <a:solidFill>
                  <a:srgbClr val="102B45"/>
                </a:solidFill>
                <a:latin typeface="Arial"/>
                <a:ea typeface="Arial"/>
                <a:cs typeface="Arial"/>
              </a:defRPr>
            </a:pPr>
            <a:r>
              <a:rPr sz="2100" b="0">
                <a:solidFill>
                  <a:srgbClr val="102B45"/>
                </a:solidFill>
                <a:latin typeface="Arial"/>
                <a:ea typeface="Arial"/>
                <a:cs typeface="Arial"/>
              </a:rPr>
              <a:t>Mastoid reference</a:t>
            </a:r>
          </a:p>
          <a:p xmlns:a="http://schemas.openxmlformats.org/drawingml/2006/main">
            <a:pPr>
              <a:defRPr sz="2100" b="0">
                <a:solidFill>
                  <a:srgbClr val="102B45"/>
                </a:solidFill>
                <a:latin typeface="Arial"/>
                <a:ea typeface="Arial"/>
                <a:cs typeface="Arial"/>
              </a:defRPr>
            </a:pPr>
            <a:r>
              <a:rPr sz="2100" b="0">
                <a:solidFill>
                  <a:srgbClr val="102B45"/>
                </a:solidFill>
                <a:latin typeface="Arial"/>
                <a:ea typeface="Arial"/>
                <a:cs typeface="Arial"/>
              </a:rPr>
              <a:t>Artifact Subspace Reconstruction</a:t>
            </a:r>
          </a:p>
          <a:p xmlns:a="http://schemas.openxmlformats.org/drawingml/2006/main">
            <a:pPr>
              <a:defRPr sz="2100" b="0">
                <a:solidFill>
                  <a:srgbClr val="102B45"/>
                </a:solidFill>
                <a:latin typeface="Arial"/>
                <a:ea typeface="Arial"/>
                <a:cs typeface="Arial"/>
              </a:defRPr>
            </a:pPr>
            <a:r>
              <a:rPr sz="2100" b="0">
                <a:solidFill>
                  <a:srgbClr val="102B45"/>
                </a:solidFill>
                <a:latin typeface="Arial"/>
                <a:ea typeface="Arial"/>
                <a:cs typeface="Arial"/>
              </a:rPr>
              <a:t>ICA and artifact-component removal</a:t>
            </a:r>
          </a:p>
        </p:txBody>
      </p:sp>
      <p:sp>
        <p:nvSpPr>
          <p:cNvPr id="6" name="">
            <a:extLst xmlns:a="http://schemas.openxmlformats.org/drawingml/2006/main">
              <a:ext uri="{FF2B5EF4-FFF2-40B4-BE49-F238E27FC236}">
                <a16:creationId xmlns:a16="http://schemas.microsoft.com/office/drawing/2014/main" id="{8611276A-37ED-425A-856B-8C0A096E849E}"/>
              </a:ext>
            </a:extLst>
          </p:cNvPr>
          <p:cNvSpPr>
            <a:spLocks xmlns:a="http://schemas.openxmlformats.org/drawingml/2006/main" noGrp="1"/>
          </p:cNvSpPr>
          <p:nvPr/>
        </p:nvSpPr>
        <p:spPr>
          <a:xfrm xmlns:a="http://schemas.openxmlformats.org/drawingml/2006/main">
            <a:off x="6534150" y="2047875"/>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7F83"/>
                </a:solidFill>
                <a:latin typeface="Arial"/>
                <a:ea typeface="Arial"/>
                <a:cs typeface="Arial"/>
              </a:defRPr>
            </a:pPr>
            <a:r>
              <a:rPr sz="2400" b="1">
                <a:solidFill>
                  <a:srgbClr val="007F83"/>
                </a:solidFill>
                <a:latin typeface="Arial"/>
                <a:ea typeface="Arial"/>
                <a:cs typeface="Arial"/>
              </a:rPr>
              <a:t>Our project</a:t>
            </a:r>
          </a:p>
        </p:txBody>
      </p:sp>
      <p:sp>
        <p:nvSpPr>
          <p:cNvPr id="7" name="">
            <a:extLst xmlns:a="http://schemas.openxmlformats.org/drawingml/2006/main">
              <a:ext uri="{FF2B5EF4-FFF2-40B4-BE49-F238E27FC236}">
                <a16:creationId xmlns:a16="http://schemas.microsoft.com/office/drawing/2014/main" id="{FD344AC2-61C3-4B94-91C9-930CB53B4C96}"/>
              </a:ext>
            </a:extLst>
          </p:cNvPr>
          <p:cNvSpPr>
            <a:spLocks xmlns:a="http://schemas.openxmlformats.org/drawingml/2006/main" noGrp="1"/>
          </p:cNvSpPr>
          <p:nvPr/>
        </p:nvSpPr>
        <p:spPr>
          <a:xfrm xmlns:a="http://schemas.openxmlformats.org/drawingml/2006/main">
            <a:off x="6534150" y="2714625"/>
            <a:ext cx="50482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02B45"/>
                </a:solidFill>
                <a:latin typeface="Arial"/>
                <a:ea typeface="Arial"/>
                <a:cs typeface="Arial"/>
              </a:defRPr>
            </a:pPr>
            <a:r>
              <a:rPr sz="2100" b="0">
                <a:solidFill>
                  <a:srgbClr val="102B45"/>
                </a:solidFill>
                <a:latin typeface="Arial"/>
                <a:ea typeface="Arial"/>
                <a:cs typeface="Arial"/>
              </a:rPr>
              <a:t>250 Hz, four-second windows</a:t>
            </a:r>
          </a:p>
          <a:p xmlns:a="http://schemas.openxmlformats.org/drawingml/2006/main">
            <a:pPr>
              <a:defRPr sz="2100" b="0">
                <a:solidFill>
                  <a:srgbClr val="102B45"/>
                </a:solidFill>
                <a:latin typeface="Arial"/>
                <a:ea typeface="Arial"/>
                <a:cs typeface="Arial"/>
              </a:defRPr>
            </a:pPr>
            <a:r>
              <a:rPr sz="2100" b="0">
                <a:solidFill>
                  <a:srgbClr val="102B45"/>
                </a:solidFill>
                <a:latin typeface="Arial"/>
                <a:ea typeface="Arial"/>
                <a:cs typeface="Arial"/>
              </a:rPr>
              <a:t>Common-average reference</a:t>
            </a:r>
          </a:p>
          <a:p xmlns:a="http://schemas.openxmlformats.org/drawingml/2006/main">
            <a:pPr>
              <a:defRPr sz="2100" b="0">
                <a:solidFill>
                  <a:srgbClr val="102B45"/>
                </a:solidFill>
                <a:latin typeface="Arial"/>
                <a:ea typeface="Arial"/>
                <a:cs typeface="Arial"/>
              </a:defRPr>
            </a:pPr>
            <a:r>
              <a:rPr sz="2100" b="0">
                <a:solidFill>
                  <a:srgbClr val="102B45"/>
                </a:solidFill>
                <a:latin typeface="Arial"/>
                <a:ea typeface="Arial"/>
                <a:cs typeface="Arial"/>
              </a:rPr>
              <a:t>Amplitude, step and flat-channel checks</a:t>
            </a:r>
          </a:p>
          <a:p xmlns:a="http://schemas.openxmlformats.org/drawingml/2006/main">
            <a:pPr>
              <a:defRPr sz="2100" b="0">
                <a:solidFill>
                  <a:srgbClr val="102B45"/>
                </a:solidFill>
                <a:latin typeface="Arial"/>
                <a:ea typeface="Arial"/>
                <a:cs typeface="Arial"/>
              </a:defRPr>
            </a:pPr>
            <a:r>
              <a:rPr sz="2100" b="0">
                <a:solidFill>
                  <a:srgbClr val="102B45"/>
                </a:solidFill>
                <a:latin typeface="Arial"/>
                <a:ea typeface="Arial"/>
                <a:cs typeface="Arial"/>
              </a:rPr>
              <a:t>Boundary guards in V2 and later</a:t>
            </a:r>
          </a:p>
        </p:txBody>
      </p:sp>
      <p:sp>
        <p:nvSpPr>
          <p:cNvPr id="8" name="">
            <a:extLst xmlns:a="http://schemas.openxmlformats.org/drawingml/2006/main">
              <a:ext uri="{FF2B5EF4-FFF2-40B4-BE49-F238E27FC236}">
                <a16:creationId xmlns:a16="http://schemas.microsoft.com/office/drawing/2014/main" id="{C033095A-8043-4E4E-BAF0-782C2276CB39}"/>
              </a:ext>
            </a:extLst>
          </p:cNvPr>
          <p:cNvSpPr>
            <a:spLocks xmlns:a="http://schemas.openxmlformats.org/drawingml/2006/main" noGrp="1"/>
          </p:cNvSpPr>
          <p:nvPr/>
        </p:nvSpPr>
        <p:spPr>
          <a:xfrm xmlns:a="http://schemas.openxmlformats.org/drawingml/2006/main">
            <a:off x="609600" y="573405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02B45"/>
                </a:solidFill>
                <a:latin typeface="Arial"/>
                <a:ea typeface="Arial"/>
                <a:cs typeface="Arial"/>
              </a:defRPr>
            </a:pPr>
            <a:r>
              <a:rPr sz="2025" b="1">
                <a:solidFill>
                  <a:srgbClr val="102B45"/>
                </a:solidFill>
                <a:latin typeface="Arial"/>
                <a:ea typeface="Arial"/>
                <a:cs typeface="Arial"/>
              </a:rPr>
              <a:t>The current inputs have substantial preprocessing</a:t>
            </a:r>
          </a:p>
        </p:txBody>
      </p:sp>
      <p:sp>
        <p:nvSpPr>
          <p:cNvPr id="9" name="">
            <a:extLst xmlns:a="http://schemas.openxmlformats.org/drawingml/2006/main">
              <a:ext uri="{FF2B5EF4-FFF2-40B4-BE49-F238E27FC236}">
                <a16:creationId xmlns:a16="http://schemas.microsoft.com/office/drawing/2014/main" id="{35AE2549-941A-47BE-8D8E-0B6D80E40677}"/>
              </a:ext>
            </a:extLst>
          </p:cNvPr>
          <p:cNvSpPr>
            <a:spLocks xmlns:a="http://schemas.openxmlformats.org/drawingml/2006/main" noGrp="1"/>
          </p:cNvSpPr>
          <p:nvPr/>
        </p:nvSpPr>
        <p:spPr>
          <a:xfrm xmlns:a="http://schemas.openxmlformats.org/drawingml/2006/main">
            <a:off x="609600" y="6381750"/>
            <a:ext cx="1038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66779"/>
                </a:solidFill>
                <a:latin typeface="Arial"/>
                <a:ea typeface="Arial"/>
                <a:cs typeface="Arial"/>
              </a:defRPr>
            </a:pPr>
            <a:r>
              <a:rPr sz="1125" b="0">
                <a:solidFill>
                  <a:srgbClr val="566779"/>
                </a:solidFill>
                <a:latin typeface="Arial"/>
                <a:ea typeface="Arial"/>
                <a:cs typeface="Arial"/>
              </a:rPr>
              <a:t>Additional noise curation remains a proposed experiment</a:t>
            </a:r>
          </a:p>
        </p:txBody>
      </p:sp>
    </p:spTree>
    <p:extLst>
      <p:ext uri="{BB962C8B-B14F-4D97-AF65-F5344CB8AC3E}">
        <p14:creationId xmlns:p14="http://schemas.microsoft.com/office/powerpoint/2010/main" val="209658660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C5B38B7-B986-4E5D-9A36-93990F292CC4}"/>
              </a:ext>
            </a:extLst>
          </p:cNvPr>
          <p:cNvSpPr>
            <a:spLocks xmlns:a="http://schemas.openxmlformats.org/drawingml/2006/main" noGrp="1"/>
          </p:cNvSpPr>
          <p:nvPr/>
        </p:nvSpPr>
        <p:spPr>
          <a:xfrm xmlns:a="http://schemas.openxmlformats.org/drawingml/2006/main">
            <a:off x="609600" y="4000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B45"/>
                </a:solidFill>
                <a:latin typeface="Arial"/>
                <a:ea typeface="Arial"/>
                <a:cs typeface="Arial"/>
              </a:defRPr>
            </a:pPr>
            <a:r>
              <a:rPr sz="3225" b="1">
                <a:solidFill>
                  <a:srgbClr val="102B45"/>
                </a:solidFill>
                <a:latin typeface="Arial"/>
                <a:ea typeface="Arial"/>
                <a:cs typeface="Arial"/>
              </a:rPr>
              <a:t>Primary cohort and full cohort</a:t>
            </a:r>
          </a:p>
        </p:txBody>
      </p:sp>
      <p:sp>
        <p:nvSpPr>
          <p:cNvPr id="2" name="">
            <a:extLst xmlns:a="http://schemas.openxmlformats.org/drawingml/2006/main">
              <a:ext uri="{FF2B5EF4-FFF2-40B4-BE49-F238E27FC236}">
                <a16:creationId xmlns:a16="http://schemas.microsoft.com/office/drawing/2014/main" id="{8642A6AA-E321-43F4-BD0C-4CEC30D79751}"/>
              </a:ext>
            </a:extLst>
          </p:cNvPr>
          <p:cNvSpPr>
            <a:spLocks xmlns:a="http://schemas.openxmlformats.org/drawingml/2006/main" noGrp="1"/>
          </p:cNvSpPr>
          <p:nvPr/>
        </p:nvSpPr>
        <p:spPr>
          <a:xfrm xmlns:a="http://schemas.openxmlformats.org/drawingml/2006/main">
            <a:off x="609600" y="12096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66779"/>
                </a:solidFill>
                <a:latin typeface="Arial"/>
                <a:ea typeface="Arial"/>
                <a:cs typeface="Arial"/>
              </a:defRPr>
            </a:pPr>
            <a:r>
              <a:rPr sz="1725" b="0">
                <a:solidFill>
                  <a:srgbClr val="566779"/>
                </a:solidFill>
                <a:latin typeface="Arial"/>
                <a:ea typeface="Arial"/>
                <a:cs typeface="Arial"/>
              </a:rPr>
              <a:t>Later experiments added people and usable windows from the leftovers</a:t>
            </a:r>
          </a:p>
        </p:txBody>
      </p:sp>
      <p:sp>
        <p:nvSpPr>
          <p:cNvPr id="3" name="">
            <a:extLst xmlns:a="http://schemas.openxmlformats.org/drawingml/2006/main">
              <a:ext uri="{FF2B5EF4-FFF2-40B4-BE49-F238E27FC236}">
                <a16:creationId xmlns:a16="http://schemas.microsoft.com/office/drawing/2014/main" id="{DA909BFB-C44C-40D2-A226-DFDF868FD039}"/>
              </a:ext>
            </a:extLst>
          </p:cNvPr>
          <p:cNvSpPr>
            <a:spLocks xmlns:a="http://schemas.openxmlformats.org/drawingml/2006/main" noGrp="1"/>
          </p:cNvSpPr>
          <p:nvPr/>
        </p:nvSpPr>
        <p:spPr>
          <a:xfrm xmlns:a="http://schemas.openxmlformats.org/drawingml/2006/main">
            <a:off x="1114425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66779"/>
                </a:solidFill>
                <a:latin typeface="Arial"/>
                <a:ea typeface="Arial"/>
                <a:cs typeface="Arial"/>
              </a:defRPr>
            </a:pPr>
            <a:r>
              <a:rPr sz="1125" b="0">
                <a:solidFill>
                  <a:srgbClr val="566779"/>
                </a:solidFill>
                <a:latin typeface="Arial"/>
                <a:ea typeface="Arial"/>
                <a:cs typeface="Arial"/>
              </a:rPr>
              <a:t>05</a:t>
            </a:r>
          </a:p>
        </p:txBody>
      </p:sp>
      <p:graphicFrame>
        <p:nvGraphicFramePr>
          <p:cNvPr id="10" name="Chart"/>
          <p:cNvGraphicFramePr/>
          <p:nvPr/>
        </p:nvGraphicFramePr>
        <p:xfrm>
          <a:off xmlns:a="http://schemas.openxmlformats.org/drawingml/2006/main" x="609600" y="1866900"/>
          <a:ext xmlns:a="http://schemas.openxmlformats.org/drawingml/2006/main" cx="10972800" cy="3600450"/>
        </p:xfrm>
        <a:graphic xmlns:a="http://schemas.openxmlformats.org/drawingml/2006/main">
          <a:graphicData uri="http://schemas.openxmlformats.org/drawingml/2006/chart">
            <c:chart xmlns:r="http://schemas.openxmlformats.org/officeDocument/2006/relationships" xmlns:c="http://schemas.openxmlformats.org/drawingml/2006/chart" r:id="Rbf07b23d1cae446b"/>
          </a:graphicData>
        </a:graphic>
      </p:graphicFrame>
      <p:sp>
        <p:nvSpPr>
          <p:cNvPr id="5" name="">
            <a:extLst xmlns:a="http://schemas.openxmlformats.org/drawingml/2006/main">
              <a:ext uri="{FF2B5EF4-FFF2-40B4-BE49-F238E27FC236}">
                <a16:creationId xmlns:a16="http://schemas.microsoft.com/office/drawing/2014/main" id="{153447B5-7AB6-4D1F-AC3D-17ABC690D150}"/>
              </a:ext>
            </a:extLst>
          </p:cNvPr>
          <p:cNvSpPr>
            <a:spLocks xmlns:a="http://schemas.openxmlformats.org/drawingml/2006/main" noGrp="1"/>
          </p:cNvSpPr>
          <p:nvPr/>
        </p:nvSpPr>
        <p:spPr>
          <a:xfrm xmlns:a="http://schemas.openxmlformats.org/drawingml/2006/main">
            <a:off x="609600" y="573405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02B45"/>
                </a:solidFill>
                <a:latin typeface="Arial"/>
                <a:ea typeface="Arial"/>
                <a:cs typeface="Arial"/>
              </a:defRPr>
            </a:pPr>
            <a:r>
              <a:rPr sz="2025" b="1">
                <a:solidFill>
                  <a:srgbClr val="102B45"/>
                </a:solidFill>
                <a:latin typeface="Arial"/>
                <a:ea typeface="Arial"/>
                <a:cs typeface="Arial"/>
              </a:rPr>
              <a:t>69 people in the primary cohort. 88 in the full cohort.</a:t>
            </a:r>
          </a:p>
        </p:txBody>
      </p:sp>
      <p:sp>
        <p:nvSpPr>
          <p:cNvPr id="6" name="">
            <a:extLst xmlns:a="http://schemas.openxmlformats.org/drawingml/2006/main">
              <a:ext uri="{FF2B5EF4-FFF2-40B4-BE49-F238E27FC236}">
                <a16:creationId xmlns:a16="http://schemas.microsoft.com/office/drawing/2014/main" id="{D65B0B9D-E8F8-429C-BB35-712BCCA2AEF5}"/>
              </a:ext>
            </a:extLst>
          </p:cNvPr>
          <p:cNvSpPr>
            <a:spLocks xmlns:a="http://schemas.openxmlformats.org/drawingml/2006/main" noGrp="1"/>
          </p:cNvSpPr>
          <p:nvPr/>
        </p:nvSpPr>
        <p:spPr>
          <a:xfrm xmlns:a="http://schemas.openxmlformats.org/drawingml/2006/main">
            <a:off x="609600" y="6381750"/>
            <a:ext cx="1038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66779"/>
                </a:solidFill>
                <a:latin typeface="Arial"/>
                <a:ea typeface="Arial"/>
                <a:cs typeface="Arial"/>
              </a:defRPr>
            </a:pPr>
            <a:r>
              <a:rPr sz="1125" b="0">
                <a:solidFill>
                  <a:srgbClr val="566779"/>
                </a:solidFill>
                <a:latin typeface="Arial"/>
                <a:ea typeface="Arial"/>
                <a:cs typeface="Arial"/>
              </a:rPr>
              <a:t>Primary: 12,270 stored windows. Full-cohort analysis: 16,824 eligible windows.</a:t>
            </a:r>
          </a:p>
        </p:txBody>
      </p:sp>
    </p:spTree>
    <p:extLst>
      <p:ext uri="{BB962C8B-B14F-4D97-AF65-F5344CB8AC3E}">
        <p14:creationId xmlns:p14="http://schemas.microsoft.com/office/powerpoint/2010/main" val="49829108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793EEFA-044C-40C3-A761-E522224A1DF8}"/>
              </a:ext>
            </a:extLst>
          </p:cNvPr>
          <p:cNvSpPr>
            <a:spLocks xmlns:a="http://schemas.openxmlformats.org/drawingml/2006/main" noGrp="1"/>
          </p:cNvSpPr>
          <p:nvPr/>
        </p:nvSpPr>
        <p:spPr>
          <a:xfrm xmlns:a="http://schemas.openxmlformats.org/drawingml/2006/main">
            <a:off x="609600" y="4000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B45"/>
                </a:solidFill>
                <a:latin typeface="Arial"/>
                <a:ea typeface="Arial"/>
                <a:cs typeface="Arial"/>
              </a:defRPr>
            </a:pPr>
            <a:r>
              <a:rPr sz="3225" b="1">
                <a:solidFill>
                  <a:srgbClr val="102B45"/>
                </a:solidFill>
                <a:latin typeface="Arial"/>
                <a:ea typeface="Arial"/>
                <a:cs typeface="Arial"/>
              </a:rPr>
              <a:t>What the analysis pipeline does</a:t>
            </a:r>
          </a:p>
        </p:txBody>
      </p:sp>
      <p:sp>
        <p:nvSpPr>
          <p:cNvPr id="2" name="">
            <a:extLst xmlns:a="http://schemas.openxmlformats.org/drawingml/2006/main">
              <a:ext uri="{FF2B5EF4-FFF2-40B4-BE49-F238E27FC236}">
                <a16:creationId xmlns:a16="http://schemas.microsoft.com/office/drawing/2014/main" id="{89EF812D-980B-47C4-9671-8F0997C9BB4C}"/>
              </a:ext>
            </a:extLst>
          </p:cNvPr>
          <p:cNvSpPr>
            <a:spLocks xmlns:a="http://schemas.openxmlformats.org/drawingml/2006/main" noGrp="1"/>
          </p:cNvSpPr>
          <p:nvPr/>
        </p:nvSpPr>
        <p:spPr>
          <a:xfrm xmlns:a="http://schemas.openxmlformats.org/drawingml/2006/main">
            <a:off x="609600" y="12096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66779"/>
                </a:solidFill>
                <a:latin typeface="Arial"/>
                <a:ea typeface="Arial"/>
                <a:cs typeface="Arial"/>
              </a:defRPr>
            </a:pPr>
            <a:r>
              <a:rPr sz="1725" b="0">
                <a:solidFill>
                  <a:srgbClr val="566779"/>
                </a:solidFill>
                <a:latin typeface="Arial"/>
                <a:ea typeface="Arial"/>
                <a:cs typeface="Arial"/>
              </a:rPr>
              <a:t>Each stage turns EEG into one diagnosis prediction per person</a:t>
            </a:r>
          </a:p>
        </p:txBody>
      </p:sp>
      <p:sp>
        <p:nvSpPr>
          <p:cNvPr id="3" name="">
            <a:extLst xmlns:a="http://schemas.openxmlformats.org/drawingml/2006/main">
              <a:ext uri="{FF2B5EF4-FFF2-40B4-BE49-F238E27FC236}">
                <a16:creationId xmlns:a16="http://schemas.microsoft.com/office/drawing/2014/main" id="{A1FDA5C5-AD5F-4B88-BBF8-5482F9738085}"/>
              </a:ext>
            </a:extLst>
          </p:cNvPr>
          <p:cNvSpPr>
            <a:spLocks xmlns:a="http://schemas.openxmlformats.org/drawingml/2006/main" noGrp="1"/>
          </p:cNvSpPr>
          <p:nvPr/>
        </p:nvSpPr>
        <p:spPr>
          <a:xfrm xmlns:a="http://schemas.openxmlformats.org/drawingml/2006/main">
            <a:off x="1114425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66779"/>
                </a:solidFill>
                <a:latin typeface="Arial"/>
                <a:ea typeface="Arial"/>
                <a:cs typeface="Arial"/>
              </a:defRPr>
            </a:pPr>
            <a:r>
              <a:rPr sz="1125" b="0">
                <a:solidFill>
                  <a:srgbClr val="566779"/>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535D87F5-8D54-4AC4-9ABA-531D5F87B5EA}"/>
              </a:ext>
            </a:extLst>
          </p:cNvPr>
          <p:cNvSpPr>
            <a:spLocks xmlns:a="http://schemas.openxmlformats.org/drawingml/2006/main" noGrp="1"/>
          </p:cNvSpPr>
          <p:nvPr/>
        </p:nvSpPr>
        <p:spPr>
          <a:xfrm xmlns:a="http://schemas.openxmlformats.org/drawingml/2006/main">
            <a:off x="609600" y="1847850"/>
            <a:ext cx="1066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2B45"/>
                </a:solidFill>
                <a:latin typeface="Arial"/>
                <a:ea typeface="Arial"/>
                <a:cs typeface="Arial"/>
              </a:defRPr>
            </a:pPr>
            <a:r>
              <a:rPr sz="2175" b="1">
                <a:solidFill>
                  <a:srgbClr val="102B45"/>
                </a:solidFill>
                <a:latin typeface="Arial"/>
                <a:ea typeface="Arial"/>
                <a:cs typeface="Arial"/>
              </a:rPr>
              <a:t>1   Prepare EEG</a:t>
            </a:r>
          </a:p>
        </p:txBody>
      </p:sp>
      <p:sp>
        <p:nvSpPr>
          <p:cNvPr id="5" name="">
            <a:extLst xmlns:a="http://schemas.openxmlformats.org/drawingml/2006/main">
              <a:ext uri="{FF2B5EF4-FFF2-40B4-BE49-F238E27FC236}">
                <a16:creationId xmlns:a16="http://schemas.microsoft.com/office/drawing/2014/main" id="{5A9E5AB2-0AF7-47B8-8998-F101963B62D4}"/>
              </a:ext>
            </a:extLst>
          </p:cNvPr>
          <p:cNvSpPr>
            <a:spLocks xmlns:a="http://schemas.openxmlformats.org/drawingml/2006/main" noGrp="1"/>
          </p:cNvSpPr>
          <p:nvPr/>
        </p:nvSpPr>
        <p:spPr>
          <a:xfrm xmlns:a="http://schemas.openxmlformats.org/drawingml/2006/main">
            <a:off x="609600" y="2257425"/>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66779"/>
                </a:solidFill>
                <a:latin typeface="Arial"/>
                <a:ea typeface="Arial"/>
                <a:cs typeface="Arial"/>
              </a:defRPr>
            </a:pPr>
            <a:r>
              <a:rPr sz="1875" b="0">
                <a:solidFill>
                  <a:srgbClr val="566779"/>
                </a:solidFill>
                <a:latin typeface="Arial"/>
                <a:ea typeface="Arial"/>
                <a:cs typeface="Arial"/>
              </a:rPr>
              <a:t>Check signal quality and divide each recording into short windows.</a:t>
            </a:r>
          </a:p>
        </p:txBody>
      </p:sp>
      <p:sp>
        <p:nvSpPr>
          <p:cNvPr id="6" name="">
            <a:extLst xmlns:a="http://schemas.openxmlformats.org/drawingml/2006/main">
              <a:ext uri="{FF2B5EF4-FFF2-40B4-BE49-F238E27FC236}">
                <a16:creationId xmlns:a16="http://schemas.microsoft.com/office/drawing/2014/main" id="{F4647F12-C563-4946-A08A-D92FB6EA9E63}"/>
              </a:ext>
            </a:extLst>
          </p:cNvPr>
          <p:cNvSpPr>
            <a:spLocks xmlns:a="http://schemas.openxmlformats.org/drawingml/2006/main" noGrp="1"/>
          </p:cNvSpPr>
          <p:nvPr/>
        </p:nvSpPr>
        <p:spPr>
          <a:xfrm xmlns:a="http://schemas.openxmlformats.org/drawingml/2006/main">
            <a:off x="609600" y="2876550"/>
            <a:ext cx="1066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2B45"/>
                </a:solidFill>
                <a:latin typeface="Arial"/>
                <a:ea typeface="Arial"/>
                <a:cs typeface="Arial"/>
              </a:defRPr>
            </a:pPr>
            <a:r>
              <a:rPr sz="2175" b="1">
                <a:solidFill>
                  <a:srgbClr val="102B45"/>
                </a:solidFill>
                <a:latin typeface="Arial"/>
                <a:ea typeface="Arial"/>
                <a:cs typeface="Arial"/>
              </a:rPr>
              <a:t>2   Describe the signal</a:t>
            </a:r>
          </a:p>
        </p:txBody>
      </p:sp>
      <p:sp>
        <p:nvSpPr>
          <p:cNvPr id="7" name="">
            <a:extLst xmlns:a="http://schemas.openxmlformats.org/drawingml/2006/main">
              <a:ext uri="{FF2B5EF4-FFF2-40B4-BE49-F238E27FC236}">
                <a16:creationId xmlns:a16="http://schemas.microsoft.com/office/drawing/2014/main" id="{E5C9197A-EB32-4743-93DE-19EB3DC0287D}"/>
              </a:ext>
            </a:extLst>
          </p:cNvPr>
          <p:cNvSpPr>
            <a:spLocks xmlns:a="http://schemas.openxmlformats.org/drawingml/2006/main" noGrp="1"/>
          </p:cNvSpPr>
          <p:nvPr/>
        </p:nvSpPr>
        <p:spPr>
          <a:xfrm xmlns:a="http://schemas.openxmlformats.org/drawingml/2006/main">
            <a:off x="609600" y="3286125"/>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66779"/>
                </a:solidFill>
                <a:latin typeface="Arial"/>
                <a:ea typeface="Arial"/>
                <a:cs typeface="Arial"/>
              </a:defRPr>
            </a:pPr>
            <a:r>
              <a:rPr sz="1875" b="0">
                <a:solidFill>
                  <a:srgbClr val="566779"/>
                </a:solidFill>
                <a:latin typeface="Arial"/>
                <a:ea typeface="Arial"/>
                <a:cs typeface="Arial"/>
              </a:rPr>
              <a:t>Measure frequency power, waveform patterns or connections between electrodes.</a:t>
            </a:r>
          </a:p>
        </p:txBody>
      </p:sp>
      <p:sp>
        <p:nvSpPr>
          <p:cNvPr id="8" name="">
            <a:extLst xmlns:a="http://schemas.openxmlformats.org/drawingml/2006/main">
              <a:ext uri="{FF2B5EF4-FFF2-40B4-BE49-F238E27FC236}">
                <a16:creationId xmlns:a16="http://schemas.microsoft.com/office/drawing/2014/main" id="{EE81D878-470A-4614-813B-3B4648D02D14}"/>
              </a:ext>
            </a:extLst>
          </p:cNvPr>
          <p:cNvSpPr>
            <a:spLocks xmlns:a="http://schemas.openxmlformats.org/drawingml/2006/main" noGrp="1"/>
          </p:cNvSpPr>
          <p:nvPr/>
        </p:nvSpPr>
        <p:spPr>
          <a:xfrm xmlns:a="http://schemas.openxmlformats.org/drawingml/2006/main">
            <a:off x="609600" y="3905250"/>
            <a:ext cx="1066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2B45"/>
                </a:solidFill>
                <a:latin typeface="Arial"/>
                <a:ea typeface="Arial"/>
                <a:cs typeface="Arial"/>
              </a:defRPr>
            </a:pPr>
            <a:r>
              <a:rPr sz="2175" b="1">
                <a:solidFill>
                  <a:srgbClr val="102B45"/>
                </a:solidFill>
                <a:latin typeface="Arial"/>
                <a:ea typeface="Arial"/>
                <a:cs typeface="Arial"/>
              </a:rPr>
              <a:t>3   Learn compact features</a:t>
            </a:r>
          </a:p>
        </p:txBody>
      </p:sp>
      <p:sp>
        <p:nvSpPr>
          <p:cNvPr id="9" name="">
            <a:extLst xmlns:a="http://schemas.openxmlformats.org/drawingml/2006/main">
              <a:ext uri="{FF2B5EF4-FFF2-40B4-BE49-F238E27FC236}">
                <a16:creationId xmlns:a16="http://schemas.microsoft.com/office/drawing/2014/main" id="{D041D3E9-BCFC-4B56-9F9E-74831BE6C9BE}"/>
              </a:ext>
            </a:extLst>
          </p:cNvPr>
          <p:cNvSpPr>
            <a:spLocks xmlns:a="http://schemas.openxmlformats.org/drawingml/2006/main" noGrp="1"/>
          </p:cNvSpPr>
          <p:nvPr/>
        </p:nvSpPr>
        <p:spPr>
          <a:xfrm xmlns:a="http://schemas.openxmlformats.org/drawingml/2006/main">
            <a:off x="609600" y="4314825"/>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66779"/>
                </a:solidFill>
                <a:latin typeface="Arial"/>
                <a:ea typeface="Arial"/>
                <a:cs typeface="Arial"/>
              </a:defRPr>
            </a:pPr>
            <a:r>
              <a:rPr sz="1875" b="0">
                <a:solidFill>
                  <a:srgbClr val="566779"/>
                </a:solidFill>
                <a:latin typeface="Arial"/>
                <a:ea typeface="Arial"/>
                <a:cs typeface="Arial"/>
              </a:rPr>
              <a:t>Use decomposition or feature selection to reduce the representation.</a:t>
            </a:r>
          </a:p>
        </p:txBody>
      </p:sp>
      <p:sp>
        <p:nvSpPr>
          <p:cNvPr id="10" name="">
            <a:extLst xmlns:a="http://schemas.openxmlformats.org/drawingml/2006/main">
              <a:ext uri="{FF2B5EF4-FFF2-40B4-BE49-F238E27FC236}">
                <a16:creationId xmlns:a16="http://schemas.microsoft.com/office/drawing/2014/main" id="{E4BF6A2D-79FB-47CC-818A-FB06803B06DE}"/>
              </a:ext>
            </a:extLst>
          </p:cNvPr>
          <p:cNvSpPr>
            <a:spLocks xmlns:a="http://schemas.openxmlformats.org/drawingml/2006/main" noGrp="1"/>
          </p:cNvSpPr>
          <p:nvPr/>
        </p:nvSpPr>
        <p:spPr>
          <a:xfrm xmlns:a="http://schemas.openxmlformats.org/drawingml/2006/main">
            <a:off x="609600" y="4933950"/>
            <a:ext cx="1066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2B45"/>
                </a:solidFill>
                <a:latin typeface="Arial"/>
                <a:ea typeface="Arial"/>
                <a:cs typeface="Arial"/>
              </a:defRPr>
            </a:pPr>
            <a:r>
              <a:rPr sz="2175" b="1">
                <a:solidFill>
                  <a:srgbClr val="102B45"/>
                </a:solidFill>
                <a:latin typeface="Arial"/>
                <a:ea typeface="Arial"/>
                <a:cs typeface="Arial"/>
              </a:rPr>
              <a:t>4   Classify and evaluate</a:t>
            </a:r>
          </a:p>
        </p:txBody>
      </p:sp>
      <p:sp>
        <p:nvSpPr>
          <p:cNvPr id="11" name="">
            <a:extLst xmlns:a="http://schemas.openxmlformats.org/drawingml/2006/main">
              <a:ext uri="{FF2B5EF4-FFF2-40B4-BE49-F238E27FC236}">
                <a16:creationId xmlns:a16="http://schemas.microsoft.com/office/drawing/2014/main" id="{C5547BC6-63CF-4D44-BB95-9EF92B25578C}"/>
              </a:ext>
            </a:extLst>
          </p:cNvPr>
          <p:cNvSpPr>
            <a:spLocks xmlns:a="http://schemas.openxmlformats.org/drawingml/2006/main" noGrp="1"/>
          </p:cNvSpPr>
          <p:nvPr/>
        </p:nvSpPr>
        <p:spPr>
          <a:xfrm xmlns:a="http://schemas.openxmlformats.org/drawingml/2006/main">
            <a:off x="609600" y="5343525"/>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66779"/>
                </a:solidFill>
                <a:latin typeface="Arial"/>
                <a:ea typeface="Arial"/>
                <a:cs typeface="Arial"/>
              </a:defRPr>
            </a:pPr>
            <a:r>
              <a:rPr sz="1875" b="0">
                <a:solidFill>
                  <a:srgbClr val="566779"/>
                </a:solidFill>
                <a:latin typeface="Arial"/>
                <a:ea typeface="Arial"/>
                <a:cs typeface="Arial"/>
              </a:rPr>
              <a:t>Train on one group of people and test on people held out from training.</a:t>
            </a:r>
          </a:p>
        </p:txBody>
      </p:sp>
    </p:spTree>
    <p:extLst>
      <p:ext uri="{BB962C8B-B14F-4D97-AF65-F5344CB8AC3E}">
        <p14:creationId xmlns:p14="http://schemas.microsoft.com/office/powerpoint/2010/main" val="102061868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931EC27-3C8C-444C-9503-3E851E53A655}"/>
              </a:ext>
            </a:extLst>
          </p:cNvPr>
          <p:cNvSpPr>
            <a:spLocks xmlns:a="http://schemas.openxmlformats.org/drawingml/2006/main" noGrp="1"/>
          </p:cNvSpPr>
          <p:nvPr/>
        </p:nvSpPr>
        <p:spPr>
          <a:xfrm xmlns:a="http://schemas.openxmlformats.org/drawingml/2006/main">
            <a:off x="609600" y="4000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B45"/>
                </a:solidFill>
                <a:latin typeface="Arial"/>
                <a:ea typeface="Arial"/>
                <a:cs typeface="Arial"/>
              </a:defRPr>
            </a:pPr>
            <a:r>
              <a:rPr sz="3225" b="1">
                <a:solidFill>
                  <a:srgbClr val="102B45"/>
                </a:solidFill>
                <a:latin typeface="Arial"/>
                <a:ea typeface="Arial"/>
                <a:cs typeface="Arial"/>
              </a:rPr>
              <a:t>What decomposition contributes</a:t>
            </a:r>
          </a:p>
        </p:txBody>
      </p:sp>
      <p:sp>
        <p:nvSpPr>
          <p:cNvPr id="2" name="">
            <a:extLst xmlns:a="http://schemas.openxmlformats.org/drawingml/2006/main">
              <a:ext uri="{FF2B5EF4-FFF2-40B4-BE49-F238E27FC236}">
                <a16:creationId xmlns:a16="http://schemas.microsoft.com/office/drawing/2014/main" id="{DB68A994-8B76-4F0F-AAD8-E919DD863B3B}"/>
              </a:ext>
            </a:extLst>
          </p:cNvPr>
          <p:cNvSpPr>
            <a:spLocks xmlns:a="http://schemas.openxmlformats.org/drawingml/2006/main" noGrp="1"/>
          </p:cNvSpPr>
          <p:nvPr/>
        </p:nvSpPr>
        <p:spPr>
          <a:xfrm xmlns:a="http://schemas.openxmlformats.org/drawingml/2006/main">
            <a:off x="609600" y="12096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66779"/>
                </a:solidFill>
                <a:latin typeface="Arial"/>
                <a:ea typeface="Arial"/>
                <a:cs typeface="Arial"/>
              </a:defRPr>
            </a:pPr>
            <a:r>
              <a:rPr sz="1725" b="0">
                <a:solidFill>
                  <a:srgbClr val="566779"/>
                </a:solidFill>
                <a:latin typeface="Arial"/>
                <a:ea typeface="Arial"/>
                <a:cs typeface="Arial"/>
              </a:rPr>
              <a:t>A smaller set of patterns summarizes a large EEG representation</a:t>
            </a:r>
          </a:p>
        </p:txBody>
      </p:sp>
      <p:sp>
        <p:nvSpPr>
          <p:cNvPr id="3" name="">
            <a:extLst xmlns:a="http://schemas.openxmlformats.org/drawingml/2006/main">
              <a:ext uri="{FF2B5EF4-FFF2-40B4-BE49-F238E27FC236}">
                <a16:creationId xmlns:a16="http://schemas.microsoft.com/office/drawing/2014/main" id="{63B25370-C3BA-4D35-8978-26F4A312E51A}"/>
              </a:ext>
            </a:extLst>
          </p:cNvPr>
          <p:cNvSpPr>
            <a:spLocks xmlns:a="http://schemas.openxmlformats.org/drawingml/2006/main" noGrp="1"/>
          </p:cNvSpPr>
          <p:nvPr/>
        </p:nvSpPr>
        <p:spPr>
          <a:xfrm xmlns:a="http://schemas.openxmlformats.org/drawingml/2006/main">
            <a:off x="1114425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66779"/>
                </a:solidFill>
                <a:latin typeface="Arial"/>
                <a:ea typeface="Arial"/>
                <a:cs typeface="Arial"/>
              </a:defRPr>
            </a:pPr>
            <a:r>
              <a:rPr sz="1125" b="0">
                <a:solidFill>
                  <a:srgbClr val="566779"/>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8DB98F7F-A210-4C18-81EF-987C06F976D3}"/>
              </a:ext>
            </a:extLst>
          </p:cNvPr>
          <p:cNvSpPr>
            <a:spLocks xmlns:a="http://schemas.openxmlformats.org/drawingml/2006/main" noGrp="1"/>
          </p:cNvSpPr>
          <p:nvPr/>
        </p:nvSpPr>
        <p:spPr>
          <a:xfrm xmlns:a="http://schemas.openxmlformats.org/drawingml/2006/main">
            <a:off x="609600" y="2028825"/>
            <a:ext cx="5143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F83"/>
                </a:solidFill>
                <a:latin typeface="Arial"/>
                <a:ea typeface="Arial"/>
                <a:cs typeface="Arial"/>
              </a:defRPr>
            </a:pPr>
            <a:r>
              <a:rPr sz="2250" b="1">
                <a:solidFill>
                  <a:srgbClr val="007F83"/>
                </a:solidFill>
                <a:latin typeface="Arial"/>
                <a:ea typeface="Arial"/>
                <a:cs typeface="Arial"/>
              </a:rPr>
              <a:t>Original spectral description</a:t>
            </a:r>
          </a:p>
        </p:txBody>
      </p:sp>
      <p:sp>
        <p:nvSpPr>
          <p:cNvPr id="5" name="">
            <a:extLst xmlns:a="http://schemas.openxmlformats.org/drawingml/2006/main">
              <a:ext uri="{FF2B5EF4-FFF2-40B4-BE49-F238E27FC236}">
                <a16:creationId xmlns:a16="http://schemas.microsoft.com/office/drawing/2014/main" id="{95576BC3-A800-4BF2-8A7E-DBB83670108F}"/>
              </a:ext>
            </a:extLst>
          </p:cNvPr>
          <p:cNvSpPr>
            <a:spLocks xmlns:a="http://schemas.openxmlformats.org/drawingml/2006/main" noGrp="1"/>
          </p:cNvSpPr>
          <p:nvPr/>
        </p:nvSpPr>
        <p:spPr>
          <a:xfrm xmlns:a="http://schemas.openxmlformats.org/drawingml/2006/main">
            <a:off x="609600" y="2676525"/>
            <a:ext cx="5143500" cy="1590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02B45"/>
                </a:solidFill>
                <a:latin typeface="Arial"/>
                <a:ea typeface="Arial"/>
                <a:cs typeface="Arial"/>
              </a:defRPr>
            </a:pPr>
            <a:r>
              <a:rPr sz="2400" b="0">
                <a:solidFill>
                  <a:srgbClr val="102B45"/>
                </a:solidFill>
                <a:latin typeface="Arial"/>
                <a:ea typeface="Arial"/>
                <a:cs typeface="Arial"/>
              </a:rPr>
              <a:t>19 electrodes</a:t>
            </a:r>
          </a:p>
          <a:p xmlns:a="http://schemas.openxmlformats.org/drawingml/2006/main">
            <a:pPr>
              <a:defRPr sz="2400" b="0">
                <a:solidFill>
                  <a:srgbClr val="102B45"/>
                </a:solidFill>
                <a:latin typeface="Arial"/>
                <a:ea typeface="Arial"/>
                <a:cs typeface="Arial"/>
              </a:defRPr>
            </a:pPr>
            <a:r>
              <a:rPr sz="2400" b="0">
                <a:solidFill>
                  <a:srgbClr val="102B45"/>
                </a:solidFill>
                <a:latin typeface="Arial"/>
                <a:ea typeface="Arial"/>
                <a:cs typeface="Arial"/>
              </a:rPr>
              <a:t>59 frequency values</a:t>
            </a:r>
          </a:p>
          <a:p xmlns:a="http://schemas.openxmlformats.org/drawingml/2006/main">
            <a:pPr>
              <a:defRPr sz="2400" b="0">
                <a:solidFill>
                  <a:srgbClr val="102B45"/>
                </a:solidFill>
                <a:latin typeface="Arial"/>
                <a:ea typeface="Arial"/>
                <a:cs typeface="Arial"/>
              </a:defRPr>
            </a:pPr>
            <a:r>
              <a:rPr sz="2400" b="0">
                <a:solidFill>
                  <a:srgbClr val="102B45"/>
                </a:solidFill>
                <a:latin typeface="Arial"/>
                <a:ea typeface="Arial"/>
                <a:cs typeface="Arial"/>
              </a:rPr>
              <a:t>10 recording-time bins</a:t>
            </a:r>
          </a:p>
        </p:txBody>
      </p:sp>
      <p:sp>
        <p:nvSpPr>
          <p:cNvPr id="6" name="">
            <a:extLst xmlns:a="http://schemas.openxmlformats.org/drawingml/2006/main">
              <a:ext uri="{FF2B5EF4-FFF2-40B4-BE49-F238E27FC236}">
                <a16:creationId xmlns:a16="http://schemas.microsoft.com/office/drawing/2014/main" id="{E330B1DB-B674-4226-BB71-8AFAC7E41F35}"/>
              </a:ext>
            </a:extLst>
          </p:cNvPr>
          <p:cNvSpPr>
            <a:spLocks xmlns:a="http://schemas.openxmlformats.org/drawingml/2006/main" noGrp="1"/>
          </p:cNvSpPr>
          <p:nvPr/>
        </p:nvSpPr>
        <p:spPr>
          <a:xfrm xmlns:a="http://schemas.openxmlformats.org/drawingml/2006/main">
            <a:off x="609600" y="468630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02B45"/>
                </a:solidFill>
                <a:latin typeface="Arial"/>
                <a:ea typeface="Arial"/>
                <a:cs typeface="Arial"/>
              </a:defRPr>
            </a:pPr>
            <a:r>
              <a:rPr sz="2400" b="1">
                <a:solidFill>
                  <a:srgbClr val="102B45"/>
                </a:solidFill>
                <a:latin typeface="Arial"/>
                <a:ea typeface="Arial"/>
                <a:cs typeface="Arial"/>
              </a:rPr>
              <a:t>11,210 values per person</a:t>
            </a:r>
          </a:p>
        </p:txBody>
      </p:sp>
      <p:sp>
        <p:nvSpPr>
          <p:cNvPr id="7" name="">
            <a:extLst xmlns:a="http://schemas.openxmlformats.org/drawingml/2006/main">
              <a:ext uri="{FF2B5EF4-FFF2-40B4-BE49-F238E27FC236}">
                <a16:creationId xmlns:a16="http://schemas.microsoft.com/office/drawing/2014/main" id="{0776929A-74B4-4606-AC4F-964C592D5EFC}"/>
              </a:ext>
            </a:extLst>
          </p:cNvPr>
          <p:cNvSpPr>
            <a:spLocks xmlns:a="http://schemas.openxmlformats.org/drawingml/2006/main" noGrp="1"/>
          </p:cNvSpPr>
          <p:nvPr/>
        </p:nvSpPr>
        <p:spPr>
          <a:xfrm xmlns:a="http://schemas.openxmlformats.org/drawingml/2006/main">
            <a:off x="6572250" y="2028825"/>
            <a:ext cx="5000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F83"/>
                </a:solidFill>
                <a:latin typeface="Arial"/>
                <a:ea typeface="Arial"/>
                <a:cs typeface="Arial"/>
              </a:defRPr>
            </a:pPr>
            <a:r>
              <a:rPr sz="2250" b="1">
                <a:solidFill>
                  <a:srgbClr val="007F83"/>
                </a:solidFill>
                <a:latin typeface="Arial"/>
                <a:ea typeface="Arial"/>
                <a:cs typeface="Arial"/>
              </a:rPr>
              <a:t>Compact description</a:t>
            </a:r>
          </a:p>
        </p:txBody>
      </p:sp>
      <p:sp>
        <p:nvSpPr>
          <p:cNvPr id="8" name="">
            <a:extLst xmlns:a="http://schemas.openxmlformats.org/drawingml/2006/main">
              <a:ext uri="{FF2B5EF4-FFF2-40B4-BE49-F238E27FC236}">
                <a16:creationId xmlns:a16="http://schemas.microsoft.com/office/drawing/2014/main" id="{85630732-1AC3-4B32-818C-31D722FC191E}"/>
              </a:ext>
            </a:extLst>
          </p:cNvPr>
          <p:cNvSpPr>
            <a:spLocks xmlns:a="http://schemas.openxmlformats.org/drawingml/2006/main" noGrp="1"/>
          </p:cNvSpPr>
          <p:nvPr/>
        </p:nvSpPr>
        <p:spPr>
          <a:xfrm xmlns:a="http://schemas.openxmlformats.org/drawingml/2006/main">
            <a:off x="6572250" y="2676525"/>
            <a:ext cx="500062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02B45"/>
                </a:solidFill>
                <a:latin typeface="Arial"/>
                <a:ea typeface="Arial"/>
                <a:cs typeface="Arial"/>
              </a:defRPr>
            </a:pPr>
            <a:r>
              <a:rPr sz="2175" b="0">
                <a:solidFill>
                  <a:srgbClr val="102B45"/>
                </a:solidFill>
                <a:latin typeface="Arial"/>
                <a:ea typeface="Arial"/>
                <a:cs typeface="Arial"/>
              </a:rPr>
              <a:t>Recurring electrode patterns</a:t>
            </a:r>
          </a:p>
          <a:p xmlns:a="http://schemas.openxmlformats.org/drawingml/2006/main">
            <a:pPr>
              <a:defRPr sz="2175" b="0">
                <a:solidFill>
                  <a:srgbClr val="102B45"/>
                </a:solidFill>
                <a:latin typeface="Arial"/>
                <a:ea typeface="Arial"/>
                <a:cs typeface="Arial"/>
              </a:defRPr>
            </a:pPr>
            <a:r>
              <a:rPr sz="2175" b="0">
                <a:solidFill>
                  <a:srgbClr val="102B45"/>
                </a:solidFill>
                <a:latin typeface="Arial"/>
                <a:ea typeface="Arial"/>
                <a:cs typeface="Arial"/>
              </a:rPr>
              <a:t>Frequency profiles</a:t>
            </a:r>
          </a:p>
          <a:p xmlns:a="http://schemas.openxmlformats.org/drawingml/2006/main">
            <a:pPr>
              <a:defRPr sz="2175" b="0">
                <a:solidFill>
                  <a:srgbClr val="102B45"/>
                </a:solidFill>
                <a:latin typeface="Arial"/>
                <a:ea typeface="Arial"/>
                <a:cs typeface="Arial"/>
              </a:defRPr>
            </a:pPr>
            <a:r>
              <a:rPr sz="2175" b="0">
                <a:solidFill>
                  <a:srgbClr val="102B45"/>
                </a:solidFill>
                <a:latin typeface="Arial"/>
                <a:ea typeface="Arial"/>
                <a:cs typeface="Arial"/>
              </a:rPr>
              <a:t>How strongly each person</a:t>
            </a:r>
          </a:p>
          <a:p xmlns:a="http://schemas.openxmlformats.org/drawingml/2006/main">
            <a:pPr>
              <a:defRPr sz="2175" b="0">
                <a:solidFill>
                  <a:srgbClr val="102B45"/>
                </a:solidFill>
                <a:latin typeface="Arial"/>
                <a:ea typeface="Arial"/>
                <a:cs typeface="Arial"/>
              </a:defRPr>
            </a:pPr>
            <a:r>
              <a:rPr sz="2175" b="0">
                <a:solidFill>
                  <a:srgbClr val="102B45"/>
                </a:solidFill>
                <a:latin typeface="Arial"/>
                <a:ea typeface="Arial"/>
                <a:cs typeface="Arial"/>
              </a:rPr>
              <a:t>expresses those patterns</a:t>
            </a:r>
          </a:p>
        </p:txBody>
      </p:sp>
      <p:sp>
        <p:nvSpPr>
          <p:cNvPr id="9" name="">
            <a:extLst xmlns:a="http://schemas.openxmlformats.org/drawingml/2006/main">
              <a:ext uri="{FF2B5EF4-FFF2-40B4-BE49-F238E27FC236}">
                <a16:creationId xmlns:a16="http://schemas.microsoft.com/office/drawing/2014/main" id="{FD424D0C-30E5-48E9-9CFD-80DDEA6201DF}"/>
              </a:ext>
            </a:extLst>
          </p:cNvPr>
          <p:cNvSpPr>
            <a:spLocks xmlns:a="http://schemas.openxmlformats.org/drawingml/2006/main" noGrp="1"/>
          </p:cNvSpPr>
          <p:nvPr/>
        </p:nvSpPr>
        <p:spPr>
          <a:xfrm xmlns:a="http://schemas.openxmlformats.org/drawingml/2006/main">
            <a:off x="609600" y="573405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02B45"/>
                </a:solidFill>
                <a:latin typeface="Arial"/>
                <a:ea typeface="Arial"/>
                <a:cs typeface="Arial"/>
              </a:defRPr>
            </a:pPr>
            <a:r>
              <a:rPr sz="2025" b="1">
                <a:solidFill>
                  <a:srgbClr val="102B45"/>
                </a:solidFill>
                <a:latin typeface="Arial"/>
                <a:ea typeface="Arial"/>
                <a:cs typeface="Arial"/>
              </a:rPr>
              <a:t>A good reconstruction does not guarantee good class separation</a:t>
            </a:r>
          </a:p>
        </p:txBody>
      </p:sp>
    </p:spTree>
    <p:extLst>
      <p:ext uri="{BB962C8B-B14F-4D97-AF65-F5344CB8AC3E}">
        <p14:creationId xmlns:p14="http://schemas.microsoft.com/office/powerpoint/2010/main" val="79914652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1F4E44A-53DA-445B-9A2D-EB49E1BDC438}"/>
              </a:ext>
            </a:extLst>
          </p:cNvPr>
          <p:cNvSpPr>
            <a:spLocks xmlns:a="http://schemas.openxmlformats.org/drawingml/2006/main" noGrp="1"/>
          </p:cNvSpPr>
          <p:nvPr/>
        </p:nvSpPr>
        <p:spPr>
          <a:xfrm xmlns:a="http://schemas.openxmlformats.org/drawingml/2006/main">
            <a:off x="609600" y="4000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B45"/>
                </a:solidFill>
                <a:latin typeface="Arial"/>
                <a:ea typeface="Arial"/>
                <a:cs typeface="Arial"/>
              </a:defRPr>
            </a:pPr>
            <a:r>
              <a:rPr sz="3225" b="1">
                <a:solidFill>
                  <a:srgbClr val="102B45"/>
                </a:solidFill>
                <a:latin typeface="Arial"/>
                <a:ea typeface="Arial"/>
                <a:cs typeface="Arial"/>
              </a:rPr>
              <a:t>Decomposition methods explored</a:t>
            </a:r>
          </a:p>
        </p:txBody>
      </p:sp>
      <p:sp>
        <p:nvSpPr>
          <p:cNvPr id="2" name="">
            <a:extLst xmlns:a="http://schemas.openxmlformats.org/drawingml/2006/main">
              <a:ext uri="{FF2B5EF4-FFF2-40B4-BE49-F238E27FC236}">
                <a16:creationId xmlns:a16="http://schemas.microsoft.com/office/drawing/2014/main" id="{A290AFA9-1724-4BA7-9153-42AEE084E082}"/>
              </a:ext>
            </a:extLst>
          </p:cNvPr>
          <p:cNvSpPr>
            <a:spLocks xmlns:a="http://schemas.openxmlformats.org/drawingml/2006/main" noGrp="1"/>
          </p:cNvSpPr>
          <p:nvPr/>
        </p:nvSpPr>
        <p:spPr>
          <a:xfrm xmlns:a="http://schemas.openxmlformats.org/drawingml/2006/main">
            <a:off x="609600" y="12096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66779"/>
                </a:solidFill>
                <a:latin typeface="Arial"/>
                <a:ea typeface="Arial"/>
                <a:cs typeface="Arial"/>
              </a:defRPr>
            </a:pPr>
            <a:r>
              <a:rPr sz="1725" b="0">
                <a:solidFill>
                  <a:srgbClr val="566779"/>
                </a:solidFill>
                <a:latin typeface="Arial"/>
                <a:ea typeface="Arial"/>
                <a:cs typeface="Arial"/>
              </a:rPr>
              <a:t>Different ways to summarize the same multidimensional signal</a:t>
            </a:r>
          </a:p>
        </p:txBody>
      </p:sp>
      <p:sp>
        <p:nvSpPr>
          <p:cNvPr id="3" name="">
            <a:extLst xmlns:a="http://schemas.openxmlformats.org/drawingml/2006/main">
              <a:ext uri="{FF2B5EF4-FFF2-40B4-BE49-F238E27FC236}">
                <a16:creationId xmlns:a16="http://schemas.microsoft.com/office/drawing/2014/main" id="{C9B83D1C-8575-4600-B7F7-60CD58DCBCD4}"/>
              </a:ext>
            </a:extLst>
          </p:cNvPr>
          <p:cNvSpPr>
            <a:spLocks xmlns:a="http://schemas.openxmlformats.org/drawingml/2006/main" noGrp="1"/>
          </p:cNvSpPr>
          <p:nvPr/>
        </p:nvSpPr>
        <p:spPr>
          <a:xfrm xmlns:a="http://schemas.openxmlformats.org/drawingml/2006/main">
            <a:off x="1114425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66779"/>
                </a:solidFill>
                <a:latin typeface="Arial"/>
                <a:ea typeface="Arial"/>
                <a:cs typeface="Arial"/>
              </a:defRPr>
            </a:pPr>
            <a:r>
              <a:rPr sz="1125" b="0">
                <a:solidFill>
                  <a:srgbClr val="566779"/>
                </a:solidFill>
                <a:latin typeface="Arial"/>
                <a:ea typeface="Arial"/>
                <a:cs typeface="Arial"/>
              </a:rPr>
              <a:t>08</a:t>
            </a:r>
          </a:p>
        </p:txBody>
      </p:sp>
      <p:graphicFrame>
        <p:nvGraphicFramePr>
          <p:cNvPr id="9" name=""/>
          <p:cNvGraphicFramePr/>
          <p:nvPr/>
        </p:nvGraphicFramePr>
        <p:xfrm>
          <a:off xmlns:a="http://schemas.openxmlformats.org/drawingml/2006/main" x="609600" y="1847850"/>
          <a:ext xmlns:a="http://schemas.openxmlformats.org/drawingml/2006/main" cx="10972800" cy="3714750"/>
        </p:xfrm>
        <a:graphic xmlns:a="http://schemas.openxmlformats.org/drawingml/2006/main">
          <a:graphicData uri="http://schemas.openxmlformats.org/drawingml/2006/table">
            <a:tbl>
              <a:tblPr/>
              <a:tblGrid>
                <a:gridCol w="3238500"/>
                <a:gridCol w="7734300"/>
              </a:tblGrid>
              <a:tr h="530679">
                <a:tc>
                  <a:txBody>
                    <a:bodyPr/>
                    <a:lstStyle/>
                    <a:p>
                      <a:r>
                        <a:rPr sz="1800" b="1">
                          <a:solidFill>
                            <a:srgbClr val="FFFFFF"/>
                          </a:solidFill>
                          <a:latin typeface="Arial"/>
                          <a:ea typeface="Arial"/>
                          <a:cs typeface="Arial"/>
                        </a:rPr>
                        <a:t>Method</a:t>
                      </a:r>
                    </a:p>
                  </a:txBody>
                  <a:tcPr marL="133350" marR="133350" marT="114300" marB="114300">
                    <a:solidFill>
                      <a:srgbClr val="102B45"/>
                    </a:solidFill>
                  </a:tcPr>
                </a:tc>
                <a:tc>
                  <a:txBody>
                    <a:bodyPr/>
                    <a:lstStyle/>
                    <a:p>
                      <a:r>
                        <a:rPr sz="1800" b="1">
                          <a:solidFill>
                            <a:srgbClr val="FFFFFF"/>
                          </a:solidFill>
                          <a:latin typeface="Arial"/>
                          <a:ea typeface="Arial"/>
                          <a:cs typeface="Arial"/>
                        </a:rPr>
                        <a:t>Simple explanation</a:t>
                      </a:r>
                    </a:p>
                  </a:txBody>
                  <a:tcPr marL="133350" marR="133350" marT="114300" marB="114300">
                    <a:solidFill>
                      <a:srgbClr val="102B45"/>
                    </a:solidFill>
                  </a:tcPr>
                </a:tc>
              </a:tr>
              <a:tr h="530679">
                <a:tc>
                  <a:txBody>
                    <a:bodyPr/>
                    <a:lstStyle/>
                    <a:p>
                      <a:r>
                        <a:rPr sz="1800">
                          <a:solidFill>
                            <a:srgbClr val="102B45"/>
                          </a:solidFill>
                          <a:latin typeface="Arial"/>
                          <a:ea typeface="Arial"/>
                          <a:cs typeface="Arial"/>
                        </a:rPr>
                        <a:t>PCA and NMF</a:t>
                      </a:r>
                    </a:p>
                  </a:txBody>
                  <a:tcPr marL="133350" marR="133350" marT="114300" marB="114300">
                    <a:solidFill>
                      <a:srgbClr val="EDF3F6"/>
                    </a:solidFill>
                  </a:tcPr>
                </a:tc>
                <a:tc>
                  <a:txBody>
                    <a:bodyPr/>
                    <a:lstStyle/>
                    <a:p>
                      <a:r>
                        <a:rPr sz="1800">
                          <a:solidFill>
                            <a:srgbClr val="102B45"/>
                          </a:solidFill>
                          <a:latin typeface="Arial"/>
                          <a:ea typeface="Arial"/>
                          <a:cs typeface="Arial"/>
                        </a:rPr>
                        <a:t>Compact patterns after flattening the EEG representation</a:t>
                      </a:r>
                    </a:p>
                  </a:txBody>
                  <a:tcPr marL="133350" marR="133350" marT="114300" marB="114300">
                    <a:solidFill>
                      <a:srgbClr val="EDF3F6"/>
                    </a:solidFill>
                  </a:tcPr>
                </a:tc>
              </a:tr>
              <a:tr h="530679">
                <a:tc>
                  <a:txBody>
                    <a:bodyPr/>
                    <a:lstStyle/>
                    <a:p>
                      <a:r>
                        <a:rPr sz="1800">
                          <a:solidFill>
                            <a:srgbClr val="102B45"/>
                          </a:solidFill>
                          <a:latin typeface="Arial"/>
                          <a:ea typeface="Arial"/>
                          <a:cs typeface="Arial"/>
                        </a:rPr>
                        <a:t>CP decomposition</a:t>
                      </a:r>
                    </a:p>
                  </a:txBody>
                  <a:tcPr marL="133350" marR="133350" marT="114300" marB="114300">
                    <a:solidFill>
                      <a:srgbClr val="FFFFFF"/>
                    </a:solidFill>
                  </a:tcPr>
                </a:tc>
                <a:tc>
                  <a:txBody>
                    <a:bodyPr/>
                    <a:lstStyle/>
                    <a:p>
                      <a:r>
                        <a:rPr sz="1800">
                          <a:solidFill>
                            <a:srgbClr val="102B45"/>
                          </a:solidFill>
                          <a:latin typeface="Arial"/>
                          <a:ea typeface="Arial"/>
                          <a:cs typeface="Arial"/>
                        </a:rPr>
                        <a:t>A sum of simple channel, frequency and time patterns</a:t>
                      </a:r>
                    </a:p>
                  </a:txBody>
                  <a:tcPr marL="133350" marR="133350" marT="114300" marB="114300">
                    <a:solidFill>
                      <a:srgbClr val="FFFFFF"/>
                    </a:solidFill>
                  </a:tcPr>
                </a:tc>
              </a:tr>
              <a:tr h="530679">
                <a:tc>
                  <a:txBody>
                    <a:bodyPr/>
                    <a:lstStyle/>
                    <a:p>
                      <a:r>
                        <a:rPr sz="1800">
                          <a:solidFill>
                            <a:srgbClr val="102B45"/>
                          </a:solidFill>
                          <a:latin typeface="Arial"/>
                          <a:ea typeface="Arial"/>
                          <a:cs typeface="Arial"/>
                        </a:rPr>
                        <a:t>Tucker / HOSVD</a:t>
                      </a:r>
                    </a:p>
                  </a:txBody>
                  <a:tcPr marL="133350" marR="133350" marT="114300" marB="114300">
                    <a:solidFill>
                      <a:srgbClr val="EDF3F6"/>
                    </a:solidFill>
                  </a:tcPr>
                </a:tc>
                <a:tc>
                  <a:txBody>
                    <a:bodyPr/>
                    <a:lstStyle/>
                    <a:p>
                      <a:r>
                        <a:rPr sz="1800">
                          <a:solidFill>
                            <a:srgbClr val="102B45"/>
                          </a:solidFill>
                          <a:latin typeface="Arial"/>
                          <a:ea typeface="Arial"/>
                          <a:cs typeface="Arial"/>
                        </a:rPr>
                        <a:t>Separate compressed axes linked by a smaller core</a:t>
                      </a:r>
                    </a:p>
                  </a:txBody>
                  <a:tcPr marL="133350" marR="133350" marT="114300" marB="114300">
                    <a:solidFill>
                      <a:srgbClr val="EDF3F6"/>
                    </a:solidFill>
                  </a:tcPr>
                </a:tc>
              </a:tr>
              <a:tr h="530679">
                <a:tc>
                  <a:txBody>
                    <a:bodyPr/>
                    <a:lstStyle/>
                    <a:p>
                      <a:r>
                        <a:rPr sz="1800">
                          <a:solidFill>
                            <a:srgbClr val="102B45"/>
                          </a:solidFill>
                          <a:latin typeface="Arial"/>
                          <a:ea typeface="Arial"/>
                          <a:cs typeface="Arial"/>
                        </a:rPr>
                        <a:t>Tensor Train (TT)</a:t>
                      </a:r>
                    </a:p>
                  </a:txBody>
                  <a:tcPr marL="133350" marR="133350" marT="114300" marB="114300">
                    <a:solidFill>
                      <a:srgbClr val="FFFFFF"/>
                    </a:solidFill>
                  </a:tcPr>
                </a:tc>
                <a:tc>
                  <a:txBody>
                    <a:bodyPr/>
                    <a:lstStyle/>
                    <a:p>
                      <a:r>
                        <a:rPr sz="1800">
                          <a:solidFill>
                            <a:srgbClr val="102B45"/>
                          </a:solidFill>
                          <a:latin typeface="Arial"/>
                          <a:ea typeface="Arial"/>
                          <a:cs typeface="Arial"/>
                        </a:rPr>
                        <a:t>A chain of smaller factors describing interactions</a:t>
                      </a:r>
                    </a:p>
                  </a:txBody>
                  <a:tcPr marL="133350" marR="133350" marT="114300" marB="114300">
                    <a:solidFill>
                      <a:srgbClr val="FFFFFF"/>
                    </a:solidFill>
                  </a:tcPr>
                </a:tc>
              </a:tr>
              <a:tr h="530679">
                <a:tc>
                  <a:txBody>
                    <a:bodyPr/>
                    <a:lstStyle/>
                    <a:p>
                      <a:r>
                        <a:rPr sz="1800">
                          <a:solidFill>
                            <a:srgbClr val="102B45"/>
                          </a:solidFill>
                          <a:latin typeface="Arial"/>
                          <a:ea typeface="Arial"/>
                          <a:cs typeface="Arial"/>
                        </a:rPr>
                        <a:t>Graph-based methods</a:t>
                      </a:r>
                    </a:p>
                  </a:txBody>
                  <a:tcPr marL="133350" marR="133350" marT="114300" marB="114300">
                    <a:solidFill>
                      <a:srgbClr val="EDF3F6"/>
                    </a:solidFill>
                  </a:tcPr>
                </a:tc>
                <a:tc>
                  <a:txBody>
                    <a:bodyPr/>
                    <a:lstStyle/>
                    <a:p>
                      <a:r>
                        <a:rPr sz="1800">
                          <a:solidFill>
                            <a:srgbClr val="102B45"/>
                          </a:solidFill>
                          <a:latin typeface="Arial"/>
                          <a:ea typeface="Arial"/>
                          <a:cs typeface="Arial"/>
                        </a:rPr>
                        <a:t>Encourage related electrodes to have similar patterns</a:t>
                      </a:r>
                    </a:p>
                  </a:txBody>
                  <a:tcPr marL="133350" marR="133350" marT="114300" marB="114300">
                    <a:solidFill>
                      <a:srgbClr val="EDF3F6"/>
                    </a:solidFill>
                  </a:tcPr>
                </a:tc>
              </a:tr>
              <a:tr h="530679">
                <a:tc>
                  <a:txBody>
                    <a:bodyPr/>
                    <a:lstStyle/>
                    <a:p>
                      <a:r>
                        <a:rPr sz="1800">
                          <a:solidFill>
                            <a:srgbClr val="102B45"/>
                          </a:solidFill>
                          <a:latin typeface="Arial"/>
                          <a:ea typeface="Arial"/>
                          <a:cs typeface="Arial"/>
                        </a:rPr>
                        <a:t>Supervised TT</a:t>
                      </a:r>
                    </a:p>
                  </a:txBody>
                  <a:tcPr marL="133350" marR="133350" marT="114300" marB="114300">
                    <a:solidFill>
                      <a:srgbClr val="FFFFFF"/>
                    </a:solidFill>
                  </a:tcPr>
                </a:tc>
                <a:tc>
                  <a:txBody>
                    <a:bodyPr/>
                    <a:lstStyle/>
                    <a:p>
                      <a:r>
                        <a:rPr sz="1800">
                          <a:solidFill>
                            <a:srgbClr val="102B45"/>
                          </a:solidFill>
                          <a:latin typeface="Arial"/>
                          <a:ea typeface="Arial"/>
                          <a:cs typeface="Arial"/>
                        </a:rPr>
                        <a:t>Learn tensor factors using diagnosis labels</a:t>
                      </a:r>
                    </a:p>
                  </a:txBody>
                  <a:tcPr marL="133350" marR="133350" marT="114300" marB="11430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8835C566-AA5C-4024-9042-FE6F92F40A9F}"/>
              </a:ext>
            </a:extLst>
          </p:cNvPr>
          <p:cNvSpPr>
            <a:spLocks xmlns:a="http://schemas.openxmlformats.org/drawingml/2006/main" noGrp="1"/>
          </p:cNvSpPr>
          <p:nvPr/>
        </p:nvSpPr>
        <p:spPr>
          <a:xfrm xmlns:a="http://schemas.openxmlformats.org/drawingml/2006/main">
            <a:off x="609600" y="6381750"/>
            <a:ext cx="1038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66779"/>
                </a:solidFill>
                <a:latin typeface="Arial"/>
                <a:ea typeface="Arial"/>
                <a:cs typeface="Arial"/>
              </a:defRPr>
            </a:pPr>
            <a:r>
              <a:rPr sz="1125" b="0">
                <a:solidFill>
                  <a:srgbClr val="566779"/>
                </a:solidFill>
                <a:latin typeface="Arial"/>
                <a:ea typeface="Arial"/>
                <a:cs typeface="Arial"/>
              </a:rPr>
              <a:t>Early graph-CP results have implementation caveats. V2 used graph smoothing followed by TT.</a:t>
            </a:r>
          </a:p>
        </p:txBody>
      </p:sp>
    </p:spTree>
    <p:extLst>
      <p:ext uri="{BB962C8B-B14F-4D97-AF65-F5344CB8AC3E}">
        <p14:creationId xmlns:p14="http://schemas.microsoft.com/office/powerpoint/2010/main" val="137874342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6CA037C-6231-4F43-B5F1-FD744FF5EFE9}"/>
              </a:ext>
            </a:extLst>
          </p:cNvPr>
          <p:cNvSpPr>
            <a:spLocks xmlns:a="http://schemas.openxmlformats.org/drawingml/2006/main" noGrp="1"/>
          </p:cNvSpPr>
          <p:nvPr/>
        </p:nvSpPr>
        <p:spPr>
          <a:xfrm xmlns:a="http://schemas.openxmlformats.org/drawingml/2006/main">
            <a:off x="609600" y="4000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B45"/>
                </a:solidFill>
                <a:latin typeface="Arial"/>
                <a:ea typeface="Arial"/>
                <a:cs typeface="Arial"/>
              </a:defRPr>
            </a:pPr>
            <a:r>
              <a:rPr sz="3225" b="1">
                <a:solidFill>
                  <a:srgbClr val="102B45"/>
                </a:solidFill>
                <a:latin typeface="Arial"/>
                <a:ea typeface="Arial"/>
                <a:cs typeface="Arial"/>
              </a:rPr>
              <a:t>Evaluation and the meaning of each metric</a:t>
            </a:r>
          </a:p>
        </p:txBody>
      </p:sp>
      <p:sp>
        <p:nvSpPr>
          <p:cNvPr id="2" name="">
            <a:extLst xmlns:a="http://schemas.openxmlformats.org/drawingml/2006/main">
              <a:ext uri="{FF2B5EF4-FFF2-40B4-BE49-F238E27FC236}">
                <a16:creationId xmlns:a16="http://schemas.microsoft.com/office/drawing/2014/main" id="{C5397635-140C-4461-83C7-261A62BBC608}"/>
              </a:ext>
            </a:extLst>
          </p:cNvPr>
          <p:cNvSpPr>
            <a:spLocks xmlns:a="http://schemas.openxmlformats.org/drawingml/2006/main" noGrp="1"/>
          </p:cNvSpPr>
          <p:nvPr/>
        </p:nvSpPr>
        <p:spPr>
          <a:xfrm xmlns:a="http://schemas.openxmlformats.org/drawingml/2006/main">
            <a:off x="609600" y="12096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66779"/>
                </a:solidFill>
                <a:latin typeface="Arial"/>
                <a:ea typeface="Arial"/>
                <a:cs typeface="Arial"/>
              </a:defRPr>
            </a:pPr>
            <a:r>
              <a:rPr sz="1725" b="0">
                <a:solidFill>
                  <a:srgbClr val="566779"/>
                </a:solidFill>
                <a:latin typeface="Arial"/>
                <a:ea typeface="Arial"/>
                <a:cs typeface="Arial"/>
              </a:rPr>
              <a:t>Every test prediction belongs to a person excluded from model fitting</a:t>
            </a:r>
          </a:p>
        </p:txBody>
      </p:sp>
      <p:sp>
        <p:nvSpPr>
          <p:cNvPr id="3" name="">
            <a:extLst xmlns:a="http://schemas.openxmlformats.org/drawingml/2006/main">
              <a:ext uri="{FF2B5EF4-FFF2-40B4-BE49-F238E27FC236}">
                <a16:creationId xmlns:a16="http://schemas.microsoft.com/office/drawing/2014/main" id="{3556E263-E939-4443-9920-AAAA9EB0503A}"/>
              </a:ext>
            </a:extLst>
          </p:cNvPr>
          <p:cNvSpPr>
            <a:spLocks xmlns:a="http://schemas.openxmlformats.org/drawingml/2006/main" noGrp="1"/>
          </p:cNvSpPr>
          <p:nvPr/>
        </p:nvSpPr>
        <p:spPr>
          <a:xfrm xmlns:a="http://schemas.openxmlformats.org/drawingml/2006/main">
            <a:off x="1114425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66779"/>
                </a:solidFill>
                <a:latin typeface="Arial"/>
                <a:ea typeface="Arial"/>
                <a:cs typeface="Arial"/>
              </a:defRPr>
            </a:pPr>
            <a:r>
              <a:rPr sz="1125" b="0">
                <a:solidFill>
                  <a:srgbClr val="566779"/>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7A8C7E6C-29FF-4B4E-A225-4C1B8D3EF346}"/>
              </a:ext>
            </a:extLst>
          </p:cNvPr>
          <p:cNvSpPr>
            <a:spLocks xmlns:a="http://schemas.openxmlformats.org/drawingml/2006/main" noGrp="1"/>
          </p:cNvSpPr>
          <p:nvPr/>
        </p:nvSpPr>
        <p:spPr>
          <a:xfrm xmlns:a="http://schemas.openxmlformats.org/drawingml/2006/main">
            <a:off x="609600" y="1866900"/>
            <a:ext cx="1066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2B45"/>
                </a:solidFill>
                <a:latin typeface="Arial"/>
                <a:ea typeface="Arial"/>
                <a:cs typeface="Arial"/>
              </a:defRPr>
            </a:pPr>
            <a:r>
              <a:rPr sz="2175" b="1">
                <a:solidFill>
                  <a:srgbClr val="102B45"/>
                </a:solidFill>
                <a:latin typeface="Arial"/>
                <a:ea typeface="Arial"/>
                <a:cs typeface="Arial"/>
              </a:rPr>
              <a:t>Accuracy</a:t>
            </a:r>
          </a:p>
        </p:txBody>
      </p:sp>
      <p:sp>
        <p:nvSpPr>
          <p:cNvPr id="5" name="">
            <a:extLst xmlns:a="http://schemas.openxmlformats.org/drawingml/2006/main">
              <a:ext uri="{FF2B5EF4-FFF2-40B4-BE49-F238E27FC236}">
                <a16:creationId xmlns:a16="http://schemas.microsoft.com/office/drawing/2014/main" id="{6399A8BC-B57C-4AD2-8477-B9437A2011A6}"/>
              </a:ext>
            </a:extLst>
          </p:cNvPr>
          <p:cNvSpPr>
            <a:spLocks xmlns:a="http://schemas.openxmlformats.org/drawingml/2006/main" noGrp="1"/>
          </p:cNvSpPr>
          <p:nvPr/>
        </p:nvSpPr>
        <p:spPr>
          <a:xfrm xmlns:a="http://schemas.openxmlformats.org/drawingml/2006/main">
            <a:off x="609600" y="2276475"/>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66779"/>
                </a:solidFill>
                <a:latin typeface="Arial"/>
                <a:ea typeface="Arial"/>
                <a:cs typeface="Arial"/>
              </a:defRPr>
            </a:pPr>
            <a:r>
              <a:rPr sz="1875" b="0">
                <a:solidFill>
                  <a:srgbClr val="566779"/>
                </a:solidFill>
                <a:latin typeface="Arial"/>
                <a:ea typeface="Arial"/>
                <a:cs typeface="Arial"/>
              </a:rPr>
              <a:t>The fraction of all participants classified correctly.</a:t>
            </a:r>
          </a:p>
        </p:txBody>
      </p:sp>
      <p:sp>
        <p:nvSpPr>
          <p:cNvPr id="6" name="">
            <a:extLst xmlns:a="http://schemas.openxmlformats.org/drawingml/2006/main">
              <a:ext uri="{FF2B5EF4-FFF2-40B4-BE49-F238E27FC236}">
                <a16:creationId xmlns:a16="http://schemas.microsoft.com/office/drawing/2014/main" id="{F9D55140-5C21-4A30-AB6B-D1F6D02D1009}"/>
              </a:ext>
            </a:extLst>
          </p:cNvPr>
          <p:cNvSpPr>
            <a:spLocks xmlns:a="http://schemas.openxmlformats.org/drawingml/2006/main" noGrp="1"/>
          </p:cNvSpPr>
          <p:nvPr/>
        </p:nvSpPr>
        <p:spPr>
          <a:xfrm xmlns:a="http://schemas.openxmlformats.org/drawingml/2006/main">
            <a:off x="609600" y="2847975"/>
            <a:ext cx="1066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2B45"/>
                </a:solidFill>
                <a:latin typeface="Arial"/>
                <a:ea typeface="Arial"/>
                <a:cs typeface="Arial"/>
              </a:defRPr>
            </a:pPr>
            <a:r>
              <a:rPr sz="2175" b="1">
                <a:solidFill>
                  <a:srgbClr val="102B45"/>
                </a:solidFill>
                <a:latin typeface="Arial"/>
                <a:ea typeface="Arial"/>
                <a:cs typeface="Arial"/>
              </a:rPr>
              <a:t>Recall for a diagnosis</a:t>
            </a:r>
          </a:p>
        </p:txBody>
      </p:sp>
      <p:sp>
        <p:nvSpPr>
          <p:cNvPr id="7" name="">
            <a:extLst xmlns:a="http://schemas.openxmlformats.org/drawingml/2006/main">
              <a:ext uri="{FF2B5EF4-FFF2-40B4-BE49-F238E27FC236}">
                <a16:creationId xmlns:a16="http://schemas.microsoft.com/office/drawing/2014/main" id="{FA243F78-58D3-4937-A801-21D0BF0B03A7}"/>
              </a:ext>
            </a:extLst>
          </p:cNvPr>
          <p:cNvSpPr>
            <a:spLocks xmlns:a="http://schemas.openxmlformats.org/drawingml/2006/main" noGrp="1"/>
          </p:cNvSpPr>
          <p:nvPr/>
        </p:nvSpPr>
        <p:spPr>
          <a:xfrm xmlns:a="http://schemas.openxmlformats.org/drawingml/2006/main">
            <a:off x="609600" y="3257550"/>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66779"/>
                </a:solidFill>
                <a:latin typeface="Arial"/>
                <a:ea typeface="Arial"/>
                <a:cs typeface="Arial"/>
              </a:defRPr>
            </a:pPr>
            <a:r>
              <a:rPr sz="1875" b="0">
                <a:solidFill>
                  <a:srgbClr val="566779"/>
                </a:solidFill>
                <a:latin typeface="Arial"/>
                <a:ea typeface="Arial"/>
                <a:cs typeface="Arial"/>
              </a:rPr>
              <a:t>The fraction of people with that diagnosis correctly identified.</a:t>
            </a:r>
          </a:p>
        </p:txBody>
      </p:sp>
      <p:sp>
        <p:nvSpPr>
          <p:cNvPr id="8" name="">
            <a:extLst xmlns:a="http://schemas.openxmlformats.org/drawingml/2006/main">
              <a:ext uri="{FF2B5EF4-FFF2-40B4-BE49-F238E27FC236}">
                <a16:creationId xmlns:a16="http://schemas.microsoft.com/office/drawing/2014/main" id="{99B48CB4-A788-419F-B4C3-C070351040A3}"/>
              </a:ext>
            </a:extLst>
          </p:cNvPr>
          <p:cNvSpPr>
            <a:spLocks xmlns:a="http://schemas.openxmlformats.org/drawingml/2006/main" noGrp="1"/>
          </p:cNvSpPr>
          <p:nvPr/>
        </p:nvSpPr>
        <p:spPr>
          <a:xfrm xmlns:a="http://schemas.openxmlformats.org/drawingml/2006/main">
            <a:off x="609600" y="3829050"/>
            <a:ext cx="1066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2B45"/>
                </a:solidFill>
                <a:latin typeface="Arial"/>
                <a:ea typeface="Arial"/>
                <a:cs typeface="Arial"/>
              </a:defRPr>
            </a:pPr>
            <a:r>
              <a:rPr sz="2175" b="1">
                <a:solidFill>
                  <a:srgbClr val="102B45"/>
                </a:solidFill>
                <a:latin typeface="Arial"/>
                <a:ea typeface="Arial"/>
                <a:cs typeface="Arial"/>
              </a:rPr>
              <a:t>Balanced accuracy</a:t>
            </a:r>
          </a:p>
        </p:txBody>
      </p:sp>
      <p:sp>
        <p:nvSpPr>
          <p:cNvPr id="9" name="">
            <a:extLst xmlns:a="http://schemas.openxmlformats.org/drawingml/2006/main">
              <a:ext uri="{FF2B5EF4-FFF2-40B4-BE49-F238E27FC236}">
                <a16:creationId xmlns:a16="http://schemas.microsoft.com/office/drawing/2014/main" id="{0187B5AF-FC0C-4850-947C-BB26C7E34206}"/>
              </a:ext>
            </a:extLst>
          </p:cNvPr>
          <p:cNvSpPr>
            <a:spLocks xmlns:a="http://schemas.openxmlformats.org/drawingml/2006/main" noGrp="1"/>
          </p:cNvSpPr>
          <p:nvPr/>
        </p:nvSpPr>
        <p:spPr>
          <a:xfrm xmlns:a="http://schemas.openxmlformats.org/drawingml/2006/main">
            <a:off x="609600" y="4238625"/>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66779"/>
                </a:solidFill>
                <a:latin typeface="Arial"/>
                <a:ea typeface="Arial"/>
                <a:cs typeface="Arial"/>
              </a:defRPr>
            </a:pPr>
            <a:r>
              <a:rPr sz="1875" b="0">
                <a:solidFill>
                  <a:srgbClr val="566779"/>
                </a:solidFill>
                <a:latin typeface="Arial"/>
                <a:ea typeface="Arial"/>
                <a:cs typeface="Arial"/>
              </a:rPr>
              <a:t>The average of AD, FTD and CN recall. Each diagnosis counts equally.</a:t>
            </a:r>
          </a:p>
        </p:txBody>
      </p:sp>
      <p:sp>
        <p:nvSpPr>
          <p:cNvPr id="10" name="">
            <a:extLst xmlns:a="http://schemas.openxmlformats.org/drawingml/2006/main">
              <a:ext uri="{FF2B5EF4-FFF2-40B4-BE49-F238E27FC236}">
                <a16:creationId xmlns:a16="http://schemas.microsoft.com/office/drawing/2014/main" id="{F7E9C328-BF63-41B9-83D8-31B9640081A0}"/>
              </a:ext>
            </a:extLst>
          </p:cNvPr>
          <p:cNvSpPr>
            <a:spLocks xmlns:a="http://schemas.openxmlformats.org/drawingml/2006/main" noGrp="1"/>
          </p:cNvSpPr>
          <p:nvPr/>
        </p:nvSpPr>
        <p:spPr>
          <a:xfrm xmlns:a="http://schemas.openxmlformats.org/drawingml/2006/main">
            <a:off x="609600" y="4810125"/>
            <a:ext cx="1066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2B45"/>
                </a:solidFill>
                <a:latin typeface="Arial"/>
                <a:ea typeface="Arial"/>
                <a:cs typeface="Arial"/>
              </a:defRPr>
            </a:pPr>
            <a:r>
              <a:rPr sz="2175" b="1">
                <a:solidFill>
                  <a:srgbClr val="102B45"/>
                </a:solidFill>
                <a:latin typeface="Arial"/>
                <a:ea typeface="Arial"/>
                <a:cs typeface="Arial"/>
              </a:rPr>
              <a:t>Nested validation</a:t>
            </a:r>
          </a:p>
        </p:txBody>
      </p:sp>
      <p:sp>
        <p:nvSpPr>
          <p:cNvPr id="11" name="">
            <a:extLst xmlns:a="http://schemas.openxmlformats.org/drawingml/2006/main">
              <a:ext uri="{FF2B5EF4-FFF2-40B4-BE49-F238E27FC236}">
                <a16:creationId xmlns:a16="http://schemas.microsoft.com/office/drawing/2014/main" id="{1893CD29-A8E8-4BF4-82FA-5B1748596B34}"/>
              </a:ext>
            </a:extLst>
          </p:cNvPr>
          <p:cNvSpPr>
            <a:spLocks xmlns:a="http://schemas.openxmlformats.org/drawingml/2006/main" noGrp="1"/>
          </p:cNvSpPr>
          <p:nvPr/>
        </p:nvSpPr>
        <p:spPr>
          <a:xfrm xmlns:a="http://schemas.openxmlformats.org/drawingml/2006/main">
            <a:off x="609600" y="5219700"/>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66779"/>
                </a:solidFill>
                <a:latin typeface="Arial"/>
                <a:ea typeface="Arial"/>
                <a:cs typeface="Arial"/>
              </a:defRPr>
            </a:pPr>
            <a:r>
              <a:rPr sz="1875" b="0">
                <a:solidFill>
                  <a:srgbClr val="566779"/>
                </a:solidFill>
                <a:latin typeface="Arial"/>
                <a:ea typeface="Arial"/>
                <a:cs typeface="Arial"/>
              </a:rPr>
              <a:t>Inner folds choose settings. Outer folds estimate performance on held-out people.</a:t>
            </a:r>
          </a:p>
        </p:txBody>
      </p:sp>
      <p:sp>
        <p:nvSpPr>
          <p:cNvPr id="12" name="">
            <a:extLst xmlns:a="http://schemas.openxmlformats.org/drawingml/2006/main">
              <a:ext uri="{FF2B5EF4-FFF2-40B4-BE49-F238E27FC236}">
                <a16:creationId xmlns:a16="http://schemas.microsoft.com/office/drawing/2014/main" id="{36360907-F47D-480E-AF2E-A99437174192}"/>
              </a:ext>
            </a:extLst>
          </p:cNvPr>
          <p:cNvSpPr>
            <a:spLocks xmlns:a="http://schemas.openxmlformats.org/drawingml/2006/main" noGrp="1"/>
          </p:cNvSpPr>
          <p:nvPr/>
        </p:nvSpPr>
        <p:spPr>
          <a:xfrm xmlns:a="http://schemas.openxmlformats.org/drawingml/2006/main">
            <a:off x="609600" y="6381750"/>
            <a:ext cx="1038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66779"/>
                </a:solidFill>
                <a:latin typeface="Arial"/>
                <a:ea typeface="Arial"/>
                <a:cs typeface="Arial"/>
              </a:defRPr>
            </a:pPr>
            <a:r>
              <a:rPr sz="1125" b="0">
                <a:solidFill>
                  <a:srgbClr val="566779"/>
                </a:solidFill>
                <a:latin typeface="Arial"/>
                <a:ea typeface="Arial"/>
                <a:cs typeface="Arial"/>
              </a:rPr>
              <a:t>Chance balanced accuracy for three classes: 33.3%. Reported means average three CV repetitions.</a:t>
            </a:r>
          </a:p>
        </p:txBody>
      </p:sp>
    </p:spTree>
    <p:extLst>
      <p:ext uri="{BB962C8B-B14F-4D97-AF65-F5344CB8AC3E}">
        <p14:creationId xmlns:p14="http://schemas.microsoft.com/office/powerpoint/2010/main" val="38278600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7ADA5D5-A9E5-4573-B07C-73BB5DEA8744}"/>
              </a:ext>
            </a:extLst>
          </p:cNvPr>
          <p:cNvSpPr>
            <a:spLocks xmlns:a="http://schemas.openxmlformats.org/drawingml/2006/main" noGrp="1"/>
          </p:cNvSpPr>
          <p:nvPr/>
        </p:nvSpPr>
        <p:spPr>
          <a:xfrm xmlns:a="http://schemas.openxmlformats.org/drawingml/2006/main">
            <a:off x="609600" y="4000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B45"/>
                </a:solidFill>
                <a:latin typeface="Arial"/>
                <a:ea typeface="Arial"/>
                <a:cs typeface="Arial"/>
              </a:defRPr>
            </a:pPr>
            <a:r>
              <a:rPr sz="3225" b="1">
                <a:solidFill>
                  <a:srgbClr val="102B45"/>
                </a:solidFill>
                <a:latin typeface="Arial"/>
                <a:ea typeface="Arial"/>
                <a:cs typeface="Arial"/>
              </a:rPr>
              <a:t>Experiments completed</a:t>
            </a:r>
          </a:p>
        </p:txBody>
      </p:sp>
      <p:sp>
        <p:nvSpPr>
          <p:cNvPr id="2" name="">
            <a:extLst xmlns:a="http://schemas.openxmlformats.org/drawingml/2006/main">
              <a:ext uri="{FF2B5EF4-FFF2-40B4-BE49-F238E27FC236}">
                <a16:creationId xmlns:a16="http://schemas.microsoft.com/office/drawing/2014/main" id="{BBF1A385-515C-4284-9EC2-267E5336857D}"/>
              </a:ext>
            </a:extLst>
          </p:cNvPr>
          <p:cNvSpPr>
            <a:spLocks xmlns:a="http://schemas.openxmlformats.org/drawingml/2006/main" noGrp="1"/>
          </p:cNvSpPr>
          <p:nvPr/>
        </p:nvSpPr>
        <p:spPr>
          <a:xfrm xmlns:a="http://schemas.openxmlformats.org/drawingml/2006/main">
            <a:off x="609600" y="12096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66779"/>
                </a:solidFill>
                <a:latin typeface="Arial"/>
                <a:ea typeface="Arial"/>
                <a:cs typeface="Arial"/>
              </a:defRPr>
            </a:pPr>
            <a:r>
              <a:rPr sz="1725" b="0">
                <a:solidFill>
                  <a:srgbClr val="566779"/>
                </a:solidFill>
                <a:latin typeface="Arial"/>
                <a:ea typeface="Arial"/>
                <a:cs typeface="Arial"/>
              </a:rPr>
              <a:t>The project tested several representations and learning strategies</a:t>
            </a:r>
          </a:p>
        </p:txBody>
      </p:sp>
      <p:sp>
        <p:nvSpPr>
          <p:cNvPr id="3" name="">
            <a:extLst xmlns:a="http://schemas.openxmlformats.org/drawingml/2006/main">
              <a:ext uri="{FF2B5EF4-FFF2-40B4-BE49-F238E27FC236}">
                <a16:creationId xmlns:a16="http://schemas.microsoft.com/office/drawing/2014/main" id="{BD19765E-AA61-4868-9A71-D07E57C85EAA}"/>
              </a:ext>
            </a:extLst>
          </p:cNvPr>
          <p:cNvSpPr>
            <a:spLocks xmlns:a="http://schemas.openxmlformats.org/drawingml/2006/main" noGrp="1"/>
          </p:cNvSpPr>
          <p:nvPr/>
        </p:nvSpPr>
        <p:spPr>
          <a:xfrm xmlns:a="http://schemas.openxmlformats.org/drawingml/2006/main">
            <a:off x="1114425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66779"/>
                </a:solidFill>
                <a:latin typeface="Arial"/>
                <a:ea typeface="Arial"/>
                <a:cs typeface="Arial"/>
              </a:defRPr>
            </a:pPr>
            <a:r>
              <a:rPr sz="1125" b="0">
                <a:solidFill>
                  <a:srgbClr val="566779"/>
                </a:solidFill>
                <a:latin typeface="Arial"/>
                <a:ea typeface="Arial"/>
                <a:cs typeface="Arial"/>
              </a:rPr>
              <a:t>10</a:t>
            </a:r>
          </a:p>
        </p:txBody>
      </p:sp>
      <p:graphicFrame>
        <p:nvGraphicFramePr>
          <p:cNvPr id="10" name=""/>
          <p:cNvGraphicFramePr/>
          <p:nvPr/>
        </p:nvGraphicFramePr>
        <p:xfrm>
          <a:off xmlns:a="http://schemas.openxmlformats.org/drawingml/2006/main" x="609600" y="1876425"/>
          <a:ext xmlns:a="http://schemas.openxmlformats.org/drawingml/2006/main" cx="10972800" cy="3476625"/>
        </p:xfrm>
        <a:graphic xmlns:a="http://schemas.openxmlformats.org/drawingml/2006/main">
          <a:graphicData uri="http://schemas.openxmlformats.org/drawingml/2006/table">
            <a:tbl>
              <a:tblPr/>
              <a:tblGrid>
                <a:gridCol w="2047875"/>
                <a:gridCol w="5448300"/>
                <a:gridCol w="3476625"/>
              </a:tblGrid>
              <a:tr h="579438">
                <a:tc>
                  <a:txBody>
                    <a:bodyPr/>
                    <a:lstStyle/>
                    <a:p>
                      <a:r>
                        <a:rPr sz="1650" b="1">
                          <a:solidFill>
                            <a:srgbClr val="FFFFFF"/>
                          </a:solidFill>
                          <a:latin typeface="Arial"/>
                          <a:ea typeface="Arial"/>
                          <a:cs typeface="Arial"/>
                        </a:rPr>
                        <a:t>Run</a:t>
                      </a:r>
                    </a:p>
                  </a:txBody>
                  <a:tcPr marL="133350" marR="133350" marT="114300" marB="114300">
                    <a:solidFill>
                      <a:srgbClr val="102B45"/>
                    </a:solidFill>
                  </a:tcPr>
                </a:tc>
                <a:tc>
                  <a:txBody>
                    <a:bodyPr/>
                    <a:lstStyle/>
                    <a:p>
                      <a:r>
                        <a:rPr sz="1650" b="1">
                          <a:solidFill>
                            <a:srgbClr val="FFFFFF"/>
                          </a:solidFill>
                          <a:latin typeface="Arial"/>
                          <a:ea typeface="Arial"/>
                          <a:cs typeface="Arial"/>
                        </a:rPr>
                        <a:t>Main question</a:t>
                      </a:r>
                    </a:p>
                  </a:txBody>
                  <a:tcPr marL="133350" marR="133350" marT="114300" marB="114300">
                    <a:solidFill>
                      <a:srgbClr val="102B45"/>
                    </a:solidFill>
                  </a:tcPr>
                </a:tc>
                <a:tc>
                  <a:txBody>
                    <a:bodyPr/>
                    <a:lstStyle/>
                    <a:p>
                      <a:r>
                        <a:rPr sz="1650" b="1">
                          <a:solidFill>
                            <a:srgbClr val="FFFFFF"/>
                          </a:solidFill>
                          <a:latin typeface="Arial"/>
                          <a:ea typeface="Arial"/>
                          <a:cs typeface="Arial"/>
                        </a:rPr>
                        <a:t>Reported balanced accuracy</a:t>
                      </a:r>
                    </a:p>
                  </a:txBody>
                  <a:tcPr marL="133350" marR="133350" marT="114300" marB="114300">
                    <a:solidFill>
                      <a:srgbClr val="102B45"/>
                    </a:solidFill>
                  </a:tcPr>
                </a:tc>
              </a:tr>
              <a:tr h="579438">
                <a:tc>
                  <a:txBody>
                    <a:bodyPr/>
                    <a:lstStyle/>
                    <a:p>
                      <a:r>
                        <a:rPr sz="1650">
                          <a:solidFill>
                            <a:srgbClr val="102B45"/>
                          </a:solidFill>
                          <a:latin typeface="Arial"/>
                          <a:ea typeface="Arial"/>
                          <a:cs typeface="Arial"/>
                        </a:rPr>
                        <a:t>V1 · 69 people</a:t>
                      </a:r>
                    </a:p>
                  </a:txBody>
                  <a:tcPr marL="133350" marR="133350" marT="114300" marB="114300">
                    <a:solidFill>
                      <a:srgbClr val="EDF3F6"/>
                    </a:solidFill>
                  </a:tcPr>
                </a:tc>
                <a:tc>
                  <a:txBody>
                    <a:bodyPr/>
                    <a:lstStyle/>
                    <a:p>
                      <a:r>
                        <a:rPr sz="1650">
                          <a:solidFill>
                            <a:srgbClr val="102B45"/>
                          </a:solidFill>
                          <a:latin typeface="Arial"/>
                          <a:ea typeface="Arial"/>
                          <a:cs typeface="Arial"/>
                        </a:rPr>
                        <a:t>Do compact spectral factors help?</a:t>
                      </a:r>
                    </a:p>
                  </a:txBody>
                  <a:tcPr marL="133350" marR="133350" marT="114300" marB="114300">
                    <a:solidFill>
                      <a:srgbClr val="EDF3F6"/>
                    </a:solidFill>
                  </a:tcPr>
                </a:tc>
                <a:tc>
                  <a:txBody>
                    <a:bodyPr/>
                    <a:lstStyle/>
                    <a:p>
                      <a:r>
                        <a:rPr sz="1650">
                          <a:solidFill>
                            <a:srgbClr val="102B45"/>
                          </a:solidFill>
                          <a:latin typeface="Arial"/>
                          <a:ea typeface="Arial"/>
                          <a:cs typeface="Arial"/>
                        </a:rPr>
                        <a:t>54.1% best exploratory result</a:t>
                      </a:r>
                    </a:p>
                  </a:txBody>
                  <a:tcPr marL="133350" marR="133350" marT="114300" marB="114300">
                    <a:solidFill>
                      <a:srgbClr val="EDF3F6"/>
                    </a:solidFill>
                  </a:tcPr>
                </a:tc>
              </a:tr>
              <a:tr h="579438">
                <a:tc>
                  <a:txBody>
                    <a:bodyPr/>
                    <a:lstStyle/>
                    <a:p>
                      <a:r>
                        <a:rPr sz="1650">
                          <a:solidFill>
                            <a:srgbClr val="102B45"/>
                          </a:solidFill>
                          <a:latin typeface="Arial"/>
                          <a:ea typeface="Arial"/>
                          <a:cs typeface="Arial"/>
                        </a:rPr>
                        <a:t>V2 · 69 people</a:t>
                      </a:r>
                    </a:p>
                  </a:txBody>
                  <a:tcPr marL="133350" marR="133350" marT="114300" marB="114300">
                    <a:solidFill>
                      <a:srgbClr val="FFFFFF"/>
                    </a:solidFill>
                  </a:tcPr>
                </a:tc>
                <a:tc>
                  <a:txBody>
                    <a:bodyPr/>
                    <a:lstStyle/>
                    <a:p>
                      <a:r>
                        <a:rPr sz="1650">
                          <a:solidFill>
                            <a:srgbClr val="102B45"/>
                          </a:solidFill>
                          <a:latin typeface="Arial"/>
                          <a:ea typeface="Arial"/>
                          <a:cs typeface="Arial"/>
                        </a:rPr>
                        <a:t>Do corrected TT / Tucker features help?</a:t>
                      </a:r>
                    </a:p>
                  </a:txBody>
                  <a:tcPr marL="133350" marR="133350" marT="114300" marB="114300">
                    <a:solidFill>
                      <a:srgbClr val="FFFFFF"/>
                    </a:solidFill>
                  </a:tcPr>
                </a:tc>
                <a:tc>
                  <a:txBody>
                    <a:bodyPr/>
                    <a:lstStyle/>
                    <a:p>
                      <a:r>
                        <a:rPr sz="1650">
                          <a:solidFill>
                            <a:srgbClr val="102B45"/>
                          </a:solidFill>
                          <a:latin typeface="Arial"/>
                          <a:ea typeface="Arial"/>
                          <a:cs typeface="Arial"/>
                        </a:rPr>
                        <a:t>47.3% selected pipeline</a:t>
                      </a:r>
                    </a:p>
                  </a:txBody>
                  <a:tcPr marL="133350" marR="133350" marT="114300" marB="114300">
                    <a:solidFill>
                      <a:srgbClr val="FFFFFF"/>
                    </a:solidFill>
                  </a:tcPr>
                </a:tc>
              </a:tr>
              <a:tr h="579438">
                <a:tc>
                  <a:txBody>
                    <a:bodyPr/>
                    <a:lstStyle/>
                    <a:p>
                      <a:r>
                        <a:rPr sz="1650">
                          <a:solidFill>
                            <a:srgbClr val="102B45"/>
                          </a:solidFill>
                          <a:latin typeface="Arial"/>
                          <a:ea typeface="Arial"/>
                          <a:cs typeface="Arial"/>
                        </a:rPr>
                        <a:t>V3 · 88 people</a:t>
                      </a:r>
                    </a:p>
                  </a:txBody>
                  <a:tcPr marL="133350" marR="133350" marT="114300" marB="114300">
                    <a:solidFill>
                      <a:srgbClr val="EDF3F6"/>
                    </a:solidFill>
                  </a:tcPr>
                </a:tc>
                <a:tc>
                  <a:txBody>
                    <a:bodyPr/>
                    <a:lstStyle/>
                    <a:p>
                      <a:r>
                        <a:rPr sz="1650">
                          <a:solidFill>
                            <a:srgbClr val="102B45"/>
                          </a:solidFill>
                          <a:latin typeface="Arial"/>
                          <a:ea typeface="Arial"/>
                          <a:cs typeface="Arial"/>
                        </a:rPr>
                        <a:t>Do more people and waveform factors help?</a:t>
                      </a:r>
                    </a:p>
                  </a:txBody>
                  <a:tcPr marL="133350" marR="133350" marT="114300" marB="114300">
                    <a:solidFill>
                      <a:srgbClr val="EDF3F6"/>
                    </a:solidFill>
                  </a:tcPr>
                </a:tc>
                <a:tc>
                  <a:txBody>
                    <a:bodyPr/>
                    <a:lstStyle/>
                    <a:p>
                      <a:r>
                        <a:rPr sz="1650">
                          <a:solidFill>
                            <a:srgbClr val="102B45"/>
                          </a:solidFill>
                          <a:latin typeface="Arial"/>
                          <a:ea typeface="Arial"/>
                          <a:cs typeface="Arial"/>
                        </a:rPr>
                        <a:t>52.0% selected pipeline</a:t>
                      </a:r>
                    </a:p>
                  </a:txBody>
                  <a:tcPr marL="133350" marR="133350" marT="114300" marB="114300">
                    <a:solidFill>
                      <a:srgbClr val="EDF3F6"/>
                    </a:solidFill>
                  </a:tcPr>
                </a:tc>
              </a:tr>
              <a:tr h="579438">
                <a:tc>
                  <a:txBody>
                    <a:bodyPr/>
                    <a:lstStyle/>
                    <a:p>
                      <a:r>
                        <a:rPr sz="1650">
                          <a:solidFill>
                            <a:srgbClr val="102B45"/>
                          </a:solidFill>
                          <a:latin typeface="Arial"/>
                          <a:ea typeface="Arial"/>
                          <a:cs typeface="Arial"/>
                        </a:rPr>
                        <a:t>V4 · 88 people</a:t>
                      </a:r>
                    </a:p>
                  </a:txBody>
                  <a:tcPr marL="133350" marR="133350" marT="114300" marB="114300">
                    <a:solidFill>
                      <a:srgbClr val="FFFFFF"/>
                    </a:solidFill>
                  </a:tcPr>
                </a:tc>
                <a:tc>
                  <a:txBody>
                    <a:bodyPr/>
                    <a:lstStyle/>
                    <a:p>
                      <a:r>
                        <a:rPr sz="1650">
                          <a:solidFill>
                            <a:srgbClr val="102B45"/>
                          </a:solidFill>
                          <a:latin typeface="Arial"/>
                          <a:ea typeface="Arial"/>
                          <a:cs typeface="Arial"/>
                        </a:rPr>
                        <a:t>Does broader classifier tuning help?</a:t>
                      </a:r>
                    </a:p>
                  </a:txBody>
                  <a:tcPr marL="133350" marR="133350" marT="114300" marB="114300">
                    <a:solidFill>
                      <a:srgbClr val="FFFFFF"/>
                    </a:solidFill>
                  </a:tcPr>
                </a:tc>
                <a:tc>
                  <a:txBody>
                    <a:bodyPr/>
                    <a:lstStyle/>
                    <a:p>
                      <a:r>
                        <a:rPr sz="1650">
                          <a:solidFill>
                            <a:srgbClr val="102B45"/>
                          </a:solidFill>
                          <a:latin typeface="Arial"/>
                          <a:ea typeface="Arial"/>
                          <a:cs typeface="Arial"/>
                        </a:rPr>
                        <a:t>54.5% selected pipeline</a:t>
                      </a:r>
                    </a:p>
                  </a:txBody>
                  <a:tcPr marL="133350" marR="133350" marT="114300" marB="114300">
                    <a:solidFill>
                      <a:srgbClr val="FFFFFF"/>
                    </a:solidFill>
                  </a:tcPr>
                </a:tc>
              </a:tr>
              <a:tr h="579438">
                <a:tc>
                  <a:txBody>
                    <a:bodyPr/>
                    <a:lstStyle/>
                    <a:p>
                      <a:r>
                        <a:rPr sz="1650">
                          <a:solidFill>
                            <a:srgbClr val="102B45"/>
                          </a:solidFill>
                          <a:latin typeface="Arial"/>
                          <a:ea typeface="Arial"/>
                          <a:cs typeface="Arial"/>
                        </a:rPr>
                        <a:t>V5 · 88 people</a:t>
                      </a:r>
                    </a:p>
                  </a:txBody>
                  <a:tcPr marL="133350" marR="133350" marT="114300" marB="114300">
                    <a:solidFill>
                      <a:srgbClr val="EDF3F6"/>
                    </a:solidFill>
                  </a:tcPr>
                </a:tc>
                <a:tc>
                  <a:txBody>
                    <a:bodyPr/>
                    <a:lstStyle/>
                    <a:p>
                      <a:r>
                        <a:rPr sz="1650">
                          <a:solidFill>
                            <a:srgbClr val="102B45"/>
                          </a:solidFill>
                          <a:latin typeface="Arial"/>
                          <a:ea typeface="Arial"/>
                          <a:cs typeface="Arial"/>
                        </a:rPr>
                        <a:t>Do connectivity and window groups help?</a:t>
                      </a:r>
                    </a:p>
                  </a:txBody>
                  <a:tcPr marL="133350" marR="133350" marT="114300" marB="114300">
                    <a:solidFill>
                      <a:srgbClr val="EDF3F6"/>
                    </a:solidFill>
                  </a:tcPr>
                </a:tc>
                <a:tc>
                  <a:txBody>
                    <a:bodyPr/>
                    <a:lstStyle/>
                    <a:p>
                      <a:r>
                        <a:rPr sz="1650">
                          <a:solidFill>
                            <a:srgbClr val="102B45"/>
                          </a:solidFill>
                          <a:latin typeface="Arial"/>
                          <a:ea typeface="Arial"/>
                          <a:cs typeface="Arial"/>
                        </a:rPr>
                        <a:t>55.0% selected pipeline</a:t>
                      </a:r>
                    </a:p>
                  </a:txBody>
                  <a:tcPr marL="133350" marR="133350" marT="114300" marB="114300">
                    <a:solidFill>
                      <a:srgbClr val="EDF3F6"/>
                    </a:solidFill>
                  </a:tcPr>
                </a:tc>
              </a:tr>
            </a:tbl>
          </a:graphicData>
        </a:graphic>
      </p:graphicFrame>
      <p:sp>
        <p:nvSpPr>
          <p:cNvPr id="5" name="">
            <a:extLst xmlns:a="http://schemas.openxmlformats.org/drawingml/2006/main">
              <a:ext uri="{FF2B5EF4-FFF2-40B4-BE49-F238E27FC236}">
                <a16:creationId xmlns:a16="http://schemas.microsoft.com/office/drawing/2014/main" id="{4815F547-ACE2-4D35-BF42-A27A27C1A541}"/>
              </a:ext>
            </a:extLst>
          </p:cNvPr>
          <p:cNvSpPr>
            <a:spLocks xmlns:a="http://schemas.openxmlformats.org/drawingml/2006/main" noGrp="1"/>
          </p:cNvSpPr>
          <p:nvPr/>
        </p:nvSpPr>
        <p:spPr>
          <a:xfrm xmlns:a="http://schemas.openxmlformats.org/drawingml/2006/main">
            <a:off x="609600" y="573405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02B45"/>
                </a:solidFill>
                <a:latin typeface="Arial"/>
                <a:ea typeface="Arial"/>
                <a:cs typeface="Arial"/>
              </a:defRPr>
            </a:pPr>
            <a:r>
              <a:rPr sz="2025" b="1">
                <a:solidFill>
                  <a:srgbClr val="102B45"/>
                </a:solidFill>
                <a:latin typeface="Arial"/>
                <a:ea typeface="Arial"/>
                <a:cs typeface="Arial"/>
              </a:rPr>
              <a:t>Later experiments repeatedly reached the mid-50% range</a:t>
            </a:r>
          </a:p>
        </p:txBody>
      </p:sp>
      <p:sp>
        <p:nvSpPr>
          <p:cNvPr id="6" name="">
            <a:extLst xmlns:a="http://schemas.openxmlformats.org/drawingml/2006/main">
              <a:ext uri="{FF2B5EF4-FFF2-40B4-BE49-F238E27FC236}">
                <a16:creationId xmlns:a16="http://schemas.microsoft.com/office/drawing/2014/main" id="{555FA3F7-72E0-44D2-97EE-F04A08668304}"/>
              </a:ext>
            </a:extLst>
          </p:cNvPr>
          <p:cNvSpPr>
            <a:spLocks xmlns:a="http://schemas.openxmlformats.org/drawingml/2006/main" noGrp="1"/>
          </p:cNvSpPr>
          <p:nvPr/>
        </p:nvSpPr>
        <p:spPr>
          <a:xfrm xmlns:a="http://schemas.openxmlformats.org/drawingml/2006/main">
            <a:off x="609600" y="6381750"/>
            <a:ext cx="1038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66779"/>
                </a:solidFill>
                <a:latin typeface="Arial"/>
                <a:ea typeface="Arial"/>
                <a:cs typeface="Arial"/>
              </a:defRPr>
            </a:pPr>
            <a:r>
              <a:rPr sz="1125" b="0">
                <a:solidFill>
                  <a:srgbClr val="566779"/>
                </a:solidFill>
                <a:latin typeface="Arial"/>
                <a:ea typeface="Arial"/>
                <a:cs typeface="Arial"/>
              </a:rPr>
              <a:t>V1 is exploratory. Cohorts and procedures differ, so these rows do not isolate one algorithm’s effect.</a:t>
            </a:r>
          </a:p>
        </p:txBody>
      </p:sp>
    </p:spTree>
    <p:extLst>
      <p:ext uri="{BB962C8B-B14F-4D97-AF65-F5344CB8AC3E}">
        <p14:creationId xmlns:p14="http://schemas.microsoft.com/office/powerpoint/2010/main" val="77663202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82A53C9-68D9-4F1C-BB93-09CC10A0BE56}"/>
              </a:ext>
            </a:extLst>
          </p:cNvPr>
          <p:cNvSpPr>
            <a:spLocks xmlns:a="http://schemas.openxmlformats.org/drawingml/2006/main" noGrp="1"/>
          </p:cNvSpPr>
          <p:nvPr/>
        </p:nvSpPr>
        <p:spPr>
          <a:xfrm xmlns:a="http://schemas.openxmlformats.org/drawingml/2006/main">
            <a:off x="609600" y="4000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B45"/>
                </a:solidFill>
                <a:latin typeface="Arial"/>
                <a:ea typeface="Arial"/>
                <a:cs typeface="Arial"/>
              </a:defRPr>
            </a:pPr>
            <a:r>
              <a:rPr sz="3225" b="1">
                <a:solidFill>
                  <a:srgbClr val="102B45"/>
                </a:solidFill>
                <a:latin typeface="Arial"/>
                <a:ea typeface="Arial"/>
                <a:cs typeface="Arial"/>
              </a:rPr>
              <a:t>Classifier comparison: accuracy</a:t>
            </a:r>
          </a:p>
        </p:txBody>
      </p:sp>
      <p:sp>
        <p:nvSpPr>
          <p:cNvPr id="2" name="">
            <a:extLst xmlns:a="http://schemas.openxmlformats.org/drawingml/2006/main">
              <a:ext uri="{FF2B5EF4-FFF2-40B4-BE49-F238E27FC236}">
                <a16:creationId xmlns:a16="http://schemas.microsoft.com/office/drawing/2014/main" id="{350C8EC5-CAEA-43D7-B7E3-06AC2506CB5D}"/>
              </a:ext>
            </a:extLst>
          </p:cNvPr>
          <p:cNvSpPr>
            <a:spLocks xmlns:a="http://schemas.openxmlformats.org/drawingml/2006/main" noGrp="1"/>
          </p:cNvSpPr>
          <p:nvPr/>
        </p:nvSpPr>
        <p:spPr>
          <a:xfrm xmlns:a="http://schemas.openxmlformats.org/drawingml/2006/main">
            <a:off x="609600" y="12096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66779"/>
                </a:solidFill>
                <a:latin typeface="Arial"/>
                <a:ea typeface="Arial"/>
                <a:cs typeface="Arial"/>
              </a:defRPr>
            </a:pPr>
            <a:r>
              <a:rPr sz="1725" b="0">
                <a:solidFill>
                  <a:srgbClr val="566779"/>
                </a:solidFill>
                <a:latin typeface="Arial"/>
                <a:ea typeface="Arial"/>
                <a:cs typeface="Arial"/>
              </a:rPr>
              <a:t>V4, the same 88 participants and outer splits</a:t>
            </a:r>
          </a:p>
        </p:txBody>
      </p:sp>
      <p:sp>
        <p:nvSpPr>
          <p:cNvPr id="3" name="">
            <a:extLst xmlns:a="http://schemas.openxmlformats.org/drawingml/2006/main">
              <a:ext uri="{FF2B5EF4-FFF2-40B4-BE49-F238E27FC236}">
                <a16:creationId xmlns:a16="http://schemas.microsoft.com/office/drawing/2014/main" id="{784B3A51-E323-445F-85BF-415C935943B4}"/>
              </a:ext>
            </a:extLst>
          </p:cNvPr>
          <p:cNvSpPr>
            <a:spLocks xmlns:a="http://schemas.openxmlformats.org/drawingml/2006/main" noGrp="1"/>
          </p:cNvSpPr>
          <p:nvPr/>
        </p:nvSpPr>
        <p:spPr>
          <a:xfrm xmlns:a="http://schemas.openxmlformats.org/drawingml/2006/main">
            <a:off x="1114425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66779"/>
                </a:solidFill>
                <a:latin typeface="Arial"/>
                <a:ea typeface="Arial"/>
                <a:cs typeface="Arial"/>
              </a:defRPr>
            </a:pPr>
            <a:r>
              <a:rPr sz="1125" b="0">
                <a:solidFill>
                  <a:srgbClr val="566779"/>
                </a:solidFill>
                <a:latin typeface="Arial"/>
                <a:ea typeface="Arial"/>
                <a:cs typeface="Arial"/>
              </a:rPr>
              <a:t>11</a:t>
            </a:r>
          </a:p>
        </p:txBody>
      </p:sp>
      <p:graphicFrame>
        <p:nvGraphicFramePr>
          <p:cNvPr id="10" name="Chart"/>
          <p:cNvGraphicFramePr/>
          <p:nvPr/>
        </p:nvGraphicFramePr>
        <p:xfrm>
          <a:off xmlns:a="http://schemas.openxmlformats.org/drawingml/2006/main" x="609600" y="1866900"/>
          <a:ext xmlns:a="http://schemas.openxmlformats.org/drawingml/2006/main" cx="10972800" cy="3600450"/>
        </p:xfrm>
        <a:graphic xmlns:a="http://schemas.openxmlformats.org/drawingml/2006/main">
          <a:graphicData uri="http://schemas.openxmlformats.org/drawingml/2006/chart">
            <c:chart xmlns:r="http://schemas.openxmlformats.org/officeDocument/2006/relationships" xmlns:c="http://schemas.openxmlformats.org/drawingml/2006/chart" r:id="R562c09601941426f"/>
          </a:graphicData>
        </a:graphic>
      </p:graphicFrame>
      <p:sp>
        <p:nvSpPr>
          <p:cNvPr id="5" name="">
            <a:extLst xmlns:a="http://schemas.openxmlformats.org/drawingml/2006/main">
              <a:ext uri="{FF2B5EF4-FFF2-40B4-BE49-F238E27FC236}">
                <a16:creationId xmlns:a16="http://schemas.microsoft.com/office/drawing/2014/main" id="{2D0EED9F-3BD1-4090-95B1-A5B8E6BE9BD6}"/>
              </a:ext>
            </a:extLst>
          </p:cNvPr>
          <p:cNvSpPr>
            <a:spLocks xmlns:a="http://schemas.openxmlformats.org/drawingml/2006/main" noGrp="1"/>
          </p:cNvSpPr>
          <p:nvPr/>
        </p:nvSpPr>
        <p:spPr>
          <a:xfrm xmlns:a="http://schemas.openxmlformats.org/drawingml/2006/main">
            <a:off x="609600" y="573405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02B45"/>
                </a:solidFill>
                <a:latin typeface="Arial"/>
                <a:ea typeface="Arial"/>
                <a:cs typeface="Arial"/>
              </a:defRPr>
            </a:pPr>
            <a:r>
              <a:rPr sz="2025" b="1">
                <a:solidFill>
                  <a:srgbClr val="102B45"/>
                </a:solidFill>
                <a:latin typeface="Arial"/>
                <a:ea typeface="Arial"/>
                <a:cs typeface="Arial"/>
              </a:rPr>
              <a:t>RBF SVM had the strongest observed family result: 59.7%</a:t>
            </a:r>
          </a:p>
        </p:txBody>
      </p:sp>
      <p:sp>
        <p:nvSpPr>
          <p:cNvPr id="6" name="">
            <a:extLst xmlns:a="http://schemas.openxmlformats.org/drawingml/2006/main">
              <a:ext uri="{FF2B5EF4-FFF2-40B4-BE49-F238E27FC236}">
                <a16:creationId xmlns:a16="http://schemas.microsoft.com/office/drawing/2014/main" id="{9731E910-0C39-4322-A43A-094E616E0119}"/>
              </a:ext>
            </a:extLst>
          </p:cNvPr>
          <p:cNvSpPr>
            <a:spLocks xmlns:a="http://schemas.openxmlformats.org/drawingml/2006/main" noGrp="1"/>
          </p:cNvSpPr>
          <p:nvPr/>
        </p:nvSpPr>
        <p:spPr>
          <a:xfrm xmlns:a="http://schemas.openxmlformats.org/drawingml/2006/main">
            <a:off x="609600" y="6381750"/>
            <a:ext cx="1038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66779"/>
                </a:solidFill>
                <a:latin typeface="Arial"/>
                <a:ea typeface="Arial"/>
                <a:cs typeface="Arial"/>
              </a:defRPr>
            </a:pPr>
            <a:r>
              <a:rPr sz="1125" b="0">
                <a:solidFill>
                  <a:srgbClr val="566779"/>
                </a:solidFill>
                <a:latin typeface="Arial"/>
                <a:ea typeface="Arial"/>
                <a:cs typeface="Arial"/>
              </a:rPr>
              <a:t>Primary complete selection: 54.5% balanced accuracy. Family comparisons are secondary.</a:t>
            </a:r>
          </a:p>
        </p:txBody>
      </p:sp>
    </p:spTree>
    <p:extLst>
      <p:ext uri="{BB962C8B-B14F-4D97-AF65-F5344CB8AC3E}">
        <p14:creationId xmlns:p14="http://schemas.microsoft.com/office/powerpoint/2010/main" val="168410437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5FF8A4F-8EC2-4AC8-BEBC-38EA699D3B8C}"/>
              </a:ext>
            </a:extLst>
          </p:cNvPr>
          <p:cNvSpPr>
            <a:spLocks xmlns:a="http://schemas.openxmlformats.org/drawingml/2006/main" noGrp="1"/>
          </p:cNvSpPr>
          <p:nvPr/>
        </p:nvSpPr>
        <p:spPr>
          <a:xfrm xmlns:a="http://schemas.openxmlformats.org/drawingml/2006/main">
            <a:off x="609600" y="4000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B45"/>
                </a:solidFill>
                <a:latin typeface="Arial"/>
                <a:ea typeface="Arial"/>
                <a:cs typeface="Arial"/>
              </a:defRPr>
            </a:pPr>
            <a:r>
              <a:rPr sz="3225" b="1">
                <a:solidFill>
                  <a:srgbClr val="102B45"/>
                </a:solidFill>
                <a:latin typeface="Arial"/>
                <a:ea typeface="Arial"/>
                <a:cs typeface="Arial"/>
              </a:rPr>
              <a:t>Classifier comparison: recall</a:t>
            </a:r>
          </a:p>
        </p:txBody>
      </p:sp>
      <p:sp>
        <p:nvSpPr>
          <p:cNvPr id="2" name="">
            <a:extLst xmlns:a="http://schemas.openxmlformats.org/drawingml/2006/main">
              <a:ext uri="{FF2B5EF4-FFF2-40B4-BE49-F238E27FC236}">
                <a16:creationId xmlns:a16="http://schemas.microsoft.com/office/drawing/2014/main" id="{2331B0B0-B290-4301-A81B-3D2B5EC860D9}"/>
              </a:ext>
            </a:extLst>
          </p:cNvPr>
          <p:cNvSpPr>
            <a:spLocks xmlns:a="http://schemas.openxmlformats.org/drawingml/2006/main" noGrp="1"/>
          </p:cNvSpPr>
          <p:nvPr/>
        </p:nvSpPr>
        <p:spPr>
          <a:xfrm xmlns:a="http://schemas.openxmlformats.org/drawingml/2006/main">
            <a:off x="609600" y="12096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66779"/>
                </a:solidFill>
                <a:latin typeface="Arial"/>
                <a:ea typeface="Arial"/>
                <a:cs typeface="Arial"/>
              </a:defRPr>
            </a:pPr>
            <a:r>
              <a:rPr sz="1725" b="0">
                <a:solidFill>
                  <a:srgbClr val="566779"/>
                </a:solidFill>
                <a:latin typeface="Arial"/>
                <a:ea typeface="Arial"/>
                <a:cs typeface="Arial"/>
              </a:rPr>
              <a:t>V4, percentage correctly identified within each diagnosis</a:t>
            </a:r>
          </a:p>
        </p:txBody>
      </p:sp>
      <p:sp>
        <p:nvSpPr>
          <p:cNvPr id="3" name="">
            <a:extLst xmlns:a="http://schemas.openxmlformats.org/drawingml/2006/main">
              <a:ext uri="{FF2B5EF4-FFF2-40B4-BE49-F238E27FC236}">
                <a16:creationId xmlns:a16="http://schemas.microsoft.com/office/drawing/2014/main" id="{6039E285-80AA-4EF5-9F63-989AECC6721C}"/>
              </a:ext>
            </a:extLst>
          </p:cNvPr>
          <p:cNvSpPr>
            <a:spLocks xmlns:a="http://schemas.openxmlformats.org/drawingml/2006/main" noGrp="1"/>
          </p:cNvSpPr>
          <p:nvPr/>
        </p:nvSpPr>
        <p:spPr>
          <a:xfrm xmlns:a="http://schemas.openxmlformats.org/drawingml/2006/main">
            <a:off x="1114425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66779"/>
                </a:solidFill>
                <a:latin typeface="Arial"/>
                <a:ea typeface="Arial"/>
                <a:cs typeface="Arial"/>
              </a:defRPr>
            </a:pPr>
            <a:r>
              <a:rPr sz="1125" b="0">
                <a:solidFill>
                  <a:srgbClr val="566779"/>
                </a:solidFill>
                <a:latin typeface="Arial"/>
                <a:ea typeface="Arial"/>
                <a:cs typeface="Arial"/>
              </a:rPr>
              <a:t>12</a:t>
            </a:r>
          </a:p>
        </p:txBody>
      </p:sp>
      <p:graphicFrame>
        <p:nvGraphicFramePr>
          <p:cNvPr id="10" name="Chart"/>
          <p:cNvGraphicFramePr/>
          <p:nvPr/>
        </p:nvGraphicFramePr>
        <p:xfrm>
          <a:off xmlns:a="http://schemas.openxmlformats.org/drawingml/2006/main" x="609600" y="1866900"/>
          <a:ext xmlns:a="http://schemas.openxmlformats.org/drawingml/2006/main" cx="10972800" cy="3600450"/>
        </p:xfrm>
        <a:graphic xmlns:a="http://schemas.openxmlformats.org/drawingml/2006/main">
          <a:graphicData uri="http://schemas.openxmlformats.org/drawingml/2006/chart">
            <c:chart xmlns:r="http://schemas.openxmlformats.org/officeDocument/2006/relationships" xmlns:c="http://schemas.openxmlformats.org/drawingml/2006/chart" r:id="Rd01dde4fe3d84854"/>
          </a:graphicData>
        </a:graphic>
      </p:graphicFrame>
      <p:sp>
        <p:nvSpPr>
          <p:cNvPr id="5" name="">
            <a:extLst xmlns:a="http://schemas.openxmlformats.org/drawingml/2006/main">
              <a:ext uri="{FF2B5EF4-FFF2-40B4-BE49-F238E27FC236}">
                <a16:creationId xmlns:a16="http://schemas.microsoft.com/office/drawing/2014/main" id="{A3577768-EEA7-4212-99B0-E3C94F4E488E}"/>
              </a:ext>
            </a:extLst>
          </p:cNvPr>
          <p:cNvSpPr>
            <a:spLocks xmlns:a="http://schemas.openxmlformats.org/drawingml/2006/main" noGrp="1"/>
          </p:cNvSpPr>
          <p:nvPr/>
        </p:nvSpPr>
        <p:spPr>
          <a:xfrm xmlns:a="http://schemas.openxmlformats.org/drawingml/2006/main">
            <a:off x="609600" y="573405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02B45"/>
                </a:solidFill>
                <a:latin typeface="Arial"/>
                <a:ea typeface="Arial"/>
                <a:cs typeface="Arial"/>
              </a:defRPr>
            </a:pPr>
            <a:r>
              <a:rPr sz="2025" b="1">
                <a:solidFill>
                  <a:srgbClr val="102B45"/>
                </a:solidFill>
                <a:latin typeface="Arial"/>
                <a:ea typeface="Arial"/>
                <a:cs typeface="Arial"/>
              </a:rPr>
              <a:t>FTD recall remained lower than AD and control recall</a:t>
            </a:r>
          </a:p>
        </p:txBody>
      </p:sp>
      <p:sp>
        <p:nvSpPr>
          <p:cNvPr id="6" name="">
            <a:extLst xmlns:a="http://schemas.openxmlformats.org/drawingml/2006/main">
              <a:ext uri="{FF2B5EF4-FFF2-40B4-BE49-F238E27FC236}">
                <a16:creationId xmlns:a16="http://schemas.microsoft.com/office/drawing/2014/main" id="{77A8F0E2-B493-4E65-B085-79CF7CB66D04}"/>
              </a:ext>
            </a:extLst>
          </p:cNvPr>
          <p:cNvSpPr>
            <a:spLocks xmlns:a="http://schemas.openxmlformats.org/drawingml/2006/main" noGrp="1"/>
          </p:cNvSpPr>
          <p:nvPr/>
        </p:nvSpPr>
        <p:spPr>
          <a:xfrm xmlns:a="http://schemas.openxmlformats.org/drawingml/2006/main">
            <a:off x="609600" y="6381750"/>
            <a:ext cx="1038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66779"/>
                </a:solidFill>
                <a:latin typeface="Arial"/>
                <a:ea typeface="Arial"/>
                <a:cs typeface="Arial"/>
              </a:defRPr>
            </a:pPr>
            <a:r>
              <a:rPr sz="1125" b="0">
                <a:solidFill>
                  <a:srgbClr val="566779"/>
                </a:solidFill>
                <a:latin typeface="Arial"/>
                <a:ea typeface="Arial"/>
                <a:cs typeface="Arial"/>
              </a:rPr>
              <a:t>For SVM: AD 57.4%, FTD 43.5%, CN 78.2%.</a:t>
            </a:r>
          </a:p>
        </p:txBody>
      </p:sp>
    </p:spTree>
    <p:extLst>
      <p:ext uri="{BB962C8B-B14F-4D97-AF65-F5344CB8AC3E}">
        <p14:creationId xmlns:p14="http://schemas.microsoft.com/office/powerpoint/2010/main" val="83379352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40951A2-9D3A-418A-A7CF-E8673B2EB480}"/>
              </a:ext>
            </a:extLst>
          </p:cNvPr>
          <p:cNvSpPr>
            <a:spLocks xmlns:a="http://schemas.openxmlformats.org/drawingml/2006/main" noGrp="1"/>
          </p:cNvSpPr>
          <p:nvPr/>
        </p:nvSpPr>
        <p:spPr>
          <a:xfrm xmlns:a="http://schemas.openxmlformats.org/drawingml/2006/main">
            <a:off x="609600" y="4000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B45"/>
                </a:solidFill>
                <a:latin typeface="Arial"/>
                <a:ea typeface="Arial"/>
                <a:cs typeface="Arial"/>
              </a:defRPr>
            </a:pPr>
            <a:r>
              <a:rPr sz="3225" b="1">
                <a:solidFill>
                  <a:srgbClr val="102B45"/>
                </a:solidFill>
                <a:latin typeface="Arial"/>
                <a:ea typeface="Arial"/>
                <a:cs typeface="Arial"/>
              </a:rPr>
              <a:t>Decomposition comparison: performance</a:t>
            </a:r>
          </a:p>
        </p:txBody>
      </p:sp>
      <p:sp>
        <p:nvSpPr>
          <p:cNvPr id="2" name="">
            <a:extLst xmlns:a="http://schemas.openxmlformats.org/drawingml/2006/main">
              <a:ext uri="{FF2B5EF4-FFF2-40B4-BE49-F238E27FC236}">
                <a16:creationId xmlns:a16="http://schemas.microsoft.com/office/drawing/2014/main" id="{7889CEC8-CCF0-4A71-A91D-E32B330FFF8B}"/>
              </a:ext>
            </a:extLst>
          </p:cNvPr>
          <p:cNvSpPr>
            <a:spLocks xmlns:a="http://schemas.openxmlformats.org/drawingml/2006/main" noGrp="1"/>
          </p:cNvSpPr>
          <p:nvPr/>
        </p:nvSpPr>
        <p:spPr>
          <a:xfrm xmlns:a="http://schemas.openxmlformats.org/drawingml/2006/main">
            <a:off x="609600" y="12096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66779"/>
                </a:solidFill>
                <a:latin typeface="Arial"/>
                <a:ea typeface="Arial"/>
                <a:cs typeface="Arial"/>
              </a:defRPr>
            </a:pPr>
            <a:r>
              <a:rPr sz="1725" b="0">
                <a:solidFill>
                  <a:srgbClr val="566779"/>
                </a:solidFill>
                <a:latin typeface="Arial"/>
                <a:ea typeface="Arial"/>
                <a:cs typeface="Arial"/>
              </a:rPr>
              <a:t>V2, the same balanced cohort of 69 participants</a:t>
            </a:r>
          </a:p>
        </p:txBody>
      </p:sp>
      <p:sp>
        <p:nvSpPr>
          <p:cNvPr id="3" name="">
            <a:extLst xmlns:a="http://schemas.openxmlformats.org/drawingml/2006/main">
              <a:ext uri="{FF2B5EF4-FFF2-40B4-BE49-F238E27FC236}">
                <a16:creationId xmlns:a16="http://schemas.microsoft.com/office/drawing/2014/main" id="{6B7367D7-C163-4D1F-87B9-F38D30C8C6E3}"/>
              </a:ext>
            </a:extLst>
          </p:cNvPr>
          <p:cNvSpPr>
            <a:spLocks xmlns:a="http://schemas.openxmlformats.org/drawingml/2006/main" noGrp="1"/>
          </p:cNvSpPr>
          <p:nvPr/>
        </p:nvSpPr>
        <p:spPr>
          <a:xfrm xmlns:a="http://schemas.openxmlformats.org/drawingml/2006/main">
            <a:off x="1114425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66779"/>
                </a:solidFill>
                <a:latin typeface="Arial"/>
                <a:ea typeface="Arial"/>
                <a:cs typeface="Arial"/>
              </a:defRPr>
            </a:pPr>
            <a:r>
              <a:rPr sz="1125" b="0">
                <a:solidFill>
                  <a:srgbClr val="566779"/>
                </a:solidFill>
                <a:latin typeface="Arial"/>
                <a:ea typeface="Arial"/>
                <a:cs typeface="Arial"/>
              </a:rPr>
              <a:t>13</a:t>
            </a:r>
          </a:p>
        </p:txBody>
      </p:sp>
      <p:graphicFrame>
        <p:nvGraphicFramePr>
          <p:cNvPr id="10" name="Chart"/>
          <p:cNvGraphicFramePr/>
          <p:nvPr/>
        </p:nvGraphicFramePr>
        <p:xfrm>
          <a:off xmlns:a="http://schemas.openxmlformats.org/drawingml/2006/main" x="609600" y="1866900"/>
          <a:ext xmlns:a="http://schemas.openxmlformats.org/drawingml/2006/main" cx="10972800" cy="3600450"/>
        </p:xfrm>
        <a:graphic xmlns:a="http://schemas.openxmlformats.org/drawingml/2006/main">
          <a:graphicData uri="http://schemas.openxmlformats.org/drawingml/2006/chart">
            <c:chart xmlns:r="http://schemas.openxmlformats.org/officeDocument/2006/relationships" xmlns:c="http://schemas.openxmlformats.org/drawingml/2006/chart" r:id="Re3bcb55ea8a74106"/>
          </a:graphicData>
        </a:graphic>
      </p:graphicFrame>
      <p:sp>
        <p:nvSpPr>
          <p:cNvPr id="5" name="">
            <a:extLst xmlns:a="http://schemas.openxmlformats.org/drawingml/2006/main">
              <a:ext uri="{FF2B5EF4-FFF2-40B4-BE49-F238E27FC236}">
                <a16:creationId xmlns:a16="http://schemas.microsoft.com/office/drawing/2014/main" id="{CA49E411-82F8-463A-A13C-08A27369107D}"/>
              </a:ext>
            </a:extLst>
          </p:cNvPr>
          <p:cNvSpPr>
            <a:spLocks xmlns:a="http://schemas.openxmlformats.org/drawingml/2006/main" noGrp="1"/>
          </p:cNvSpPr>
          <p:nvPr/>
        </p:nvSpPr>
        <p:spPr>
          <a:xfrm xmlns:a="http://schemas.openxmlformats.org/drawingml/2006/main">
            <a:off x="609600" y="573405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02B45"/>
                </a:solidFill>
                <a:latin typeface="Arial"/>
                <a:ea typeface="Arial"/>
                <a:cs typeface="Arial"/>
              </a:defRPr>
            </a:pPr>
            <a:r>
              <a:rPr sz="2025" b="1">
                <a:solidFill>
                  <a:srgbClr val="102B45"/>
                </a:solidFill>
                <a:latin typeface="Arial"/>
                <a:ea typeface="Arial"/>
                <a:cs typeface="Arial"/>
              </a:rPr>
              <a:t>Tucker / HOSVD was the strongest observed V2 family: 56.0%</a:t>
            </a:r>
          </a:p>
        </p:txBody>
      </p:sp>
      <p:sp>
        <p:nvSpPr>
          <p:cNvPr id="6" name="">
            <a:extLst xmlns:a="http://schemas.openxmlformats.org/drawingml/2006/main">
              <a:ext uri="{FF2B5EF4-FFF2-40B4-BE49-F238E27FC236}">
                <a16:creationId xmlns:a16="http://schemas.microsoft.com/office/drawing/2014/main" id="{F9DFB0F5-27E6-44DB-8F08-3E8E6CFB2A6E}"/>
              </a:ext>
            </a:extLst>
          </p:cNvPr>
          <p:cNvSpPr>
            <a:spLocks xmlns:a="http://schemas.openxmlformats.org/drawingml/2006/main" noGrp="1"/>
          </p:cNvSpPr>
          <p:nvPr/>
        </p:nvSpPr>
        <p:spPr>
          <a:xfrm xmlns:a="http://schemas.openxmlformats.org/drawingml/2006/main">
            <a:off x="609600" y="6381750"/>
            <a:ext cx="1038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66779"/>
                </a:solidFill>
                <a:latin typeface="Arial"/>
                <a:ea typeface="Arial"/>
                <a:cs typeface="Arial"/>
              </a:defRPr>
            </a:pPr>
            <a:r>
              <a:rPr sz="1125" b="0">
                <a:solidFill>
                  <a:srgbClr val="566779"/>
                </a:solidFill>
                <a:latin typeface="Arial"/>
                <a:ea typeface="Arial"/>
                <a:cs typeface="Arial"/>
              </a:rPr>
              <a:t>Accuracy equals balanced accuracy here because every diagnosis has 23 people. Primary selection: 47.3%.</a:t>
            </a:r>
          </a:p>
        </p:txBody>
      </p:sp>
    </p:spTree>
    <p:extLst>
      <p:ext uri="{BB962C8B-B14F-4D97-AF65-F5344CB8AC3E}">
        <p14:creationId xmlns:p14="http://schemas.microsoft.com/office/powerpoint/2010/main" val="3056067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ADB6BE8-2077-4402-AE56-AE689C33F6F6}"/>
              </a:ext>
            </a:extLst>
          </p:cNvPr>
          <p:cNvSpPr>
            <a:spLocks xmlns:a="http://schemas.openxmlformats.org/drawingml/2006/main" noGrp="1"/>
          </p:cNvSpPr>
          <p:nvPr/>
        </p:nvSpPr>
        <p:spPr>
          <a:xfrm xmlns:a="http://schemas.openxmlformats.org/drawingml/2006/main">
            <a:off x="609600" y="4000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B45"/>
                </a:solidFill>
                <a:latin typeface="Arial"/>
                <a:ea typeface="Arial"/>
                <a:cs typeface="Arial"/>
              </a:defRPr>
            </a:pPr>
            <a:r>
              <a:rPr sz="3225" b="1">
                <a:solidFill>
                  <a:srgbClr val="102B45"/>
                </a:solidFill>
                <a:latin typeface="Arial"/>
                <a:ea typeface="Arial"/>
                <a:cs typeface="Arial"/>
              </a:rPr>
              <a:t>Decomposition comparison: recall</a:t>
            </a:r>
          </a:p>
        </p:txBody>
      </p:sp>
      <p:sp>
        <p:nvSpPr>
          <p:cNvPr id="2" name="">
            <a:extLst xmlns:a="http://schemas.openxmlformats.org/drawingml/2006/main">
              <a:ext uri="{FF2B5EF4-FFF2-40B4-BE49-F238E27FC236}">
                <a16:creationId xmlns:a16="http://schemas.microsoft.com/office/drawing/2014/main" id="{73FB5171-D2D5-40A3-A5DB-7B1C0FC42F3F}"/>
              </a:ext>
            </a:extLst>
          </p:cNvPr>
          <p:cNvSpPr>
            <a:spLocks xmlns:a="http://schemas.openxmlformats.org/drawingml/2006/main" noGrp="1"/>
          </p:cNvSpPr>
          <p:nvPr/>
        </p:nvSpPr>
        <p:spPr>
          <a:xfrm xmlns:a="http://schemas.openxmlformats.org/drawingml/2006/main">
            <a:off x="609600" y="12096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66779"/>
                </a:solidFill>
                <a:latin typeface="Arial"/>
                <a:ea typeface="Arial"/>
                <a:cs typeface="Arial"/>
              </a:defRPr>
            </a:pPr>
            <a:r>
              <a:rPr sz="1725" b="0">
                <a:solidFill>
                  <a:srgbClr val="566779"/>
                </a:solidFill>
                <a:latin typeface="Arial"/>
                <a:ea typeface="Arial"/>
                <a:cs typeface="Arial"/>
              </a:rPr>
              <a:t>V2, the same methods and participant splits as the previous slide</a:t>
            </a:r>
          </a:p>
        </p:txBody>
      </p:sp>
      <p:sp>
        <p:nvSpPr>
          <p:cNvPr id="3" name="">
            <a:extLst xmlns:a="http://schemas.openxmlformats.org/drawingml/2006/main">
              <a:ext uri="{FF2B5EF4-FFF2-40B4-BE49-F238E27FC236}">
                <a16:creationId xmlns:a16="http://schemas.microsoft.com/office/drawing/2014/main" id="{6342891C-F266-42B5-B49C-F7E7AF31DCCB}"/>
              </a:ext>
            </a:extLst>
          </p:cNvPr>
          <p:cNvSpPr>
            <a:spLocks xmlns:a="http://schemas.openxmlformats.org/drawingml/2006/main" noGrp="1"/>
          </p:cNvSpPr>
          <p:nvPr/>
        </p:nvSpPr>
        <p:spPr>
          <a:xfrm xmlns:a="http://schemas.openxmlformats.org/drawingml/2006/main">
            <a:off x="1114425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66779"/>
                </a:solidFill>
                <a:latin typeface="Arial"/>
                <a:ea typeface="Arial"/>
                <a:cs typeface="Arial"/>
              </a:defRPr>
            </a:pPr>
            <a:r>
              <a:rPr sz="1125" b="0">
                <a:solidFill>
                  <a:srgbClr val="566779"/>
                </a:solidFill>
                <a:latin typeface="Arial"/>
                <a:ea typeface="Arial"/>
                <a:cs typeface="Arial"/>
              </a:rPr>
              <a:t>14</a:t>
            </a:r>
          </a:p>
        </p:txBody>
      </p:sp>
      <p:graphicFrame>
        <p:nvGraphicFramePr>
          <p:cNvPr id="10" name="Chart"/>
          <p:cNvGraphicFramePr/>
          <p:nvPr/>
        </p:nvGraphicFramePr>
        <p:xfrm>
          <a:off xmlns:a="http://schemas.openxmlformats.org/drawingml/2006/main" x="609600" y="1866900"/>
          <a:ext xmlns:a="http://schemas.openxmlformats.org/drawingml/2006/main" cx="10972800" cy="3600450"/>
        </p:xfrm>
        <a:graphic xmlns:a="http://schemas.openxmlformats.org/drawingml/2006/main">
          <a:graphicData uri="http://schemas.openxmlformats.org/drawingml/2006/chart">
            <c:chart xmlns:r="http://schemas.openxmlformats.org/officeDocument/2006/relationships" xmlns:c="http://schemas.openxmlformats.org/drawingml/2006/chart" r:id="R9de6d4d386874e44"/>
          </a:graphicData>
        </a:graphic>
      </p:graphicFrame>
      <p:sp>
        <p:nvSpPr>
          <p:cNvPr id="5" name="">
            <a:extLst xmlns:a="http://schemas.openxmlformats.org/drawingml/2006/main">
              <a:ext uri="{FF2B5EF4-FFF2-40B4-BE49-F238E27FC236}">
                <a16:creationId xmlns:a16="http://schemas.microsoft.com/office/drawing/2014/main" id="{BC51B62E-C689-4C88-B8A6-6174266DB724}"/>
              </a:ext>
            </a:extLst>
          </p:cNvPr>
          <p:cNvSpPr>
            <a:spLocks xmlns:a="http://schemas.openxmlformats.org/drawingml/2006/main" noGrp="1"/>
          </p:cNvSpPr>
          <p:nvPr/>
        </p:nvSpPr>
        <p:spPr>
          <a:xfrm xmlns:a="http://schemas.openxmlformats.org/drawingml/2006/main">
            <a:off x="609600" y="573405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02B45"/>
                </a:solidFill>
                <a:latin typeface="Arial"/>
                <a:ea typeface="Arial"/>
                <a:cs typeface="Arial"/>
              </a:defRPr>
            </a:pPr>
            <a:r>
              <a:rPr sz="2025" b="1">
                <a:solidFill>
                  <a:srgbClr val="102B45"/>
                </a:solidFill>
                <a:latin typeface="Arial"/>
                <a:ea typeface="Arial"/>
                <a:cs typeface="Arial"/>
              </a:rPr>
              <a:t>Tucker gave the most even recall across the three groups</a:t>
            </a:r>
          </a:p>
        </p:txBody>
      </p:sp>
      <p:sp>
        <p:nvSpPr>
          <p:cNvPr id="6" name="">
            <a:extLst xmlns:a="http://schemas.openxmlformats.org/drawingml/2006/main">
              <a:ext uri="{FF2B5EF4-FFF2-40B4-BE49-F238E27FC236}">
                <a16:creationId xmlns:a16="http://schemas.microsoft.com/office/drawing/2014/main" id="{F2651756-F35B-4D05-8E40-A7837C10CDC1}"/>
              </a:ext>
            </a:extLst>
          </p:cNvPr>
          <p:cNvSpPr>
            <a:spLocks xmlns:a="http://schemas.openxmlformats.org/drawingml/2006/main" noGrp="1"/>
          </p:cNvSpPr>
          <p:nvPr/>
        </p:nvSpPr>
        <p:spPr>
          <a:xfrm xmlns:a="http://schemas.openxmlformats.org/drawingml/2006/main">
            <a:off x="609600" y="6381750"/>
            <a:ext cx="1038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66779"/>
                </a:solidFill>
                <a:latin typeface="Arial"/>
                <a:ea typeface="Arial"/>
                <a:cs typeface="Arial"/>
              </a:defRPr>
            </a:pPr>
            <a:r>
              <a:rPr sz="1125" b="0">
                <a:solidFill>
                  <a:srgbClr val="566779"/>
                </a:solidFill>
                <a:latin typeface="Arial"/>
                <a:ea typeface="Arial"/>
                <a:cs typeface="Arial"/>
              </a:rPr>
              <a:t>Tucker: AD 59.4%, FTD 50.7%, CN 58.0%. This was a secondary family result.</a:t>
            </a:r>
          </a:p>
        </p:txBody>
      </p:sp>
    </p:spTree>
    <p:extLst>
      <p:ext uri="{BB962C8B-B14F-4D97-AF65-F5344CB8AC3E}">
        <p14:creationId xmlns:p14="http://schemas.microsoft.com/office/powerpoint/2010/main" val="83233920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DA39CFE-6F47-4BB1-9585-88E44A1C3DE2}"/>
              </a:ext>
            </a:extLst>
          </p:cNvPr>
          <p:cNvSpPr>
            <a:spLocks xmlns:a="http://schemas.openxmlformats.org/drawingml/2006/main" noGrp="1"/>
          </p:cNvSpPr>
          <p:nvPr/>
        </p:nvSpPr>
        <p:spPr>
          <a:xfrm xmlns:a="http://schemas.openxmlformats.org/drawingml/2006/main">
            <a:off x="609600" y="4000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B45"/>
                </a:solidFill>
                <a:latin typeface="Arial"/>
                <a:ea typeface="Arial"/>
                <a:cs typeface="Arial"/>
              </a:defRPr>
            </a:pPr>
            <a:r>
              <a:rPr sz="3225" b="1">
                <a:solidFill>
                  <a:srgbClr val="102B45"/>
                </a:solidFill>
                <a:latin typeface="Arial"/>
                <a:ea typeface="Arial"/>
                <a:cs typeface="Arial"/>
              </a:rPr>
              <a:t>Waveform tensors versus spectral features</a:t>
            </a:r>
          </a:p>
        </p:txBody>
      </p:sp>
      <p:sp>
        <p:nvSpPr>
          <p:cNvPr id="2" name="">
            <a:extLst xmlns:a="http://schemas.openxmlformats.org/drawingml/2006/main">
              <a:ext uri="{FF2B5EF4-FFF2-40B4-BE49-F238E27FC236}">
                <a16:creationId xmlns:a16="http://schemas.microsoft.com/office/drawing/2014/main" id="{3C36070B-154A-4C25-AAB7-06B3C4DA7DFE}"/>
              </a:ext>
            </a:extLst>
          </p:cNvPr>
          <p:cNvSpPr>
            <a:spLocks xmlns:a="http://schemas.openxmlformats.org/drawingml/2006/main" noGrp="1"/>
          </p:cNvSpPr>
          <p:nvPr/>
        </p:nvSpPr>
        <p:spPr>
          <a:xfrm xmlns:a="http://schemas.openxmlformats.org/drawingml/2006/main">
            <a:off x="609600" y="12096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66779"/>
                </a:solidFill>
                <a:latin typeface="Arial"/>
                <a:ea typeface="Arial"/>
                <a:cs typeface="Arial"/>
              </a:defRPr>
            </a:pPr>
            <a:r>
              <a:rPr sz="1725" b="0">
                <a:solidFill>
                  <a:srgbClr val="566779"/>
                </a:solidFill>
                <a:latin typeface="Arial"/>
                <a:ea typeface="Arial"/>
                <a:cs typeface="Arial"/>
              </a:rPr>
              <a:t>V3, all 88 participants and 16,824 eligible windows</a:t>
            </a:r>
          </a:p>
        </p:txBody>
      </p:sp>
      <p:sp>
        <p:nvSpPr>
          <p:cNvPr id="3" name="">
            <a:extLst xmlns:a="http://schemas.openxmlformats.org/drawingml/2006/main">
              <a:ext uri="{FF2B5EF4-FFF2-40B4-BE49-F238E27FC236}">
                <a16:creationId xmlns:a16="http://schemas.microsoft.com/office/drawing/2014/main" id="{AF4E2F8A-6EB5-4030-A85E-8D089283E3BB}"/>
              </a:ext>
            </a:extLst>
          </p:cNvPr>
          <p:cNvSpPr>
            <a:spLocks xmlns:a="http://schemas.openxmlformats.org/drawingml/2006/main" noGrp="1"/>
          </p:cNvSpPr>
          <p:nvPr/>
        </p:nvSpPr>
        <p:spPr>
          <a:xfrm xmlns:a="http://schemas.openxmlformats.org/drawingml/2006/main">
            <a:off x="1114425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66779"/>
                </a:solidFill>
                <a:latin typeface="Arial"/>
                <a:ea typeface="Arial"/>
                <a:cs typeface="Arial"/>
              </a:defRPr>
            </a:pPr>
            <a:r>
              <a:rPr sz="1125" b="0">
                <a:solidFill>
                  <a:srgbClr val="566779"/>
                </a:solidFill>
                <a:latin typeface="Arial"/>
                <a:ea typeface="Arial"/>
                <a:cs typeface="Arial"/>
              </a:rPr>
              <a:t>15</a:t>
            </a:r>
          </a:p>
        </p:txBody>
      </p:sp>
      <p:graphicFrame>
        <p:nvGraphicFramePr>
          <p:cNvPr id="10" name="Chart"/>
          <p:cNvGraphicFramePr/>
          <p:nvPr/>
        </p:nvGraphicFramePr>
        <p:xfrm>
          <a:off xmlns:a="http://schemas.openxmlformats.org/drawingml/2006/main" x="609600" y="1866900"/>
          <a:ext xmlns:a="http://schemas.openxmlformats.org/drawingml/2006/main" cx="10972800" cy="3600450"/>
        </p:xfrm>
        <a:graphic xmlns:a="http://schemas.openxmlformats.org/drawingml/2006/main">
          <a:graphicData uri="http://schemas.openxmlformats.org/drawingml/2006/chart">
            <c:chart xmlns:r="http://schemas.openxmlformats.org/officeDocument/2006/relationships" xmlns:c="http://schemas.openxmlformats.org/drawingml/2006/chart" r:id="Rf34dee3401414d31"/>
          </a:graphicData>
        </a:graphic>
      </p:graphicFrame>
      <p:sp>
        <p:nvSpPr>
          <p:cNvPr id="5" name="">
            <a:extLst xmlns:a="http://schemas.openxmlformats.org/drawingml/2006/main">
              <a:ext uri="{FF2B5EF4-FFF2-40B4-BE49-F238E27FC236}">
                <a16:creationId xmlns:a16="http://schemas.microsoft.com/office/drawing/2014/main" id="{C91744F4-388E-4772-93EB-55F96ADE4F65}"/>
              </a:ext>
            </a:extLst>
          </p:cNvPr>
          <p:cNvSpPr>
            <a:spLocks xmlns:a="http://schemas.openxmlformats.org/drawingml/2006/main" noGrp="1"/>
          </p:cNvSpPr>
          <p:nvPr/>
        </p:nvSpPr>
        <p:spPr>
          <a:xfrm xmlns:a="http://schemas.openxmlformats.org/drawingml/2006/main">
            <a:off x="609600" y="573405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02B45"/>
                </a:solidFill>
                <a:latin typeface="Arial"/>
                <a:ea typeface="Arial"/>
                <a:cs typeface="Arial"/>
              </a:defRPr>
            </a:pPr>
            <a:r>
              <a:rPr sz="2025" b="1">
                <a:solidFill>
                  <a:srgbClr val="102B45"/>
                </a:solidFill>
                <a:latin typeface="Arial"/>
                <a:ea typeface="Arial"/>
                <a:cs typeface="Arial"/>
              </a:rPr>
              <a:t>Spectral features outperformed these waveform tensor methods</a:t>
            </a:r>
          </a:p>
        </p:txBody>
      </p:sp>
      <p:sp>
        <p:nvSpPr>
          <p:cNvPr id="6" name="">
            <a:extLst xmlns:a="http://schemas.openxmlformats.org/drawingml/2006/main">
              <a:ext uri="{FF2B5EF4-FFF2-40B4-BE49-F238E27FC236}">
                <a16:creationId xmlns:a16="http://schemas.microsoft.com/office/drawing/2014/main" id="{E6A6EF1F-D326-40FA-AC21-63C02386E1F5}"/>
              </a:ext>
            </a:extLst>
          </p:cNvPr>
          <p:cNvSpPr>
            <a:spLocks xmlns:a="http://schemas.openxmlformats.org/drawingml/2006/main" noGrp="1"/>
          </p:cNvSpPr>
          <p:nvPr/>
        </p:nvSpPr>
        <p:spPr>
          <a:xfrm xmlns:a="http://schemas.openxmlformats.org/drawingml/2006/main">
            <a:off x="609600" y="6381750"/>
            <a:ext cx="1038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66779"/>
                </a:solidFill>
                <a:latin typeface="Arial"/>
                <a:ea typeface="Arial"/>
                <a:cs typeface="Arial"/>
              </a:defRPr>
            </a:pPr>
            <a:r>
              <a:rPr sz="1125" b="0">
                <a:solidFill>
                  <a:srgbClr val="566779"/>
                </a:solidFill>
                <a:latin typeface="Arial"/>
                <a:ea typeface="Arial"/>
                <a:cs typeface="Arial"/>
              </a:rPr>
              <a:t>Primary complete selection: 52.0% balanced accuracy. Spectral control: 55.8%.</a:t>
            </a:r>
          </a:p>
        </p:txBody>
      </p:sp>
    </p:spTree>
    <p:extLst>
      <p:ext uri="{BB962C8B-B14F-4D97-AF65-F5344CB8AC3E}">
        <p14:creationId xmlns:p14="http://schemas.microsoft.com/office/powerpoint/2010/main" val="11912407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E515DAB-AC3F-4DE6-A8E4-45387821C7EB}"/>
              </a:ext>
            </a:extLst>
          </p:cNvPr>
          <p:cNvSpPr>
            <a:spLocks xmlns:a="http://schemas.openxmlformats.org/drawingml/2006/main" noGrp="1"/>
          </p:cNvSpPr>
          <p:nvPr/>
        </p:nvSpPr>
        <p:spPr>
          <a:xfrm xmlns:a="http://schemas.openxmlformats.org/drawingml/2006/main">
            <a:off x="609600" y="4000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B45"/>
                </a:solidFill>
                <a:latin typeface="Arial"/>
                <a:ea typeface="Arial"/>
                <a:cs typeface="Arial"/>
              </a:defRPr>
            </a:pPr>
            <a:r>
              <a:rPr sz="3225" b="1">
                <a:solidFill>
                  <a:srgbClr val="102B45"/>
                </a:solidFill>
                <a:latin typeface="Arial"/>
                <a:ea typeface="Arial"/>
                <a:cs typeface="Arial"/>
              </a:rPr>
              <a:t>Latest experiment: connectivity features</a:t>
            </a:r>
          </a:p>
        </p:txBody>
      </p:sp>
      <p:sp>
        <p:nvSpPr>
          <p:cNvPr id="2" name="">
            <a:extLst xmlns:a="http://schemas.openxmlformats.org/drawingml/2006/main">
              <a:ext uri="{FF2B5EF4-FFF2-40B4-BE49-F238E27FC236}">
                <a16:creationId xmlns:a16="http://schemas.microsoft.com/office/drawing/2014/main" id="{D1FFF244-CBF9-418B-9071-377C4A7A8572}"/>
              </a:ext>
            </a:extLst>
          </p:cNvPr>
          <p:cNvSpPr>
            <a:spLocks xmlns:a="http://schemas.openxmlformats.org/drawingml/2006/main" noGrp="1"/>
          </p:cNvSpPr>
          <p:nvPr/>
        </p:nvSpPr>
        <p:spPr>
          <a:xfrm xmlns:a="http://schemas.openxmlformats.org/drawingml/2006/main">
            <a:off x="609600" y="12096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66779"/>
                </a:solidFill>
                <a:latin typeface="Arial"/>
                <a:ea typeface="Arial"/>
                <a:cs typeface="Arial"/>
              </a:defRPr>
            </a:pPr>
            <a:r>
              <a:rPr sz="1725" b="0">
                <a:solidFill>
                  <a:srgbClr val="566779"/>
                </a:solidFill>
                <a:latin typeface="Arial"/>
                <a:ea typeface="Arial"/>
                <a:cs typeface="Arial"/>
              </a:rPr>
              <a:t>V5, the same 88 people with whole-recording and grouped-window summaries</a:t>
            </a:r>
          </a:p>
        </p:txBody>
      </p:sp>
      <p:sp>
        <p:nvSpPr>
          <p:cNvPr id="3" name="">
            <a:extLst xmlns:a="http://schemas.openxmlformats.org/drawingml/2006/main">
              <a:ext uri="{FF2B5EF4-FFF2-40B4-BE49-F238E27FC236}">
                <a16:creationId xmlns:a16="http://schemas.microsoft.com/office/drawing/2014/main" id="{095DBEC3-12E0-426D-8822-1FD7694D3299}"/>
              </a:ext>
            </a:extLst>
          </p:cNvPr>
          <p:cNvSpPr>
            <a:spLocks xmlns:a="http://schemas.openxmlformats.org/drawingml/2006/main" noGrp="1"/>
          </p:cNvSpPr>
          <p:nvPr/>
        </p:nvSpPr>
        <p:spPr>
          <a:xfrm xmlns:a="http://schemas.openxmlformats.org/drawingml/2006/main">
            <a:off x="1114425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66779"/>
                </a:solidFill>
                <a:latin typeface="Arial"/>
                <a:ea typeface="Arial"/>
                <a:cs typeface="Arial"/>
              </a:defRPr>
            </a:pPr>
            <a:r>
              <a:rPr sz="1125" b="0">
                <a:solidFill>
                  <a:srgbClr val="566779"/>
                </a:solidFill>
                <a:latin typeface="Arial"/>
                <a:ea typeface="Arial"/>
                <a:cs typeface="Arial"/>
              </a:rPr>
              <a:t>16</a:t>
            </a:r>
          </a:p>
        </p:txBody>
      </p:sp>
      <p:graphicFrame>
        <p:nvGraphicFramePr>
          <p:cNvPr id="10" name="Chart"/>
          <p:cNvGraphicFramePr/>
          <p:nvPr/>
        </p:nvGraphicFramePr>
        <p:xfrm>
          <a:off xmlns:a="http://schemas.openxmlformats.org/drawingml/2006/main" x="609600" y="1866900"/>
          <a:ext xmlns:a="http://schemas.openxmlformats.org/drawingml/2006/main" cx="10972800" cy="3600450"/>
        </p:xfrm>
        <a:graphic xmlns:a="http://schemas.openxmlformats.org/drawingml/2006/main">
          <a:graphicData uri="http://schemas.openxmlformats.org/drawingml/2006/chart">
            <c:chart xmlns:r="http://schemas.openxmlformats.org/officeDocument/2006/relationships" xmlns:c="http://schemas.openxmlformats.org/drawingml/2006/chart" r:id="R7044d7f1c37f4e47"/>
          </a:graphicData>
        </a:graphic>
      </p:graphicFrame>
      <p:sp>
        <p:nvSpPr>
          <p:cNvPr id="5" name="">
            <a:extLst xmlns:a="http://schemas.openxmlformats.org/drawingml/2006/main">
              <a:ext uri="{FF2B5EF4-FFF2-40B4-BE49-F238E27FC236}">
                <a16:creationId xmlns:a16="http://schemas.microsoft.com/office/drawing/2014/main" id="{82E73FC4-D469-4087-B9C9-0E7231C857AD}"/>
              </a:ext>
            </a:extLst>
          </p:cNvPr>
          <p:cNvSpPr>
            <a:spLocks xmlns:a="http://schemas.openxmlformats.org/drawingml/2006/main" noGrp="1"/>
          </p:cNvSpPr>
          <p:nvPr/>
        </p:nvSpPr>
        <p:spPr>
          <a:xfrm xmlns:a="http://schemas.openxmlformats.org/drawingml/2006/main">
            <a:off x="609600" y="573405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02B45"/>
                </a:solidFill>
                <a:latin typeface="Arial"/>
                <a:ea typeface="Arial"/>
                <a:cs typeface="Arial"/>
              </a:defRPr>
            </a:pPr>
            <a:r>
              <a:rPr sz="2025" b="1">
                <a:solidFill>
                  <a:srgbClr val="102B45"/>
                </a:solidFill>
                <a:latin typeface="Arial"/>
                <a:ea typeface="Arial"/>
                <a:cs typeface="Arial"/>
              </a:rPr>
              <a:t>Connectivity features did not resolve the FTD difficulty</a:t>
            </a:r>
          </a:p>
        </p:txBody>
      </p:sp>
      <p:sp>
        <p:nvSpPr>
          <p:cNvPr id="6" name="">
            <a:extLst xmlns:a="http://schemas.openxmlformats.org/drawingml/2006/main">
              <a:ext uri="{FF2B5EF4-FFF2-40B4-BE49-F238E27FC236}">
                <a16:creationId xmlns:a16="http://schemas.microsoft.com/office/drawing/2014/main" id="{D07FFF97-2C86-484F-AC2E-E86F77BC6D5E}"/>
              </a:ext>
            </a:extLst>
          </p:cNvPr>
          <p:cNvSpPr>
            <a:spLocks xmlns:a="http://schemas.openxmlformats.org/drawingml/2006/main" noGrp="1"/>
          </p:cNvSpPr>
          <p:nvPr/>
        </p:nvSpPr>
        <p:spPr>
          <a:xfrm xmlns:a="http://schemas.openxmlformats.org/drawingml/2006/main">
            <a:off x="609600" y="6381750"/>
            <a:ext cx="1038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66779"/>
                </a:solidFill>
                <a:latin typeface="Arial"/>
                <a:ea typeface="Arial"/>
                <a:cs typeface="Arial"/>
              </a:defRPr>
            </a:pPr>
            <a:r>
              <a:rPr sz="1125" b="0">
                <a:solidFill>
                  <a:srgbClr val="566779"/>
                </a:solidFill>
                <a:latin typeface="Arial"/>
                <a:ea typeface="Arial"/>
                <a:cs typeface="Arial"/>
              </a:rPr>
              <a:t>Local V5 results: all 15 folds completed. Primary balanced accuracy: 55.0%, FTD recall: 33.3%.</a:t>
            </a:r>
          </a:p>
        </p:txBody>
      </p:sp>
    </p:spTree>
    <p:extLst>
      <p:ext uri="{BB962C8B-B14F-4D97-AF65-F5344CB8AC3E}">
        <p14:creationId xmlns:p14="http://schemas.microsoft.com/office/powerpoint/2010/main" val="171433401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1BCCBB0-AD2C-4F38-B7BE-48AA6F6F88AB}"/>
              </a:ext>
            </a:extLst>
          </p:cNvPr>
          <p:cNvSpPr>
            <a:spLocks xmlns:a="http://schemas.openxmlformats.org/drawingml/2006/main" noGrp="1"/>
          </p:cNvSpPr>
          <p:nvPr/>
        </p:nvSpPr>
        <p:spPr>
          <a:xfrm xmlns:a="http://schemas.openxmlformats.org/drawingml/2006/main">
            <a:off x="609600" y="4000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B45"/>
                </a:solidFill>
                <a:latin typeface="Arial"/>
                <a:ea typeface="Arial"/>
                <a:cs typeface="Arial"/>
              </a:defRPr>
            </a:pPr>
            <a:r>
              <a:rPr sz="3225" b="1">
                <a:solidFill>
                  <a:srgbClr val="102B45"/>
                </a:solidFill>
                <a:latin typeface="Arial"/>
                <a:ea typeface="Arial"/>
                <a:cs typeface="Arial"/>
              </a:rPr>
              <a:t>Why higher accuracy remains difficult</a:t>
            </a:r>
          </a:p>
        </p:txBody>
      </p:sp>
      <p:sp>
        <p:nvSpPr>
          <p:cNvPr id="2" name="">
            <a:extLst xmlns:a="http://schemas.openxmlformats.org/drawingml/2006/main">
              <a:ext uri="{FF2B5EF4-FFF2-40B4-BE49-F238E27FC236}">
                <a16:creationId xmlns:a16="http://schemas.microsoft.com/office/drawing/2014/main" id="{6AB792B8-207C-4065-B951-C7940977174F}"/>
              </a:ext>
            </a:extLst>
          </p:cNvPr>
          <p:cNvSpPr>
            <a:spLocks xmlns:a="http://schemas.openxmlformats.org/drawingml/2006/main" noGrp="1"/>
          </p:cNvSpPr>
          <p:nvPr/>
        </p:nvSpPr>
        <p:spPr>
          <a:xfrm xmlns:a="http://schemas.openxmlformats.org/drawingml/2006/main">
            <a:off x="609600" y="12096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66779"/>
                </a:solidFill>
                <a:latin typeface="Arial"/>
                <a:ea typeface="Arial"/>
                <a:cs typeface="Arial"/>
              </a:defRPr>
            </a:pPr>
            <a:r>
              <a:rPr sz="1725" b="0">
                <a:solidFill>
                  <a:srgbClr val="566779"/>
                </a:solidFill>
                <a:latin typeface="Arial"/>
                <a:ea typeface="Arial"/>
                <a:cs typeface="Arial"/>
              </a:rPr>
              <a:t>Working hypothesis: limited patient diversity plus loss of useful signal</a:t>
            </a:r>
          </a:p>
        </p:txBody>
      </p:sp>
      <p:sp>
        <p:nvSpPr>
          <p:cNvPr id="3" name="">
            <a:extLst xmlns:a="http://schemas.openxmlformats.org/drawingml/2006/main">
              <a:ext uri="{FF2B5EF4-FFF2-40B4-BE49-F238E27FC236}">
                <a16:creationId xmlns:a16="http://schemas.microsoft.com/office/drawing/2014/main" id="{B489C085-E3C8-46D6-B93D-5690E0F67FA4}"/>
              </a:ext>
            </a:extLst>
          </p:cNvPr>
          <p:cNvSpPr>
            <a:spLocks xmlns:a="http://schemas.openxmlformats.org/drawingml/2006/main" noGrp="1"/>
          </p:cNvSpPr>
          <p:nvPr/>
        </p:nvSpPr>
        <p:spPr>
          <a:xfrm xmlns:a="http://schemas.openxmlformats.org/drawingml/2006/main">
            <a:off x="1114425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66779"/>
                </a:solidFill>
                <a:latin typeface="Arial"/>
                <a:ea typeface="Arial"/>
                <a:cs typeface="Arial"/>
              </a:defRPr>
            </a:pPr>
            <a:r>
              <a:rPr sz="1125" b="0">
                <a:solidFill>
                  <a:srgbClr val="566779"/>
                </a:solidFill>
                <a:latin typeface="Arial"/>
                <a:ea typeface="Arial"/>
                <a:cs typeface="Arial"/>
              </a:rPr>
              <a:t>17</a:t>
            </a:r>
          </a:p>
        </p:txBody>
      </p:sp>
      <p:graphicFrame>
        <p:nvGraphicFramePr>
          <p:cNvPr id="12" name="Chart"/>
          <p:cNvGraphicFramePr/>
          <p:nvPr/>
        </p:nvGraphicFramePr>
        <p:xfrm>
          <a:off xmlns:a="http://schemas.openxmlformats.org/drawingml/2006/main" x="609600" y="1952625"/>
          <a:ext xmlns:a="http://schemas.openxmlformats.org/drawingml/2006/main" cx="7429500" cy="3486150"/>
        </p:xfrm>
        <a:graphic xmlns:a="http://schemas.openxmlformats.org/drawingml/2006/main">
          <a:graphicData uri="http://schemas.openxmlformats.org/drawingml/2006/chart">
            <c:chart xmlns:r="http://schemas.openxmlformats.org/officeDocument/2006/relationships" xmlns:c="http://schemas.openxmlformats.org/drawingml/2006/chart" r:id="R401ee31092954ea1"/>
          </a:graphicData>
        </a:graphic>
      </p:graphicFrame>
      <p:sp>
        <p:nvSpPr>
          <p:cNvPr id="5" name="">
            <a:extLst xmlns:a="http://schemas.openxmlformats.org/drawingml/2006/main">
              <a:ext uri="{FF2B5EF4-FFF2-40B4-BE49-F238E27FC236}">
                <a16:creationId xmlns:a16="http://schemas.microsoft.com/office/drawing/2014/main" id="{2F0F9FCB-6275-41F9-9C9C-248CEAF2C69E}"/>
              </a:ext>
            </a:extLst>
          </p:cNvPr>
          <p:cNvSpPr>
            <a:spLocks xmlns:a="http://schemas.openxmlformats.org/drawingml/2006/main" noGrp="1"/>
          </p:cNvSpPr>
          <p:nvPr/>
        </p:nvSpPr>
        <p:spPr>
          <a:xfrm xmlns:a="http://schemas.openxmlformats.org/drawingml/2006/main">
            <a:off x="8486775" y="2133600"/>
            <a:ext cx="3095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2B45"/>
                </a:solidFill>
                <a:latin typeface="Arial"/>
                <a:ea typeface="Arial"/>
                <a:cs typeface="Arial"/>
              </a:defRPr>
            </a:pPr>
            <a:r>
              <a:rPr sz="2175" b="1">
                <a:solidFill>
                  <a:srgbClr val="102B45"/>
                </a:solidFill>
                <a:latin typeface="Arial"/>
                <a:ea typeface="Arial"/>
                <a:cs typeface="Arial"/>
              </a:rPr>
              <a:t>Only 23 FTD people</a:t>
            </a:r>
          </a:p>
        </p:txBody>
      </p:sp>
      <p:sp>
        <p:nvSpPr>
          <p:cNvPr id="6" name="">
            <a:extLst xmlns:a="http://schemas.openxmlformats.org/drawingml/2006/main">
              <a:ext uri="{FF2B5EF4-FFF2-40B4-BE49-F238E27FC236}">
                <a16:creationId xmlns:a16="http://schemas.microsoft.com/office/drawing/2014/main" id="{4C980664-5CEB-409D-A48E-157E1E3F5A9D}"/>
              </a:ext>
            </a:extLst>
          </p:cNvPr>
          <p:cNvSpPr>
            <a:spLocks xmlns:a="http://schemas.openxmlformats.org/drawingml/2006/main" noGrp="1"/>
          </p:cNvSpPr>
          <p:nvPr/>
        </p:nvSpPr>
        <p:spPr>
          <a:xfrm xmlns:a="http://schemas.openxmlformats.org/drawingml/2006/main">
            <a:off x="8486775" y="2914650"/>
            <a:ext cx="3095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66779"/>
                </a:solidFill>
                <a:latin typeface="Arial"/>
                <a:ea typeface="Arial"/>
                <a:cs typeface="Arial"/>
              </a:defRPr>
            </a:pPr>
            <a:r>
              <a:rPr sz="1950" b="0">
                <a:solidFill>
                  <a:srgbClr val="566779"/>
                </a:solidFill>
                <a:latin typeface="Arial"/>
                <a:ea typeface="Arial"/>
                <a:cs typeface="Arial"/>
              </a:rPr>
              <a:t>Individual differences can dominate the learned patterns.</a:t>
            </a:r>
          </a:p>
        </p:txBody>
      </p:sp>
      <p:sp>
        <p:nvSpPr>
          <p:cNvPr id="7" name="">
            <a:extLst xmlns:a="http://schemas.openxmlformats.org/drawingml/2006/main">
              <a:ext uri="{FF2B5EF4-FFF2-40B4-BE49-F238E27FC236}">
                <a16:creationId xmlns:a16="http://schemas.microsoft.com/office/drawing/2014/main" id="{B4554028-7435-43AB-A743-5DA624A6F753}"/>
              </a:ext>
            </a:extLst>
          </p:cNvPr>
          <p:cNvSpPr>
            <a:spLocks xmlns:a="http://schemas.openxmlformats.org/drawingml/2006/main" noGrp="1"/>
          </p:cNvSpPr>
          <p:nvPr/>
        </p:nvSpPr>
        <p:spPr>
          <a:xfrm xmlns:a="http://schemas.openxmlformats.org/drawingml/2006/main">
            <a:off x="8486775" y="4200525"/>
            <a:ext cx="3095625"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66779"/>
                </a:solidFill>
                <a:latin typeface="Arial"/>
                <a:ea typeface="Arial"/>
                <a:cs typeface="Arial"/>
              </a:defRPr>
            </a:pPr>
            <a:r>
              <a:rPr sz="1950" b="0">
                <a:solidFill>
                  <a:srgbClr val="566779"/>
                </a:solidFill>
                <a:latin typeface="Arial"/>
                <a:ea typeface="Arial"/>
                <a:cs typeface="Arial"/>
              </a:rPr>
              <a:t>Compression and averaging may remove weak diagnostic clues.</a:t>
            </a:r>
          </a:p>
        </p:txBody>
      </p:sp>
      <p:sp>
        <p:nvSpPr>
          <p:cNvPr id="8" name="">
            <a:extLst xmlns:a="http://schemas.openxmlformats.org/drawingml/2006/main">
              <a:ext uri="{FF2B5EF4-FFF2-40B4-BE49-F238E27FC236}">
                <a16:creationId xmlns:a16="http://schemas.microsoft.com/office/drawing/2014/main" id="{FB06BCF7-33E6-4757-8EBB-C767EBC9252D}"/>
              </a:ext>
            </a:extLst>
          </p:cNvPr>
          <p:cNvSpPr>
            <a:spLocks xmlns:a="http://schemas.openxmlformats.org/drawingml/2006/main" noGrp="1"/>
          </p:cNvSpPr>
          <p:nvPr/>
        </p:nvSpPr>
        <p:spPr>
          <a:xfrm xmlns:a="http://schemas.openxmlformats.org/drawingml/2006/main">
            <a:off x="609600" y="6381750"/>
            <a:ext cx="1038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66779"/>
                </a:solidFill>
                <a:latin typeface="Arial"/>
                <a:ea typeface="Arial"/>
                <a:cs typeface="Arial"/>
              </a:defRPr>
            </a:pPr>
            <a:r>
              <a:rPr sz="1125" b="0">
                <a:solidFill>
                  <a:srgbClr val="566779"/>
                </a:solidFill>
                <a:latin typeface="Arial"/>
                <a:ea typeface="Arial"/>
                <a:cs typeface="Arial"/>
              </a:rPr>
              <a:t>V2 balanced accuracy. These training and validation gaps support the hypothesis but do not prove its cause.</a:t>
            </a:r>
          </a:p>
        </p:txBody>
      </p:sp>
    </p:spTree>
    <p:extLst>
      <p:ext uri="{BB962C8B-B14F-4D97-AF65-F5344CB8AC3E}">
        <p14:creationId xmlns:p14="http://schemas.microsoft.com/office/powerpoint/2010/main" val="111290255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EB353AE-FE1A-46EC-93CD-D21575B94F39}"/>
              </a:ext>
            </a:extLst>
          </p:cNvPr>
          <p:cNvSpPr>
            <a:spLocks xmlns:a="http://schemas.openxmlformats.org/drawingml/2006/main" noGrp="1"/>
          </p:cNvSpPr>
          <p:nvPr/>
        </p:nvSpPr>
        <p:spPr>
          <a:xfrm xmlns:a="http://schemas.openxmlformats.org/drawingml/2006/main">
            <a:off x="609600" y="4000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B45"/>
                </a:solidFill>
                <a:latin typeface="Arial"/>
                <a:ea typeface="Arial"/>
                <a:cs typeface="Arial"/>
              </a:defRPr>
            </a:pPr>
            <a:r>
              <a:rPr sz="3225" b="1">
                <a:solidFill>
                  <a:srgbClr val="102B45"/>
                </a:solidFill>
                <a:latin typeface="Arial"/>
                <a:ea typeface="Arial"/>
                <a:cs typeface="Arial"/>
              </a:rPr>
              <a:t>Progress achieved and next experiment</a:t>
            </a:r>
          </a:p>
        </p:txBody>
      </p:sp>
      <p:sp>
        <p:nvSpPr>
          <p:cNvPr id="2" name="">
            <a:extLst xmlns:a="http://schemas.openxmlformats.org/drawingml/2006/main">
              <a:ext uri="{FF2B5EF4-FFF2-40B4-BE49-F238E27FC236}">
                <a16:creationId xmlns:a16="http://schemas.microsoft.com/office/drawing/2014/main" id="{841C419F-4AD6-4EA8-A180-275CB810E0DA}"/>
              </a:ext>
            </a:extLst>
          </p:cNvPr>
          <p:cNvSpPr>
            <a:spLocks xmlns:a="http://schemas.openxmlformats.org/drawingml/2006/main" noGrp="1"/>
          </p:cNvSpPr>
          <p:nvPr/>
        </p:nvSpPr>
        <p:spPr>
          <a:xfrm xmlns:a="http://schemas.openxmlformats.org/drawingml/2006/main">
            <a:off x="609600" y="12096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66779"/>
                </a:solidFill>
                <a:latin typeface="Arial"/>
                <a:ea typeface="Arial"/>
                <a:cs typeface="Arial"/>
              </a:defRPr>
            </a:pPr>
            <a:r>
              <a:rPr sz="1725" b="0">
                <a:solidFill>
                  <a:srgbClr val="566779"/>
                </a:solidFill>
                <a:latin typeface="Arial"/>
                <a:ea typeface="Arial"/>
                <a:cs typeface="Arial"/>
              </a:rPr>
              <a:t>The next question is whether targeted signal curation improves generalization</a:t>
            </a:r>
          </a:p>
        </p:txBody>
      </p:sp>
      <p:sp>
        <p:nvSpPr>
          <p:cNvPr id="3" name="">
            <a:extLst xmlns:a="http://schemas.openxmlformats.org/drawingml/2006/main">
              <a:ext uri="{FF2B5EF4-FFF2-40B4-BE49-F238E27FC236}">
                <a16:creationId xmlns:a16="http://schemas.microsoft.com/office/drawing/2014/main" id="{A42D7BE4-4E15-4494-9A41-065C640BF146}"/>
              </a:ext>
            </a:extLst>
          </p:cNvPr>
          <p:cNvSpPr>
            <a:spLocks xmlns:a="http://schemas.openxmlformats.org/drawingml/2006/main" noGrp="1"/>
          </p:cNvSpPr>
          <p:nvPr/>
        </p:nvSpPr>
        <p:spPr>
          <a:xfrm xmlns:a="http://schemas.openxmlformats.org/drawingml/2006/main">
            <a:off x="1114425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66779"/>
                </a:solidFill>
                <a:latin typeface="Arial"/>
                <a:ea typeface="Arial"/>
                <a:cs typeface="Arial"/>
              </a:defRPr>
            </a:pPr>
            <a:r>
              <a:rPr sz="1125" b="0">
                <a:solidFill>
                  <a:srgbClr val="566779"/>
                </a:solidFill>
                <a:latin typeface="Arial"/>
                <a:ea typeface="Arial"/>
                <a:cs typeface="Arial"/>
              </a:rPr>
              <a:t>18</a:t>
            </a:r>
          </a:p>
        </p:txBody>
      </p:sp>
      <p:sp>
        <p:nvSpPr>
          <p:cNvPr id="4" name="">
            <a:extLst xmlns:a="http://schemas.openxmlformats.org/drawingml/2006/main">
              <a:ext uri="{FF2B5EF4-FFF2-40B4-BE49-F238E27FC236}">
                <a16:creationId xmlns:a16="http://schemas.microsoft.com/office/drawing/2014/main" id="{58163033-8A9B-48A0-A45B-7FF2B52D7201}"/>
              </a:ext>
            </a:extLst>
          </p:cNvPr>
          <p:cNvSpPr>
            <a:spLocks xmlns:a="http://schemas.openxmlformats.org/drawingml/2006/main" noGrp="1"/>
          </p:cNvSpPr>
          <p:nvPr/>
        </p:nvSpPr>
        <p:spPr>
          <a:xfrm xmlns:a="http://schemas.openxmlformats.org/drawingml/2006/main">
            <a:off x="609600" y="1971675"/>
            <a:ext cx="4953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007F83"/>
                </a:solidFill>
                <a:latin typeface="Arial"/>
                <a:ea typeface="Arial"/>
                <a:cs typeface="Arial"/>
              </a:defRPr>
            </a:pPr>
            <a:r>
              <a:rPr sz="2475" b="1">
                <a:solidFill>
                  <a:srgbClr val="007F83"/>
                </a:solidFill>
                <a:latin typeface="Arial"/>
                <a:ea typeface="Arial"/>
                <a:cs typeface="Arial"/>
              </a:rPr>
              <a:t>Completed</a:t>
            </a:r>
          </a:p>
        </p:txBody>
      </p:sp>
      <p:sp>
        <p:nvSpPr>
          <p:cNvPr id="5" name="">
            <a:extLst xmlns:a="http://schemas.openxmlformats.org/drawingml/2006/main">
              <a:ext uri="{FF2B5EF4-FFF2-40B4-BE49-F238E27FC236}">
                <a16:creationId xmlns:a16="http://schemas.microsoft.com/office/drawing/2014/main" id="{8E07D094-451E-4309-AD92-CBEC51C5F285}"/>
              </a:ext>
            </a:extLst>
          </p:cNvPr>
          <p:cNvSpPr>
            <a:spLocks xmlns:a="http://schemas.openxmlformats.org/drawingml/2006/main" noGrp="1"/>
          </p:cNvSpPr>
          <p:nvPr/>
        </p:nvSpPr>
        <p:spPr>
          <a:xfrm xmlns:a="http://schemas.openxmlformats.org/drawingml/2006/main">
            <a:off x="609600" y="2657475"/>
            <a:ext cx="5114925" cy="2162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02B45"/>
                </a:solidFill>
                <a:latin typeface="Arial"/>
                <a:ea typeface="Arial"/>
                <a:cs typeface="Arial"/>
              </a:defRPr>
            </a:pPr>
            <a:r>
              <a:rPr sz="2100" b="0">
                <a:solidFill>
                  <a:srgbClr val="102B45"/>
                </a:solidFill>
                <a:latin typeface="Arial"/>
                <a:ea typeface="Arial"/>
                <a:cs typeface="Arial"/>
              </a:rPr>
              <a:t>Reproducible EEG preparation</a:t>
            </a:r>
          </a:p>
          <a:p xmlns:a="http://schemas.openxmlformats.org/drawingml/2006/main">
            <a:pPr>
              <a:defRPr sz="2100" b="0">
                <a:solidFill>
                  <a:srgbClr val="102B45"/>
                </a:solidFill>
                <a:latin typeface="Arial"/>
                <a:ea typeface="Arial"/>
                <a:cs typeface="Arial"/>
              </a:defRPr>
            </a:pPr>
            <a:r>
              <a:rPr sz="2100" b="0">
                <a:solidFill>
                  <a:srgbClr val="102B45"/>
                </a:solidFill>
                <a:latin typeface="Arial"/>
                <a:ea typeface="Arial"/>
                <a:cs typeface="Arial"/>
              </a:rPr>
              <a:t>Participant-level evaluation</a:t>
            </a:r>
          </a:p>
          <a:p xmlns:a="http://schemas.openxmlformats.org/drawingml/2006/main">
            <a:pPr>
              <a:defRPr sz="2100" b="0">
                <a:solidFill>
                  <a:srgbClr val="102B45"/>
                </a:solidFill>
                <a:latin typeface="Arial"/>
                <a:ea typeface="Arial"/>
                <a:cs typeface="Arial"/>
              </a:defRPr>
            </a:pPr>
            <a:r>
              <a:rPr sz="2100" b="0">
                <a:solidFill>
                  <a:srgbClr val="102B45"/>
                </a:solidFill>
                <a:latin typeface="Arial"/>
                <a:ea typeface="Arial"/>
                <a:cs typeface="Arial"/>
              </a:rPr>
              <a:t>Tensor and classifier comparisons</a:t>
            </a:r>
          </a:p>
          <a:p xmlns:a="http://schemas.openxmlformats.org/drawingml/2006/main">
            <a:pPr>
              <a:defRPr sz="2100" b="0">
                <a:solidFill>
                  <a:srgbClr val="102B45"/>
                </a:solidFill>
                <a:latin typeface="Arial"/>
                <a:ea typeface="Arial"/>
                <a:cs typeface="Arial"/>
              </a:defRPr>
            </a:pPr>
            <a:r>
              <a:rPr sz="2100" b="0">
                <a:solidFill>
                  <a:srgbClr val="102B45"/>
                </a:solidFill>
                <a:latin typeface="Arial"/>
                <a:ea typeface="Arial"/>
                <a:cs typeface="Arial"/>
              </a:rPr>
              <a:t>A clear record of FTD errors</a:t>
            </a:r>
          </a:p>
        </p:txBody>
      </p:sp>
      <p:sp>
        <p:nvSpPr>
          <p:cNvPr id="6" name="">
            <a:extLst xmlns:a="http://schemas.openxmlformats.org/drawingml/2006/main">
              <a:ext uri="{FF2B5EF4-FFF2-40B4-BE49-F238E27FC236}">
                <a16:creationId xmlns:a16="http://schemas.microsoft.com/office/drawing/2014/main" id="{99100BDC-3D75-4AD4-8631-6DE493D9A85B}"/>
              </a:ext>
            </a:extLst>
          </p:cNvPr>
          <p:cNvSpPr>
            <a:spLocks xmlns:a="http://schemas.openxmlformats.org/drawingml/2006/main" noGrp="1"/>
          </p:cNvSpPr>
          <p:nvPr/>
        </p:nvSpPr>
        <p:spPr>
          <a:xfrm xmlns:a="http://schemas.openxmlformats.org/drawingml/2006/main">
            <a:off x="6486525" y="1971675"/>
            <a:ext cx="50958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007F83"/>
                </a:solidFill>
                <a:latin typeface="Arial"/>
                <a:ea typeface="Arial"/>
                <a:cs typeface="Arial"/>
              </a:defRPr>
            </a:pPr>
            <a:r>
              <a:rPr sz="2475" b="1">
                <a:solidFill>
                  <a:srgbClr val="007F83"/>
                </a:solidFill>
                <a:latin typeface="Arial"/>
                <a:ea typeface="Arial"/>
                <a:cs typeface="Arial"/>
              </a:rPr>
              <a:t>Proposed next steps</a:t>
            </a:r>
          </a:p>
        </p:txBody>
      </p:sp>
      <p:sp>
        <p:nvSpPr>
          <p:cNvPr id="7" name="">
            <a:extLst xmlns:a="http://schemas.openxmlformats.org/drawingml/2006/main">
              <a:ext uri="{FF2B5EF4-FFF2-40B4-BE49-F238E27FC236}">
                <a16:creationId xmlns:a16="http://schemas.microsoft.com/office/drawing/2014/main" id="{16772576-5534-44D2-A7EB-D566D1E388C8}"/>
              </a:ext>
            </a:extLst>
          </p:cNvPr>
          <p:cNvSpPr>
            <a:spLocks xmlns:a="http://schemas.openxmlformats.org/drawingml/2006/main" noGrp="1"/>
          </p:cNvSpPr>
          <p:nvPr/>
        </p:nvSpPr>
        <p:spPr>
          <a:xfrm xmlns:a="http://schemas.openxmlformats.org/drawingml/2006/main">
            <a:off x="6486525" y="2657475"/>
            <a:ext cx="5095875" cy="2409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02B45"/>
                </a:solidFill>
                <a:latin typeface="Arial"/>
                <a:ea typeface="Arial"/>
                <a:cs typeface="Arial"/>
              </a:defRPr>
            </a:pPr>
            <a:r>
              <a:rPr sz="2025" b="0">
                <a:solidFill>
                  <a:srgbClr val="102B45"/>
                </a:solidFill>
                <a:latin typeface="Arial"/>
                <a:ea typeface="Arial"/>
                <a:cs typeface="Arial"/>
              </a:rPr>
              <a:t>Audit residual noise in the primary cohort</a:t>
            </a:r>
          </a:p>
          <a:p xmlns:a="http://schemas.openxmlformats.org/drawingml/2006/main">
            <a:pPr>
              <a:defRPr sz="2025" b="0">
                <a:solidFill>
                  <a:srgbClr val="102B45"/>
                </a:solidFill>
                <a:latin typeface="Arial"/>
                <a:ea typeface="Arial"/>
                <a:cs typeface="Arial"/>
              </a:defRPr>
            </a:pPr>
            <a:r>
              <a:rPr sz="2025" b="0">
                <a:solidFill>
                  <a:srgbClr val="102B45"/>
                </a:solidFill>
                <a:latin typeface="Arial"/>
                <a:ea typeface="Arial"/>
                <a:cs typeface="Arial"/>
              </a:rPr>
              <a:t>Fix quality rules before model evaluation</a:t>
            </a:r>
          </a:p>
          <a:p xmlns:a="http://schemas.openxmlformats.org/drawingml/2006/main">
            <a:pPr>
              <a:defRPr sz="2025" b="0">
                <a:solidFill>
                  <a:srgbClr val="102B45"/>
                </a:solidFill>
                <a:latin typeface="Arial"/>
                <a:ea typeface="Arial"/>
                <a:cs typeface="Arial"/>
              </a:defRPr>
            </a:pPr>
            <a:r>
              <a:rPr sz="2025" b="0">
                <a:solidFill>
                  <a:srgbClr val="102B45"/>
                </a:solidFill>
                <a:latin typeface="Arial"/>
                <a:ea typeface="Arial"/>
                <a:cs typeface="Arial"/>
              </a:rPr>
              <a:t>Compare current and curated inputs</a:t>
            </a:r>
          </a:p>
          <a:p xmlns:a="http://schemas.openxmlformats.org/drawingml/2006/main">
            <a:pPr>
              <a:defRPr sz="2025" b="0">
                <a:solidFill>
                  <a:srgbClr val="102B45"/>
                </a:solidFill>
                <a:latin typeface="Arial"/>
                <a:ea typeface="Arial"/>
                <a:cs typeface="Arial"/>
              </a:defRPr>
            </a:pPr>
            <a:r>
              <a:rPr sz="2025" b="0">
                <a:solidFill>
                  <a:srgbClr val="102B45"/>
                </a:solidFill>
                <a:latin typeface="Arial"/>
                <a:ea typeface="Arial"/>
                <a:cs typeface="Arial"/>
              </a:rPr>
              <a:t>Seek new FTD and external participants</a:t>
            </a:r>
          </a:p>
        </p:txBody>
      </p:sp>
      <p:sp>
        <p:nvSpPr>
          <p:cNvPr id="8" name="">
            <a:extLst xmlns:a="http://schemas.openxmlformats.org/drawingml/2006/main">
              <a:ext uri="{FF2B5EF4-FFF2-40B4-BE49-F238E27FC236}">
                <a16:creationId xmlns:a16="http://schemas.microsoft.com/office/drawing/2014/main" id="{8EA7F981-C711-4BA1-B8B9-64429EC0B3F7}"/>
              </a:ext>
            </a:extLst>
          </p:cNvPr>
          <p:cNvSpPr>
            <a:spLocks xmlns:a="http://schemas.openxmlformats.org/drawingml/2006/main" noGrp="1"/>
          </p:cNvSpPr>
          <p:nvPr/>
        </p:nvSpPr>
        <p:spPr>
          <a:xfrm xmlns:a="http://schemas.openxmlformats.org/drawingml/2006/main">
            <a:off x="609600" y="573405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02B45"/>
                </a:solidFill>
                <a:latin typeface="Arial"/>
                <a:ea typeface="Arial"/>
                <a:cs typeface="Arial"/>
              </a:defRPr>
            </a:pPr>
            <a:r>
              <a:rPr sz="2025" b="1">
                <a:solidFill>
                  <a:srgbClr val="102B45"/>
                </a:solidFill>
                <a:latin typeface="Arial"/>
                <a:ea typeface="Arial"/>
                <a:cs typeface="Arial"/>
              </a:rPr>
              <a:t>Further cleaning needs a controlled comparison</a:t>
            </a:r>
          </a:p>
        </p:txBody>
      </p:sp>
      <p:sp>
        <p:nvSpPr>
          <p:cNvPr id="9" name="">
            <a:extLst xmlns:a="http://schemas.openxmlformats.org/drawingml/2006/main">
              <a:ext uri="{FF2B5EF4-FFF2-40B4-BE49-F238E27FC236}">
                <a16:creationId xmlns:a16="http://schemas.microsoft.com/office/drawing/2014/main" id="{71337212-B7EE-4C2D-823E-20FA4F40034D}"/>
              </a:ext>
            </a:extLst>
          </p:cNvPr>
          <p:cNvSpPr>
            <a:spLocks xmlns:a="http://schemas.openxmlformats.org/drawingml/2006/main" noGrp="1"/>
          </p:cNvSpPr>
          <p:nvPr/>
        </p:nvSpPr>
        <p:spPr>
          <a:xfrm xmlns:a="http://schemas.openxmlformats.org/drawingml/2006/main">
            <a:off x="609600" y="6381750"/>
            <a:ext cx="1038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66779"/>
                </a:solidFill>
                <a:latin typeface="Arial"/>
                <a:ea typeface="Arial"/>
                <a:cs typeface="Arial"/>
              </a:defRPr>
            </a:pPr>
            <a:r>
              <a:rPr sz="1125" b="0">
                <a:solidFill>
                  <a:srgbClr val="566779"/>
                </a:solidFill>
                <a:latin typeface="Arial"/>
                <a:ea typeface="Arial"/>
                <a:cs typeface="Arial"/>
              </a:rPr>
              <a:t>Current results do not establish clinical validity or an accuracy ceiling.</a:t>
            </a:r>
          </a:p>
        </p:txBody>
      </p:sp>
    </p:spTree>
    <p:extLst>
      <p:ext uri="{BB962C8B-B14F-4D97-AF65-F5344CB8AC3E}">
        <p14:creationId xmlns:p14="http://schemas.microsoft.com/office/powerpoint/2010/main" val="112519598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74B7239-03A4-498F-8FFB-E94934316D07}"/>
              </a:ext>
            </a:extLst>
          </p:cNvPr>
          <p:cNvSpPr>
            <a:spLocks xmlns:a="http://schemas.openxmlformats.org/drawingml/2006/main" noGrp="1"/>
          </p:cNvSpPr>
          <p:nvPr/>
        </p:nvSpPr>
        <p:spPr>
          <a:xfrm xmlns:a="http://schemas.openxmlformats.org/drawingml/2006/main">
            <a:off x="609600" y="4000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B45"/>
                </a:solidFill>
                <a:latin typeface="Arial"/>
                <a:ea typeface="Arial"/>
                <a:cs typeface="Arial"/>
              </a:defRPr>
            </a:pPr>
            <a:r>
              <a:rPr sz="3225" b="1">
                <a:solidFill>
                  <a:srgbClr val="102B45"/>
                </a:solidFill>
                <a:latin typeface="Arial"/>
                <a:ea typeface="Arial"/>
                <a:cs typeface="Arial"/>
              </a:rPr>
              <a:t>Backup: earlier results and technical corrections</a:t>
            </a:r>
          </a:p>
        </p:txBody>
      </p:sp>
      <p:sp>
        <p:nvSpPr>
          <p:cNvPr id="2" name="">
            <a:extLst xmlns:a="http://schemas.openxmlformats.org/drawingml/2006/main">
              <a:ext uri="{FF2B5EF4-FFF2-40B4-BE49-F238E27FC236}">
                <a16:creationId xmlns:a16="http://schemas.microsoft.com/office/drawing/2014/main" id="{1EA1E23E-AF81-4C4C-B5EF-B4853F1F70D0}"/>
              </a:ext>
            </a:extLst>
          </p:cNvPr>
          <p:cNvSpPr>
            <a:spLocks xmlns:a="http://schemas.openxmlformats.org/drawingml/2006/main" noGrp="1"/>
          </p:cNvSpPr>
          <p:nvPr/>
        </p:nvSpPr>
        <p:spPr>
          <a:xfrm xmlns:a="http://schemas.openxmlformats.org/drawingml/2006/main">
            <a:off x="609600" y="12096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66779"/>
                </a:solidFill>
                <a:latin typeface="Arial"/>
                <a:ea typeface="Arial"/>
                <a:cs typeface="Arial"/>
              </a:defRPr>
            </a:pPr>
            <a:r>
              <a:rPr sz="1725" b="0">
                <a:solidFill>
                  <a:srgbClr val="566779"/>
                </a:solidFill>
                <a:latin typeface="Arial"/>
                <a:ea typeface="Arial"/>
                <a:cs typeface="Arial"/>
              </a:rPr>
              <a:t>The results include negative findings and known limitations</a:t>
            </a:r>
          </a:p>
        </p:txBody>
      </p:sp>
      <p:sp>
        <p:nvSpPr>
          <p:cNvPr id="3" name="">
            <a:extLst xmlns:a="http://schemas.openxmlformats.org/drawingml/2006/main">
              <a:ext uri="{FF2B5EF4-FFF2-40B4-BE49-F238E27FC236}">
                <a16:creationId xmlns:a16="http://schemas.microsoft.com/office/drawing/2014/main" id="{3AF1402B-58EE-4283-B2AB-F726361FC4EF}"/>
              </a:ext>
            </a:extLst>
          </p:cNvPr>
          <p:cNvSpPr>
            <a:spLocks xmlns:a="http://schemas.openxmlformats.org/drawingml/2006/main" noGrp="1"/>
          </p:cNvSpPr>
          <p:nvPr/>
        </p:nvSpPr>
        <p:spPr>
          <a:xfrm xmlns:a="http://schemas.openxmlformats.org/drawingml/2006/main">
            <a:off x="1114425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66779"/>
                </a:solidFill>
                <a:latin typeface="Arial"/>
                <a:ea typeface="Arial"/>
                <a:cs typeface="Arial"/>
              </a:defRPr>
            </a:pPr>
            <a:r>
              <a:rPr sz="1125" b="0">
                <a:solidFill>
                  <a:srgbClr val="566779"/>
                </a:solidFill>
                <a:latin typeface="Arial"/>
                <a:ea typeface="Arial"/>
                <a:cs typeface="Arial"/>
              </a:rPr>
              <a:t>19</a:t>
            </a:r>
          </a:p>
        </p:txBody>
      </p:sp>
      <p:graphicFrame>
        <p:nvGraphicFramePr>
          <p:cNvPr id="9" name=""/>
          <p:cNvGraphicFramePr/>
          <p:nvPr/>
        </p:nvGraphicFramePr>
        <p:xfrm>
          <a:off xmlns:a="http://schemas.openxmlformats.org/drawingml/2006/main" x="609600" y="1847850"/>
          <a:ext xmlns:a="http://schemas.openxmlformats.org/drawingml/2006/main" cx="10972800" cy="3724275"/>
        </p:xfrm>
        <a:graphic xmlns:a="http://schemas.openxmlformats.org/drawingml/2006/main">
          <a:graphicData uri="http://schemas.openxmlformats.org/drawingml/2006/table">
            <a:tbl>
              <a:tblPr/>
              <a:tblGrid>
                <a:gridCol w="3190875"/>
                <a:gridCol w="7781925"/>
              </a:tblGrid>
              <a:tr h="620713">
                <a:tc>
                  <a:txBody>
                    <a:bodyPr/>
                    <a:lstStyle/>
                    <a:p>
                      <a:r>
                        <a:rPr sz="1650" b="1">
                          <a:solidFill>
                            <a:srgbClr val="FFFFFF"/>
                          </a:solidFill>
                          <a:latin typeface="Arial"/>
                          <a:ea typeface="Arial"/>
                          <a:cs typeface="Arial"/>
                        </a:rPr>
                        <a:t>Evidence</a:t>
                      </a:r>
                    </a:p>
                  </a:txBody>
                  <a:tcPr marL="133350" marR="133350" marT="114300" marB="114300">
                    <a:solidFill>
                      <a:srgbClr val="102B45"/>
                    </a:solidFill>
                  </a:tcPr>
                </a:tc>
                <a:tc>
                  <a:txBody>
                    <a:bodyPr/>
                    <a:lstStyle/>
                    <a:p>
                      <a:r>
                        <a:rPr sz="1650" b="1">
                          <a:solidFill>
                            <a:srgbClr val="FFFFFF"/>
                          </a:solidFill>
                          <a:latin typeface="Arial"/>
                          <a:ea typeface="Arial"/>
                          <a:cs typeface="Arial"/>
                        </a:rPr>
                        <a:t>What it showed</a:t>
                      </a:r>
                    </a:p>
                  </a:txBody>
                  <a:tcPr marL="133350" marR="133350" marT="114300" marB="114300">
                    <a:solidFill>
                      <a:srgbClr val="102B45"/>
                    </a:solidFill>
                  </a:tcPr>
                </a:tc>
              </a:tr>
              <a:tr h="620713">
                <a:tc>
                  <a:txBody>
                    <a:bodyPr/>
                    <a:lstStyle/>
                    <a:p>
                      <a:r>
                        <a:rPr sz="1650">
                          <a:solidFill>
                            <a:srgbClr val="102B45"/>
                          </a:solidFill>
                          <a:latin typeface="Arial"/>
                          <a:ea typeface="Arial"/>
                          <a:cs typeface="Arial"/>
                        </a:rPr>
                        <a:t>First spectral benchmark</a:t>
                      </a:r>
                    </a:p>
                  </a:txBody>
                  <a:tcPr marL="133350" marR="133350" marT="114300" marB="114300">
                    <a:solidFill>
                      <a:srgbClr val="EDF3F6"/>
                    </a:solidFill>
                  </a:tcPr>
                </a:tc>
                <a:tc>
                  <a:txBody>
                    <a:bodyPr/>
                    <a:lstStyle/>
                    <a:p>
                      <a:r>
                        <a:rPr sz="1650">
                          <a:solidFill>
                            <a:srgbClr val="102B45"/>
                          </a:solidFill>
                          <a:latin typeface="Arial"/>
                          <a:ea typeface="Arial"/>
                          <a:cs typeface="Arial"/>
                        </a:rPr>
                        <a:t>PCA / NMF 54.1%, Tucker 53.6%, CP 52.2%, graph CP 51.7% BA</a:t>
                      </a:r>
                    </a:p>
                  </a:txBody>
                  <a:tcPr marL="133350" marR="133350" marT="114300" marB="114300">
                    <a:solidFill>
                      <a:srgbClr val="EDF3F6"/>
                    </a:solidFill>
                  </a:tcPr>
                </a:tc>
              </a:tr>
              <a:tr h="620713">
                <a:tc>
                  <a:txBody>
                    <a:bodyPr/>
                    <a:lstStyle/>
                    <a:p>
                      <a:r>
                        <a:rPr sz="1650">
                          <a:solidFill>
                            <a:srgbClr val="102B45"/>
                          </a:solidFill>
                          <a:latin typeface="Arial"/>
                          <a:ea typeface="Arial"/>
                          <a:cs typeface="Arial"/>
                        </a:rPr>
                        <a:t>V1 graph caveat</a:t>
                      </a:r>
                    </a:p>
                  </a:txBody>
                  <a:tcPr marL="133350" marR="133350" marT="114300" marB="114300">
                    <a:solidFill>
                      <a:srgbClr val="FFFFFF"/>
                    </a:solidFill>
                  </a:tcPr>
                </a:tc>
                <a:tc>
                  <a:txBody>
                    <a:bodyPr/>
                    <a:lstStyle/>
                    <a:p>
                      <a:r>
                        <a:rPr sz="1650">
                          <a:solidFill>
                            <a:srgbClr val="102B45"/>
                          </a:solidFill>
                          <a:latin typeface="Arial"/>
                          <a:ea typeface="Arial"/>
                          <a:cs typeface="Arial"/>
                        </a:rPr>
                        <a:t>Incorrect electrode labels and a penalty-scaling issue limited interpretation</a:t>
                      </a:r>
                    </a:p>
                  </a:txBody>
                  <a:tcPr marL="133350" marR="133350" marT="114300" marB="114300">
                    <a:solidFill>
                      <a:srgbClr val="FFFFFF"/>
                    </a:solidFill>
                  </a:tcPr>
                </a:tc>
              </a:tr>
              <a:tr h="620713">
                <a:tc>
                  <a:txBody>
                    <a:bodyPr/>
                    <a:lstStyle/>
                    <a:p>
                      <a:r>
                        <a:rPr sz="1650">
                          <a:solidFill>
                            <a:srgbClr val="102B45"/>
                          </a:solidFill>
                          <a:latin typeface="Arial"/>
                          <a:ea typeface="Arial"/>
                          <a:cs typeface="Arial"/>
                        </a:rPr>
                        <a:t>V2 correction</a:t>
                      </a:r>
                    </a:p>
                  </a:txBody>
                  <a:tcPr marL="133350" marR="133350" marT="114300" marB="114300">
                    <a:solidFill>
                      <a:srgbClr val="EDF3F6"/>
                    </a:solidFill>
                  </a:tcPr>
                </a:tc>
                <a:tc>
                  <a:txBody>
                    <a:bodyPr/>
                    <a:lstStyle/>
                    <a:p>
                      <a:r>
                        <a:rPr sz="1650">
                          <a:solidFill>
                            <a:srgbClr val="102B45"/>
                          </a:solidFill>
                          <a:latin typeface="Arial"/>
                          <a:ea typeface="Arial"/>
                          <a:cs typeface="Arial"/>
                        </a:rPr>
                        <a:t>Verified channel order and applied guards around signal discontinuities</a:t>
                      </a:r>
                    </a:p>
                  </a:txBody>
                  <a:tcPr marL="133350" marR="133350" marT="114300" marB="114300">
                    <a:solidFill>
                      <a:srgbClr val="EDF3F6"/>
                    </a:solidFill>
                  </a:tcPr>
                </a:tc>
              </a:tr>
              <a:tr h="620713">
                <a:tc>
                  <a:txBody>
                    <a:bodyPr/>
                    <a:lstStyle/>
                    <a:p>
                      <a:r>
                        <a:rPr sz="1650">
                          <a:solidFill>
                            <a:srgbClr val="102B45"/>
                          </a:solidFill>
                          <a:latin typeface="Arial"/>
                          <a:ea typeface="Arial"/>
                          <a:cs typeface="Arial"/>
                        </a:rPr>
                        <a:t>Longer TT optimization</a:t>
                      </a:r>
                    </a:p>
                  </a:txBody>
                  <a:tcPr marL="133350" marR="133350" marT="114300" marB="114300">
                    <a:solidFill>
                      <a:srgbClr val="FFFFFF"/>
                    </a:solidFill>
                  </a:tcPr>
                </a:tc>
                <a:tc>
                  <a:txBody>
                    <a:bodyPr/>
                    <a:lstStyle/>
                    <a:p>
                      <a:r>
                        <a:rPr sz="1650">
                          <a:solidFill>
                            <a:srgbClr val="102B45"/>
                          </a:solidFill>
                          <a:latin typeface="Arial"/>
                          <a:ea typeface="Arial"/>
                          <a:cs typeface="Arial"/>
                        </a:rPr>
                        <a:t>Fixed-model V3 comparison: 55.0% at 100 iterations, 53.7% at 2,000</a:t>
                      </a:r>
                    </a:p>
                  </a:txBody>
                  <a:tcPr marL="133350" marR="133350" marT="114300" marB="114300">
                    <a:solidFill>
                      <a:srgbClr val="FFFFFF"/>
                    </a:solidFill>
                  </a:tcPr>
                </a:tc>
              </a:tr>
              <a:tr h="620713">
                <a:tc>
                  <a:txBody>
                    <a:bodyPr/>
                    <a:lstStyle/>
                    <a:p>
                      <a:r>
                        <a:rPr sz="1650">
                          <a:solidFill>
                            <a:srgbClr val="102B45"/>
                          </a:solidFill>
                          <a:latin typeface="Arial"/>
                          <a:ea typeface="Arial"/>
                          <a:cs typeface="Arial"/>
                        </a:rPr>
                        <a:t>V4 representation comparison</a:t>
                      </a:r>
                    </a:p>
                  </a:txBody>
                  <a:tcPr marL="133350" marR="133350" marT="114300" marB="114300">
                    <a:solidFill>
                      <a:srgbClr val="EDF3F6"/>
                    </a:solidFill>
                  </a:tcPr>
                </a:tc>
                <a:tc>
                  <a:txBody>
                    <a:bodyPr/>
                    <a:lstStyle/>
                    <a:p>
                      <a:r>
                        <a:rPr sz="1650">
                          <a:solidFill>
                            <a:srgbClr val="102B45"/>
                          </a:solidFill>
                          <a:latin typeface="Arial"/>
                          <a:ea typeface="Arial"/>
                          <a:cs typeface="Arial"/>
                        </a:rPr>
                        <a:t>Fusion 59.1%, spectral 56.8%, Tucker 52.0%, TT 46.8% BA</a:t>
                      </a:r>
                    </a:p>
                  </a:txBody>
                  <a:tcPr marL="133350" marR="133350" marT="114300" marB="114300">
                    <a:solidFill>
                      <a:srgbClr val="EDF3F6"/>
                    </a:solidFill>
                  </a:tcPr>
                </a:tc>
              </a:tr>
            </a:tbl>
          </a:graphicData>
        </a:graphic>
      </p:graphicFrame>
      <p:sp>
        <p:nvSpPr>
          <p:cNvPr id="5" name="">
            <a:extLst xmlns:a="http://schemas.openxmlformats.org/drawingml/2006/main">
              <a:ext uri="{FF2B5EF4-FFF2-40B4-BE49-F238E27FC236}">
                <a16:creationId xmlns:a16="http://schemas.microsoft.com/office/drawing/2014/main" id="{2890D7B1-36E7-4B96-9E64-D4B470310591}"/>
              </a:ext>
            </a:extLst>
          </p:cNvPr>
          <p:cNvSpPr>
            <a:spLocks xmlns:a="http://schemas.openxmlformats.org/drawingml/2006/main" noGrp="1"/>
          </p:cNvSpPr>
          <p:nvPr/>
        </p:nvSpPr>
        <p:spPr>
          <a:xfrm xmlns:a="http://schemas.openxmlformats.org/drawingml/2006/main">
            <a:off x="609600" y="6381750"/>
            <a:ext cx="1038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66779"/>
                </a:solidFill>
                <a:latin typeface="Arial"/>
                <a:ea typeface="Arial"/>
                <a:cs typeface="Arial"/>
              </a:defRPr>
            </a:pPr>
            <a:r>
              <a:rPr sz="1125" b="0">
                <a:solidFill>
                  <a:srgbClr val="566779"/>
                </a:solidFill>
                <a:latin typeface="Arial"/>
                <a:ea typeface="Arial"/>
                <a:cs typeface="Arial"/>
              </a:rPr>
              <a:t>V1 and the iteration sensitivity are exploratory. Fusion can select mainly spectral features.</a:t>
            </a:r>
          </a:p>
        </p:txBody>
      </p:sp>
    </p:spTree>
    <p:extLst>
      <p:ext uri="{BB962C8B-B14F-4D97-AF65-F5344CB8AC3E}">
        <p14:creationId xmlns:p14="http://schemas.microsoft.com/office/powerpoint/2010/main" val="212641791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05BA5A4-65B8-4302-A4E4-B6117ACF2EFE}"/>
              </a:ext>
            </a:extLst>
          </p:cNvPr>
          <p:cNvSpPr>
            <a:spLocks xmlns:a="http://schemas.openxmlformats.org/drawingml/2006/main" noGrp="1"/>
          </p:cNvSpPr>
          <p:nvPr/>
        </p:nvSpPr>
        <p:spPr>
          <a:xfrm xmlns:a="http://schemas.openxmlformats.org/drawingml/2006/main">
            <a:off x="609600" y="4000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B45"/>
                </a:solidFill>
                <a:latin typeface="Arial"/>
                <a:ea typeface="Arial"/>
                <a:cs typeface="Arial"/>
              </a:defRPr>
            </a:pPr>
            <a:r>
              <a:rPr sz="3225" b="1">
                <a:solidFill>
                  <a:srgbClr val="102B45"/>
                </a:solidFill>
                <a:latin typeface="Arial"/>
                <a:ea typeface="Arial"/>
                <a:cs typeface="Arial"/>
              </a:rPr>
              <a:t>Sources and result definitions</a:t>
            </a:r>
          </a:p>
        </p:txBody>
      </p:sp>
      <p:sp>
        <p:nvSpPr>
          <p:cNvPr id="2" name="">
            <a:extLst xmlns:a="http://schemas.openxmlformats.org/drawingml/2006/main">
              <a:ext uri="{FF2B5EF4-FFF2-40B4-BE49-F238E27FC236}">
                <a16:creationId xmlns:a16="http://schemas.microsoft.com/office/drawing/2014/main" id="{87EF1F62-9CCE-44EC-BFF7-8C32373A21A6}"/>
              </a:ext>
            </a:extLst>
          </p:cNvPr>
          <p:cNvSpPr>
            <a:spLocks xmlns:a="http://schemas.openxmlformats.org/drawingml/2006/main" noGrp="1"/>
          </p:cNvSpPr>
          <p:nvPr/>
        </p:nvSpPr>
        <p:spPr>
          <a:xfrm xmlns:a="http://schemas.openxmlformats.org/drawingml/2006/main">
            <a:off x="609600" y="12096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66779"/>
                </a:solidFill>
                <a:latin typeface="Arial"/>
                <a:ea typeface="Arial"/>
                <a:cs typeface="Arial"/>
              </a:defRPr>
            </a:pPr>
            <a:r>
              <a:rPr sz="1725" b="0">
                <a:solidFill>
                  <a:srgbClr val="566779"/>
                </a:solidFill>
                <a:latin typeface="Arial"/>
                <a:ea typeface="Arial"/>
                <a:cs typeface="Arial"/>
              </a:rPr>
              <a:t>Detailed citations and explanations accompany the relevant slides in speaker notes</a:t>
            </a:r>
          </a:p>
        </p:txBody>
      </p:sp>
      <p:sp>
        <p:nvSpPr>
          <p:cNvPr id="3" name="">
            <a:extLst xmlns:a="http://schemas.openxmlformats.org/drawingml/2006/main">
              <a:ext uri="{FF2B5EF4-FFF2-40B4-BE49-F238E27FC236}">
                <a16:creationId xmlns:a16="http://schemas.microsoft.com/office/drawing/2014/main" id="{CE912DFB-A7E4-4EC1-8675-728C5B6B9C37}"/>
              </a:ext>
            </a:extLst>
          </p:cNvPr>
          <p:cNvSpPr>
            <a:spLocks xmlns:a="http://schemas.openxmlformats.org/drawingml/2006/main" noGrp="1"/>
          </p:cNvSpPr>
          <p:nvPr/>
        </p:nvSpPr>
        <p:spPr>
          <a:xfrm xmlns:a="http://schemas.openxmlformats.org/drawingml/2006/main">
            <a:off x="1114425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66779"/>
                </a:solidFill>
                <a:latin typeface="Arial"/>
                <a:ea typeface="Arial"/>
                <a:cs typeface="Arial"/>
              </a:defRPr>
            </a:pPr>
            <a:r>
              <a:rPr sz="1125" b="0">
                <a:solidFill>
                  <a:srgbClr val="566779"/>
                </a:solidFill>
                <a:latin typeface="Arial"/>
                <a:ea typeface="Arial"/>
                <a:cs typeface="Arial"/>
              </a:rPr>
              <a:t>20</a:t>
            </a:r>
          </a:p>
        </p:txBody>
      </p:sp>
      <p:sp>
        <p:nvSpPr>
          <p:cNvPr id="4" name="">
            <a:extLst xmlns:a="http://schemas.openxmlformats.org/drawingml/2006/main">
              <a:ext uri="{FF2B5EF4-FFF2-40B4-BE49-F238E27FC236}">
                <a16:creationId xmlns:a16="http://schemas.microsoft.com/office/drawing/2014/main" id="{40430765-28CE-4992-8478-EA454BED8744}"/>
              </a:ext>
            </a:extLst>
          </p:cNvPr>
          <p:cNvSpPr>
            <a:spLocks xmlns:a="http://schemas.openxmlformats.org/drawingml/2006/main" noGrp="1"/>
          </p:cNvSpPr>
          <p:nvPr/>
        </p:nvSpPr>
        <p:spPr>
          <a:xfrm xmlns:a="http://schemas.openxmlformats.org/drawingml/2006/main">
            <a:off x="609600" y="1914525"/>
            <a:ext cx="1066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2B45"/>
                </a:solidFill>
                <a:latin typeface="Arial"/>
                <a:ea typeface="Arial"/>
                <a:cs typeface="Arial"/>
              </a:defRPr>
            </a:pPr>
            <a:r>
              <a:rPr sz="2175" b="1">
                <a:solidFill>
                  <a:srgbClr val="102B45"/>
                </a:solidFill>
                <a:latin typeface="Arial"/>
                <a:ea typeface="Arial"/>
                <a:cs typeface="Arial"/>
              </a:rPr>
              <a:t>Dataset</a:t>
            </a:r>
          </a:p>
        </p:txBody>
      </p:sp>
      <p:sp>
        <p:nvSpPr>
          <p:cNvPr id="5" name="">
            <a:extLst xmlns:a="http://schemas.openxmlformats.org/drawingml/2006/main">
              <a:ext uri="{FF2B5EF4-FFF2-40B4-BE49-F238E27FC236}">
                <a16:creationId xmlns:a16="http://schemas.microsoft.com/office/drawing/2014/main" id="{B6000179-339C-402E-BB7D-BC8BFE94E245}"/>
              </a:ext>
            </a:extLst>
          </p:cNvPr>
          <p:cNvSpPr>
            <a:spLocks xmlns:a="http://schemas.openxmlformats.org/drawingml/2006/main" noGrp="1"/>
          </p:cNvSpPr>
          <p:nvPr/>
        </p:nvSpPr>
        <p:spPr>
          <a:xfrm xmlns:a="http://schemas.openxmlformats.org/drawingml/2006/main">
            <a:off x="609600" y="2324100"/>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66779"/>
                </a:solidFill>
                <a:latin typeface="Arial"/>
                <a:ea typeface="Arial"/>
                <a:cs typeface="Arial"/>
              </a:defRPr>
            </a:pPr>
            <a:r>
              <a:rPr sz="1875" b="0">
                <a:solidFill>
                  <a:srgbClr val="566779"/>
                </a:solidFill>
                <a:latin typeface="Arial"/>
                <a:ea typeface="Arial"/>
                <a:cs typeface="Arial"/>
              </a:rPr>
              <a:t>Miltiadous et al. (2023), Data 8(6), 95. DOI: 10.3390/data8060095</a:t>
            </a:r>
          </a:p>
        </p:txBody>
      </p:sp>
      <p:sp>
        <p:nvSpPr>
          <p:cNvPr id="6" name="">
            <a:extLst xmlns:a="http://schemas.openxmlformats.org/drawingml/2006/main">
              <a:ext uri="{FF2B5EF4-FFF2-40B4-BE49-F238E27FC236}">
                <a16:creationId xmlns:a16="http://schemas.microsoft.com/office/drawing/2014/main" id="{9A5DF3A2-8E75-4583-971E-B88554D87DEB}"/>
              </a:ext>
            </a:extLst>
          </p:cNvPr>
          <p:cNvSpPr>
            <a:spLocks xmlns:a="http://schemas.openxmlformats.org/drawingml/2006/main" noGrp="1"/>
          </p:cNvSpPr>
          <p:nvPr/>
        </p:nvSpPr>
        <p:spPr>
          <a:xfrm xmlns:a="http://schemas.openxmlformats.org/drawingml/2006/main">
            <a:off x="609600" y="2924175"/>
            <a:ext cx="1066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2B45"/>
                </a:solidFill>
                <a:latin typeface="Arial"/>
                <a:ea typeface="Arial"/>
                <a:cs typeface="Arial"/>
              </a:defRPr>
            </a:pPr>
            <a:r>
              <a:rPr sz="2175" b="1">
                <a:solidFill>
                  <a:srgbClr val="102B45"/>
                </a:solidFill>
                <a:latin typeface="Arial"/>
                <a:ea typeface="Arial"/>
                <a:cs typeface="Arial"/>
              </a:rPr>
              <a:t>Local project evidence</a:t>
            </a:r>
          </a:p>
        </p:txBody>
      </p:sp>
      <p:sp>
        <p:nvSpPr>
          <p:cNvPr id="7" name="">
            <a:extLst xmlns:a="http://schemas.openxmlformats.org/drawingml/2006/main">
              <a:ext uri="{FF2B5EF4-FFF2-40B4-BE49-F238E27FC236}">
                <a16:creationId xmlns:a16="http://schemas.microsoft.com/office/drawing/2014/main" id="{7C1A0E9C-A9FD-42FE-8813-38161CC1CAC4}"/>
              </a:ext>
            </a:extLst>
          </p:cNvPr>
          <p:cNvSpPr>
            <a:spLocks xmlns:a="http://schemas.openxmlformats.org/drawingml/2006/main" noGrp="1"/>
          </p:cNvSpPr>
          <p:nvPr/>
        </p:nvSpPr>
        <p:spPr>
          <a:xfrm xmlns:a="http://schemas.openxmlformats.org/drawingml/2006/main">
            <a:off x="609600" y="3333750"/>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66779"/>
                </a:solidFill>
                <a:latin typeface="Arial"/>
                <a:ea typeface="Arial"/>
                <a:cs typeface="Arial"/>
              </a:defRPr>
            </a:pPr>
            <a:r>
              <a:rPr sz="1875" b="0">
                <a:solidFill>
                  <a:srgbClr val="566779"/>
                </a:solidFill>
                <a:latin typeface="Arial"/>
                <a:ea typeface="Arial"/>
                <a:cs typeface="Arial"/>
              </a:rPr>
              <a:t>Project master report, preprocessing audit, V2–V4 experiment reports and saved predictions</a:t>
            </a:r>
          </a:p>
        </p:txBody>
      </p:sp>
      <p:sp>
        <p:nvSpPr>
          <p:cNvPr id="8" name="">
            <a:extLst xmlns:a="http://schemas.openxmlformats.org/drawingml/2006/main">
              <a:ext uri="{FF2B5EF4-FFF2-40B4-BE49-F238E27FC236}">
                <a16:creationId xmlns:a16="http://schemas.microsoft.com/office/drawing/2014/main" id="{0AE69A09-21CB-4DB4-AC97-2D350306878D}"/>
              </a:ext>
            </a:extLst>
          </p:cNvPr>
          <p:cNvSpPr>
            <a:spLocks xmlns:a="http://schemas.openxmlformats.org/drawingml/2006/main" noGrp="1"/>
          </p:cNvSpPr>
          <p:nvPr/>
        </p:nvSpPr>
        <p:spPr>
          <a:xfrm xmlns:a="http://schemas.openxmlformats.org/drawingml/2006/main">
            <a:off x="609600" y="3933825"/>
            <a:ext cx="1066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2B45"/>
                </a:solidFill>
                <a:latin typeface="Arial"/>
                <a:ea typeface="Arial"/>
                <a:cs typeface="Arial"/>
              </a:defRPr>
            </a:pPr>
            <a:r>
              <a:rPr sz="2175" b="1">
                <a:solidFill>
                  <a:srgbClr val="102B45"/>
                </a:solidFill>
                <a:latin typeface="Arial"/>
                <a:ea typeface="Arial"/>
                <a:cs typeface="Arial"/>
              </a:rPr>
              <a:t>Latest local experiment</a:t>
            </a:r>
          </a:p>
        </p:txBody>
      </p:sp>
      <p:sp>
        <p:nvSpPr>
          <p:cNvPr id="9" name="">
            <a:extLst xmlns:a="http://schemas.openxmlformats.org/drawingml/2006/main">
              <a:ext uri="{FF2B5EF4-FFF2-40B4-BE49-F238E27FC236}">
                <a16:creationId xmlns:a16="http://schemas.microsoft.com/office/drawing/2014/main" id="{3D0FBA4A-F486-407D-B7B5-0C2E3B16B842}"/>
              </a:ext>
            </a:extLst>
          </p:cNvPr>
          <p:cNvSpPr>
            <a:spLocks xmlns:a="http://schemas.openxmlformats.org/drawingml/2006/main" noGrp="1"/>
          </p:cNvSpPr>
          <p:nvPr/>
        </p:nvSpPr>
        <p:spPr>
          <a:xfrm xmlns:a="http://schemas.openxmlformats.org/drawingml/2006/main">
            <a:off x="609600" y="4343400"/>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66779"/>
                </a:solidFill>
                <a:latin typeface="Arial"/>
                <a:ea typeface="Arial"/>
                <a:cs typeface="Arial"/>
              </a:defRPr>
            </a:pPr>
            <a:r>
              <a:rPr sz="1875" b="0">
                <a:solidFill>
                  <a:srgbClr val="566779"/>
                </a:solidFill>
                <a:latin typeface="Arial"/>
                <a:ea typeface="Arial"/>
                <a:cs typeface="Arial"/>
              </a:rPr>
              <a:t>V5 connectivity protocol and nested_report.json, 15 completed folds</a:t>
            </a:r>
          </a:p>
        </p:txBody>
      </p:sp>
      <p:sp>
        <p:nvSpPr>
          <p:cNvPr id="10" name="">
            <a:extLst xmlns:a="http://schemas.openxmlformats.org/drawingml/2006/main">
              <a:ext uri="{FF2B5EF4-FFF2-40B4-BE49-F238E27FC236}">
                <a16:creationId xmlns:a16="http://schemas.microsoft.com/office/drawing/2014/main" id="{65E0ABF9-2435-480F-B3F3-4EA80AD7BFD3}"/>
              </a:ext>
            </a:extLst>
          </p:cNvPr>
          <p:cNvSpPr>
            <a:spLocks xmlns:a="http://schemas.openxmlformats.org/drawingml/2006/main" noGrp="1"/>
          </p:cNvSpPr>
          <p:nvPr/>
        </p:nvSpPr>
        <p:spPr>
          <a:xfrm xmlns:a="http://schemas.openxmlformats.org/drawingml/2006/main">
            <a:off x="609600" y="4943475"/>
            <a:ext cx="1066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2B45"/>
                </a:solidFill>
                <a:latin typeface="Arial"/>
                <a:ea typeface="Arial"/>
                <a:cs typeface="Arial"/>
              </a:defRPr>
            </a:pPr>
            <a:r>
              <a:rPr sz="2175" b="1">
                <a:solidFill>
                  <a:srgbClr val="102B45"/>
                </a:solidFill>
                <a:latin typeface="Arial"/>
                <a:ea typeface="Arial"/>
                <a:cs typeface="Arial"/>
              </a:rPr>
              <a:t>Reading the charts</a:t>
            </a:r>
          </a:p>
        </p:txBody>
      </p:sp>
      <p:sp>
        <p:nvSpPr>
          <p:cNvPr id="11" name="">
            <a:extLst xmlns:a="http://schemas.openxmlformats.org/drawingml/2006/main">
              <a:ext uri="{FF2B5EF4-FFF2-40B4-BE49-F238E27FC236}">
                <a16:creationId xmlns:a16="http://schemas.microsoft.com/office/drawing/2014/main" id="{33CAD792-F3EC-4884-8EA2-9803D5834376}"/>
              </a:ext>
            </a:extLst>
          </p:cNvPr>
          <p:cNvSpPr>
            <a:spLocks xmlns:a="http://schemas.openxmlformats.org/drawingml/2006/main" noGrp="1"/>
          </p:cNvSpPr>
          <p:nvPr/>
        </p:nvSpPr>
        <p:spPr>
          <a:xfrm xmlns:a="http://schemas.openxmlformats.org/drawingml/2006/main">
            <a:off x="609600" y="5353050"/>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66779"/>
                </a:solidFill>
                <a:latin typeface="Arial"/>
                <a:ea typeface="Arial"/>
                <a:cs typeface="Arial"/>
              </a:defRPr>
            </a:pPr>
            <a:r>
              <a:rPr sz="1875" b="0">
                <a:solidFill>
                  <a:srgbClr val="566779"/>
                </a:solidFill>
                <a:latin typeface="Arial"/>
                <a:ea typeface="Arial"/>
                <a:cs typeface="Arial"/>
              </a:rPr>
              <a:t>Means across three repetitions. Family comparisons are secondary. No external cohort test.</a:t>
            </a:r>
          </a:p>
        </p:txBody>
      </p:sp>
    </p:spTree>
    <p:extLst>
      <p:ext uri="{BB962C8B-B14F-4D97-AF65-F5344CB8AC3E}">
        <p14:creationId xmlns:p14="http://schemas.microsoft.com/office/powerpoint/2010/main" val="974137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2026-09-27T16:40:26.3210000Z</dcterms:created>
  <dcterms:modified xsi:type="dcterms:W3CDTF">2026-09-27T16:40:26.3210000Z</dcterms:modified>
</coreProperties>
</file>