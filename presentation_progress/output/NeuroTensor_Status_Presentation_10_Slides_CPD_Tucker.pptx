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1de8d604494523" /><Relationship Type="http://schemas.openxmlformats.org/officeDocument/2006/relationships/extended-properties" Target="/docProps/app.xml" Id="R00cdd7f2849a4a6c" /><Relationship Type="http://schemas.openxmlformats.org/officeDocument/2006/relationships/officeDocument" Target="/ppt/presentation.xml" Id="R3b6ca1123826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cdbfb88f04f4d"/>
  </p:sldMasterIdLst>
  <p:notesMasterIdLst>
    <p:notesMasterId xmlns:r="http://schemas.openxmlformats.org/officeDocument/2006/relationships" r:id="R6ad477bdfd9b4ded"/>
  </p:notesMasterIdLst>
  <p:sldIdLst>
    <p:sldId xmlns:r="http://schemas.openxmlformats.org/officeDocument/2006/relationships" id="256" r:id="R09f2490b302848ad"/>
    <p:sldId xmlns:r="http://schemas.openxmlformats.org/officeDocument/2006/relationships" id="257" r:id="Rea2ce5e2d25e4e48"/>
    <p:sldId xmlns:r="http://schemas.openxmlformats.org/officeDocument/2006/relationships" id="258" r:id="R7a705e582b4143de"/>
    <p:sldId xmlns:r="http://schemas.openxmlformats.org/officeDocument/2006/relationships" id="259" r:id="R9ecd9c3243ba43a0"/>
    <p:sldId xmlns:r="http://schemas.openxmlformats.org/officeDocument/2006/relationships" id="260" r:id="Rc6f3a69883114bd3"/>
    <p:sldId xmlns:r="http://schemas.openxmlformats.org/officeDocument/2006/relationships" id="261" r:id="R6dbbff16d55a4228"/>
    <p:sldId xmlns:r="http://schemas.openxmlformats.org/officeDocument/2006/relationships" id="262" r:id="R47e72fad66b34e9b"/>
    <p:sldId xmlns:r="http://schemas.openxmlformats.org/officeDocument/2006/relationships" id="263" r:id="R0f2a28bf8b914146"/>
    <p:sldId xmlns:r="http://schemas.openxmlformats.org/officeDocument/2006/relationships" id="264" r:id="Red626dd62d40429d"/>
    <p:sldId xmlns:r="http://schemas.openxmlformats.org/officeDocument/2006/relationships" id="265" r:id="R2a4b0d2c6f99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1ea5059574ee4" /><Relationship Type="http://schemas.openxmlformats.org/officeDocument/2006/relationships/slideMaster" Target="/ppt/slideMasters/slideMaster1.xml" Id="R2c0cdbfb88f04f4d" /><Relationship Type="http://schemas.openxmlformats.org/officeDocument/2006/relationships/notesMaster" Target="/ppt/notesMasters/notesMaster1.xml" Id="R6ad477bdfd9b4ded" /><Relationship Type="http://schemas.openxmlformats.org/officeDocument/2006/relationships/presProps" Target="/ppt/presProps.xml" Id="Ra9014ad9674a400a" /><Relationship Type="http://schemas.openxmlformats.org/officeDocument/2006/relationships/tableStyles" Target="/ppt/tableStyles.xml" Id="R514d359bb1de42eb" /><Relationship Type="http://schemas.openxmlformats.org/officeDocument/2006/relationships/slide" Target="/ppt/slides/slide1.xml" Id="R09f2490b302848ad" /><Relationship Type="http://schemas.openxmlformats.org/officeDocument/2006/relationships/slide" Target="/ppt/slides/slide2.xml" Id="Rea2ce5e2d25e4e48" /><Relationship Type="http://schemas.openxmlformats.org/officeDocument/2006/relationships/slide" Target="/ppt/slides/slide3.xml" Id="R7a705e582b4143de" /><Relationship Type="http://schemas.openxmlformats.org/officeDocument/2006/relationships/slide" Target="/ppt/slides/slide4.xml" Id="R9ecd9c3243ba43a0" /><Relationship Type="http://schemas.openxmlformats.org/officeDocument/2006/relationships/slide" Target="/ppt/slides/slide5.xml" Id="Rc6f3a69883114bd3" /><Relationship Type="http://schemas.openxmlformats.org/officeDocument/2006/relationships/slide" Target="/ppt/slides/slide6.xml" Id="R6dbbff16d55a4228" /><Relationship Type="http://schemas.openxmlformats.org/officeDocument/2006/relationships/slide" Target="/ppt/slides/slide7.xml" Id="R47e72fad66b34e9b" /><Relationship Type="http://schemas.openxmlformats.org/officeDocument/2006/relationships/slide" Target="/ppt/slides/slide8.xml" Id="R0f2a28bf8b914146" /><Relationship Type="http://schemas.openxmlformats.org/officeDocument/2006/relationships/slide" Target="/ppt/slides/slide9.xml" Id="Red626dd62d40429d" /><Relationship Type="http://schemas.openxmlformats.org/officeDocument/2006/relationships/slide" Target="/ppt/slides/slide10.xml" Id="R2a4b0d2c6f99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454ba3a12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642b343aa4e23" /><Relationship Type="http://schemas.openxmlformats.org/officeDocument/2006/relationships/notesMaster" Target="/ppt/notesMasters/notesMaster1.xml" Id="Rbe9cd3b240fc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7bed833ff4d40" /><Relationship Type="http://schemas.openxmlformats.org/officeDocument/2006/relationships/notesMaster" Target="/ppt/notesMasters/notesMaster1.xml" Id="R45477c407606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27b831f2d492d" /><Relationship Type="http://schemas.openxmlformats.org/officeDocument/2006/relationships/notesMaster" Target="/ppt/notesMasters/notesMaster1.xml" Id="R040cd54b84c541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0304507be4a20" /><Relationship Type="http://schemas.openxmlformats.org/officeDocument/2006/relationships/notesMaster" Target="/ppt/notesMasters/notesMaster1.xml" Id="Re113284b039b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4232375e924531" /><Relationship Type="http://schemas.openxmlformats.org/officeDocument/2006/relationships/notesMaster" Target="/ppt/notesMasters/notesMaster1.xml" Id="R13cd8715352146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99227c3b64838" /><Relationship Type="http://schemas.openxmlformats.org/officeDocument/2006/relationships/notesMaster" Target="/ppt/notesMasters/notesMaster1.xml" Id="Ra6341029d090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71c209e2d4a8b" /><Relationship Type="http://schemas.openxmlformats.org/officeDocument/2006/relationships/notesMaster" Target="/ppt/notesMasters/notesMaster1.xml" Id="R2acac4d81e53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a54ab9c314b70" /><Relationship Type="http://schemas.openxmlformats.org/officeDocument/2006/relationships/notesMaster" Target="/ppt/notesMasters/notesMaster1.xml" Id="Rf51f1114770a4f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370cfc3a84431" /><Relationship Type="http://schemas.openxmlformats.org/officeDocument/2006/relationships/notesMaster" Target="/ppt/notesMasters/notesMaster1.xml" Id="Re516afeb4451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5cfb0cc0b4c2d" /><Relationship Type="http://schemas.openxmlformats.org/officeDocument/2006/relationships/notesMaster" Target="/ppt/notesMasters/notesMaster1.xml" Id="Ra1cba6521c5046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has two sections: a short literature review, followed by our project status and next steps.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 means Alzheimer’s disease; FTD means frontotemporal dementia. The dataset has 19 scalp electrodes and 500 Hz source sampling. Its derivatives include filtering, re-referencing, ASR, ICA and ICLabel artifact-component rejection.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https://doi.org/10.3390/data8060095</a:t>
            </a:r>
          </a:p>
          <a:p xmlns:a="http://schemas.openxmlformats.org/drawingml/2006/main">
            <a:r>
              <a:t>https://openneuro.org/datasets/ds004504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2021 study directly compares epoch-level tenfold validation with leave-one-person-out validation and reports major drops. Rostamikia et al. report 87.8% AD versus FTD and 93.5% dementia versus control accuracy using tenfold CV. Their tasks and validation are not identical to our three-class nested subject evaluation, so their percentages should not be compared as like-for-like scores. Gupta et al. use CP factors for healthy, MCI and AD cohorts, not our AD/FTD/control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https://doi.org/10.3390/diagnostics11081437</a:t>
            </a:r>
          </a:p>
          <a:p xmlns:a="http://schemas.openxmlformats.org/drawingml/2006/main">
            <a:r>
              <a:t>https://doi.org/10.1007/s11571-024-10152-7</a:t>
            </a:r>
          </a:p>
          <a:p xmlns:a="http://schemas.openxmlformats.org/drawingml/2006/main">
            <a:r>
              <a:t>https://arxiv.org/abs/2211.13793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steps included downsampling to 250 Hz, non-overlapping four-second windows, common-average rereferencing, fixed amplitude/step/flat-channel exclusions and, from V2 onward, a 0.5-second guard around EEGLAB boundary annotations. The controlled 69-person dataset has 4,090 windows per group. Later full-cohort analyses re-QC’d the remaining people. The original raw EEG remains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tensor was subject × electrode × frequency × relative recording-time bin, shape 69 × 19 × 59 × 10. CPD approximates it by a sum of rank-one outer products, with one factor per axis for each component. Tucker represents the tensor by a smaller core combined with factor matrices along each axis. Our V1 implementation used nonnegative CPD and nonnegative Tucker. The corrected V2 implementation used mode-wise SVD to form orthogonal Tucker factors, corresponding to the HOSVD/MLSVD family; it was not the same nonnegative Tucker optimization as V1. All decomposition fitting used training participants only. The illustration is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C:/Projects/AIBSI/tensor_pipeline/run_decomposition_benchmark.py</a:t>
            </a:r>
          </a:p>
          <a:p xmlns:a="http://schemas.openxmlformats.org/drawingml/2006/main">
            <a:r>
              <a:t>C:/Projects/AIBSI/tensor_pipeline/v2/models.py</a:t>
            </a:r>
          </a:p>
          <a:p xmlns:a="http://schemas.openxmlformats.org/drawingml/2006/main">
            <a:r>
              <a:t>C:/Projects/AIBSI/tensor_pipeline/outputs/summary/EXPERIMENT_REPORT.md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later experiments use three repeats of five-fold outer participant CV with three-fold inner validation. Preprocessing fits, decomposition bases, feature selection and classifier tuning remain inside training folds. Reported numbers are internal cross-validation results, not estimates from an untouched external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C:/Projects/AIBSI/tensor_pipeline/v4_tuning/PROTOCOL.md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mean balanced accuracy 59.7%, mean accuracy 60.6%, FTD recall 43.5%. Classifier families tune their own settings and can select different representations. The complete inner-selected pipeline is the primary outcome, 54.5% BA. Results average three CV repeats. No external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C:/Projects/AIBSI/tensor_pipeline/outputs/v4_tuning/nested_report.json</a:t>
            </a:r>
          </a:p>
          <a:p xmlns:a="http://schemas.openxmlformats.org/drawingml/2006/main">
            <a:r>
              <a:t>C:/Projects/AIBSI/tensor_pipeline/outputs/v4_tuning/EXPERIMENT_REPORT.md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scores are means across three repeats for the best observed rank/classifier combination in the first experiment. They are not a nested automatically selected comparison or independently confirmed performance. CPD rank 5 + logistic regression was 52.2%; nonnegative Tucker rank 3 + histogram gradient boosting 53.6%; PCA and NMF rank 8 + logistic regression 54.1%. The first tensorizer mislabelled some electrode rows, affecting anatomical graph alignment and electrode-specific interpretation. The old graph-CP optimizer also had a penalty-scaling caveat, so graph CP is deliberately excluded from this chart. Later V2 corrected the channel metadata and boundaries; its HOSVD/Tucker observed family score was 56.0%, but it used a different representation and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C:/Projects/AIBSI/tensor_pipeline/outputs/summary/all_rank_results.csv</a:t>
            </a:r>
          </a:p>
          <a:p xmlns:a="http://schemas.openxmlformats.org/drawingml/2006/main">
            <a:r>
              <a:t>C:/Projects/AIBSI/tensor_pipeline/outputs/summary/EXPERIMENT_REPORT.md</a:t>
            </a:r>
          </a:p>
          <a:p xmlns:a="http://schemas.openxmlformats.org/drawingml/2006/main">
            <a:r>
              <a:t>C:/Projects/AIBSI/tensor_pipeline/outputs/summary/V2_AUDIT_NOTE.md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nonnegative CPD and Tucker results were exploratory best-of-rank/classifier comparisons. V2 HOSVD/Tucker was an observed family score of 56.0% BA; the V2 primary automatic selection score was 47.3%. V2 training scores were much higher than held-out scores, consistent with overfitting but not proving its exact cause. V5 selected pipeline 55.0% BA and 33.3% FTD recall. Different cohorts and protocols prevent direct ranking across V1, V2, V4 and V5.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C:/Projects/AIBSI/tensor_pipeline/outputs/v2_tensor_train/EXPERIMENT_REPORT.md</a:t>
            </a:r>
          </a:p>
          <a:p xmlns:a="http://schemas.openxmlformats.org/drawingml/2006/main">
            <a:r>
              <a:t>C:/Projects/AIBSI/tensor_pipeline/outputs/v5_connectivity/nested_report.json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curation rules label-blind and fixed before model evaluation. Examine slow drift, muscle bursts, spikes and channel/subject quality profiles. Compare same pipelines and person-level splits across input variants. Independent data are needed for a credible external estimate.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fa1522c34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3f326980344705" /><Relationship Type="http://schemas.openxmlformats.org/officeDocument/2006/relationships/slideLayout" Target="/ppt/slideLayouts/slideLayout1.xml" Id="R5899cda1c8ca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9cda1c8ca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725c6b8645b0" /><Relationship Type="http://schemas.openxmlformats.org/officeDocument/2006/relationships/image" Target="/ppt/media/image.png" Id="R3680dafa312c43db" /><Relationship Type="http://schemas.openxmlformats.org/officeDocument/2006/relationships/notesSlide" Target="/ppt/notesSlides/notesSlide1.xml" Id="Rd563e0f1aceb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216a5229487e" /><Relationship Type="http://schemas.openxmlformats.org/officeDocument/2006/relationships/image" Target="/ppt/media/image2.png" Id="Rddd2b374e0e043b7" /><Relationship Type="http://schemas.openxmlformats.org/officeDocument/2006/relationships/notesSlide" Target="/ppt/notesSlides/notesSlide2.xml" Id="R2aaeac9feb4b49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49ddaf895497b" /><Relationship Type="http://schemas.openxmlformats.org/officeDocument/2006/relationships/notesSlide" Target="/ppt/notesSlides/notesSlide3.xml" Id="R2829b617eb22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81700556f49fb" /><Relationship Type="http://schemas.openxmlformats.org/officeDocument/2006/relationships/notesSlide" Target="/ppt/notesSlides/notesSlide4.xml" Id="R4b101691f59041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8968c61994a44" /><Relationship Type="http://schemas.openxmlformats.org/officeDocument/2006/relationships/image" Target="/ppt/media/image3.png" Id="R012989e835204898" /><Relationship Type="http://schemas.openxmlformats.org/officeDocument/2006/relationships/notesSlide" Target="/ppt/notesSlides/notesSlide5.xml" Id="Rb09c94ca0f8e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111712dc941d6" /><Relationship Type="http://schemas.openxmlformats.org/officeDocument/2006/relationships/notesSlide" Target="/ppt/notesSlides/notesSlide6.xml" Id="R03a9e79ff96b4d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abc4c60048d4" /><Relationship Type="http://schemas.openxmlformats.org/officeDocument/2006/relationships/chart" Target="/ppt/slides/charts/chart1.xml" Id="R0593b5479bc0407c" /><Relationship Type="http://schemas.openxmlformats.org/officeDocument/2006/relationships/notesSlide" Target="/ppt/notesSlides/notesSlide7.xml" Id="Rd5965958644e4b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964f6dc4748c8" /><Relationship Type="http://schemas.openxmlformats.org/officeDocument/2006/relationships/chart" Target="/ppt/slides/charts/chart2.xml" Id="Rd8cc8bd825524667" /><Relationship Type="http://schemas.openxmlformats.org/officeDocument/2006/relationships/notesSlide" Target="/ppt/notesSlides/notesSlide8.xml" Id="R63ec7ad9cfd7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805d6c3514525" /><Relationship Type="http://schemas.openxmlformats.org/officeDocument/2006/relationships/notesSlide" Target="/ppt/notesSlides/notesSlide9.xml" Id="Rc346c410397f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e1a9d5534687" /><Relationship Type="http://schemas.openxmlformats.org/officeDocument/2006/relationships/image" Target="/ppt/media/image4.png" Id="Ra4bf1d0d7d5f4b9a" /><Relationship Type="http://schemas.openxmlformats.org/officeDocument/2006/relationships/notesSlide" Target="/ppt/notesSlides/notesSlide10.xml" Id="R32a361a359cb45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0.545505</c:v>
                </c:pt>
                <c:pt idx="1">
                  <c:v>0.596822</c:v>
                </c:pt>
                <c:pt idx="2">
                  <c:v>0.576369</c:v>
                </c:pt>
                <c:pt idx="3">
                  <c:v>0.508857</c:v>
                </c:pt>
              </c:numCache>
            </c:numRef>
          </c:val>
        </c:ser>
        <c:ser>
          <c:idx val="1"/>
          <c:order val="1"/>
          <c:tx>
            <c:v>Accuracy</c:v>
          </c:tx>
          <c:spPr>
            <a:solidFill xmlns:a="http://schemas.openxmlformats.org/drawingml/2006/main">
              <a:srgbClr val="4779B8"/>
            </a:solidFill>
          </c:spPr>
          <c:cat>
            <c:strRef>
              <c:f>'Chart Data'!$C$2:$C$5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0.556818</c:v>
                </c:pt>
                <c:pt idx="1">
                  <c:v>0.606061</c:v>
                </c:pt>
                <c:pt idx="2">
                  <c:v>0.594697</c:v>
                </c:pt>
                <c:pt idx="3">
                  <c:v>0.526515</c:v>
                </c:pt>
              </c:numCache>
            </c:numRef>
          </c:val>
        </c:ser>
        <c:ser>
          <c:idx val="2"/>
          <c:order val="2"/>
          <c:tx>
            <c:v>FTD recall</c:v>
          </c:tx>
          <c:spPr>
            <a:solidFill xmlns:a="http://schemas.openxmlformats.org/drawingml/2006/main">
              <a:srgbClr val="D98236"/>
            </a:solidFill>
          </c:spPr>
          <c:cat>
            <c:strRef>
              <c:f>'Chart Data'!$E$2:$E$5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Data'!$F$2:$F$5</c:f>
              <c:numCache>
                <c:formatCode>0.0%</c:formatCode>
                <c:ptCount val="4"/>
                <c:pt idx="0">
                  <c:v>0.391304</c:v>
                </c:pt>
                <c:pt idx="1">
                  <c:v>0.434783</c:v>
                </c:pt>
                <c:pt idx="2">
                  <c:v>0.391304</c:v>
                </c:pt>
                <c:pt idx="3">
                  <c:v>0.304348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Nonnegative
CPD</c:v>
                </c:pt>
                <c:pt idx="1">
                  <c:v>Nonnegative
Tucker</c:v>
                </c:pt>
                <c:pt idx="2">
                  <c:v>PCA</c:v>
                </c:pt>
                <c:pt idx="3">
                  <c:v>NMF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0.521739</c:v>
                </c:pt>
                <c:pt idx="1">
                  <c:v>0.536232</c:v>
                </c:pt>
                <c:pt idx="2">
                  <c:v>0.541063</c:v>
                </c:pt>
                <c:pt idx="3">
                  <c:v>0.541063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E0EE2-3031-42CB-8ADC-C825A0B6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5CAC3-B203-4541-A523-FEA46B66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Literature review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BBEE4-A995-494D-A7CA-D1B25CC8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269DF-3672-4F00-BB30-8BCBAE9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4676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resting EEG help distinguish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Alzheimer’s disease, frontotemporal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dementia and healthy controls?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B21EB-597C-4186-B812-B116D30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A participant level study of EEG features,</a:t>
            </a:r>
          </a:p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tensor decomposition and classification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0dafa312c43db"/>
          <a:stretch xmlns:a="http://schemas.openxmlformats.org/drawingml/2006/main"/>
        </p:blipFill>
        <p:spPr>
          <a:xfrm xmlns:a="http://schemas.openxmlformats.org/drawingml/2006/main">
            <a:off x="8039100" y="20002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B4916-D4FD-4AE0-8E02-2BACD598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First status presentation</a:t>
            </a:r>
          </a:p>
        </p:txBody>
      </p:sp>
    </p:spTree>
    <p:extLst>
      <p:ext uri="{BB962C8B-B14F-4D97-AF65-F5344CB8AC3E}">
        <p14:creationId xmlns:p14="http://schemas.microsoft.com/office/powerpoint/2010/main" val="605199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5F932-ADB8-4C5C-890C-55B062F6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Background: EEG and dementia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BEDD1-C0D1-4948-B0C5-0A9B8B0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What prior work gives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6ED40-129C-4450-B70E-C589C819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A6560-C0E8-4FCA-A99D-E80BB47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EEG measures brain rhythms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21993-6CE3-4D75-AF9A-7E9CA1F0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00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Frequency power, timing and electrode relationships can differ across dementia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09ED-81E6-4CD1-BFCB-4D7B3130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Open research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2ECCD-6CF7-4DD1-AC7F-264611D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700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released eyes-closed EEG from 88 people: 36 AD, 23 FTD and 29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2869C-017E-4809-AEAE-D33D2E1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Signals are already cleaned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6EC0C-0E26-4B2B-A1FA-FCE5225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authors provide raw recordings and artifact-cleaned derivatives. Our analysis begins with the derivatives.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2b374e0e043b7"/>
          <a:stretch xmlns:a="http://schemas.openxmlformats.org/drawingml/2006/main"/>
        </p:blipFill>
        <p:spPr>
          <a:xfrm xmlns:a="http://schemas.openxmlformats.org/drawingml/2006/main">
            <a:off x="8210550" y="2400300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7459B-720B-4878-A59B-9BD1CCBC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al., Data (2023), DOI: 10.3390/data8060095</a:t>
            </a:r>
          </a:p>
        </p:txBody>
      </p:sp>
    </p:spTree>
    <p:extLst>
      <p:ext uri="{BB962C8B-B14F-4D97-AF65-F5344CB8AC3E}">
        <p14:creationId xmlns:p14="http://schemas.microsoft.com/office/powerpoint/2010/main" val="1552024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B410E-9672-45A5-BAE9-429097D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earlier studies 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CFBE9-934A-4163-AC5F-F8A7E11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Three ideas shaped our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148AB-2C05-4F9A-BF5E-0C198F66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A20E2-4202-4A1C-8DD1-F1A54CE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Validation changes the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D544-EEF7-4AF8-81DC-630D539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found much lower accuracy when testing on unseen people than when splitting EEG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B344A-18F0-4CE3-9CCB-53A20B5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Feature choice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DF3D-C9CA-4DB6-9643-AE1EC655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Rostamikia et al. examined power, complexity and connectivity. Gupta et al. used tensor factors to retain EEG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96785-27E7-47BB-874D-154AA49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Our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99DBF-D597-4794-8ECE-C1F2A99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Do compact tensor features improve three-class, person-level prediction beyond simpler EEG features?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7731-2B9C-4671-B09A-C2F34908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(2021); Rostamikia et al. (2024); Gupta et al. (2023)</a:t>
            </a:r>
          </a:p>
        </p:txBody>
      </p:sp>
    </p:spTree>
    <p:extLst>
      <p:ext uri="{BB962C8B-B14F-4D97-AF65-F5344CB8AC3E}">
        <p14:creationId xmlns:p14="http://schemas.microsoft.com/office/powerpoint/2010/main" val="226390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DD8C9-803B-4070-B52A-290ABEB8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Data and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2589E-97BC-4C89-82F3-9A6DED6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We worked from preprocessed EEG, then applied project-specific 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48288-6FDB-4EA8-8B83-31E1E9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C2267-3929-4F0C-BCD9-F86DEA1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Primary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B4B94-C60B-4220-B345-B2A8A06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69 people: 23 per diagnosis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12,270 clean four-second windows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Balanced for the first comparisons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5BED7-1B2A-4A64-9EE9-64BA16B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47875"/>
            <a:ext cx="509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Later full-cohort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8B107-FECA-4CCE-9D4D-6E09E16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88 people from the source dataset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16,824 eligible windows after re-QC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Kept each person together in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2F7A2-44BC-4298-BD89-C50E0CF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Boundary guards and artifact checks reduce avoidable signal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0ED28-EF7B-4E30-BC69-9E698A3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Authors’ filtering/ASR/ICA were not repeated. More targeted curation is proposed.</a:t>
            </a:r>
          </a:p>
        </p:txBody>
      </p:sp>
    </p:spTree>
    <p:extLst>
      <p:ext uri="{BB962C8B-B14F-4D97-AF65-F5344CB8AC3E}">
        <p14:creationId xmlns:p14="http://schemas.microsoft.com/office/powerpoint/2010/main" val="85092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B1537-555F-423D-9ECF-545021E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methods: CPD and Tucker/MLSVD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8C3BE-3415-4414-A1CF-E93487A5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Both compress the person × electrode × frequency × time tensor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A8C7-75F5-4351-B6CD-80C9959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1DEEB-C937-4D34-8D53-3B92A7C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CPD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2CA34-D24B-42FC-A82D-F4579D3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9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 sum of rank-one components. Each component links one pattern from every tensor axis.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34E9-7C81-4CCE-A875-E1C7EF6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716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Tucker / MLSVD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07A7-EF82-4510-AAB3-033D57B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24125"/>
            <a:ext cx="5191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 small core connects factor matrices for each axis. MLSVD/HOSVD uses orthogonal factors.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00346-5168-4ACA-94B5-4AFB161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What we 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5277C-EE1B-4855-B8DD-6022FD59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667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V1: nonnegative CPD and nonnegative Tucker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on the four-way spectral tensor.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V2: orthogonal Tucker/HOSVD on corrected log-power tensors.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989e835204898"/>
          <a:stretch xmlns:a="http://schemas.openxmlformats.org/drawingml/2006/main"/>
        </p:blipFill>
        <p:spPr>
          <a:xfrm xmlns:a="http://schemas.openxmlformats.org/drawingml/2006/main">
            <a:off x="9210675" y="4000500"/>
            <a:ext cx="1657350" cy="1657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E4D41-CE12-4395-9E67-20CE266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Nonnegative Tucker and HOSVD/MLSVD are related Tucker methods, not the same fit.</a:t>
            </a:r>
          </a:p>
        </p:txBody>
      </p:sp>
    </p:spTree>
    <p:extLst>
      <p:ext uri="{BB962C8B-B14F-4D97-AF65-F5344CB8AC3E}">
        <p14:creationId xmlns:p14="http://schemas.microsoft.com/office/powerpoint/2010/main" val="328349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5C749-2E78-4308-B357-BA90FE7A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How we evaluate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6D06F-4023-4EB1-B589-A7DDA4C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unit of evidence is the person, not the EEG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325E1-7DF9-4BD0-B760-790CD50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20E13-DA4D-45FE-890E-5011FCE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Participant-level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FB88-9EAA-4C56-AD70-41EB73BF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All windows from one participant stay in the same training or test fold.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F1216-BBC1-446A-96CC-F0DCE59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Nested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6E170-18E7-4072-8525-357C444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Inner folds choose features and model settings. Outer folds estimate performance on held-out people.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4C313-DCCA-4F08-8751-117383D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DA201-F74B-4C8F-A1C5-1B144D8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Accuracy is total correct. Recall is correct within a class. Balanced accuracy averages recall across AD, FTD and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EBD0E-CD6D-454A-81E6-473D549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Chance balanced accuracy for three classes: 33.3%. No independent external cohort yet.</a:t>
            </a:r>
          </a:p>
        </p:txBody>
      </p:sp>
    </p:spTree>
    <p:extLst>
      <p:ext uri="{BB962C8B-B14F-4D97-AF65-F5344CB8AC3E}">
        <p14:creationId xmlns:p14="http://schemas.microsoft.com/office/powerpoint/2010/main" val="947865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8831-BE85-4149-92DC-497AE0E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Classifier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66B2-EFE2-40D6-8B04-5E0A7711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V4: same 88 people and the same outer evaluation splits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B751B-C1B2-4FD8-809C-FB568891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93b5479bc040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E905E-A4B9-4730-9487-A01D1087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RBF SVM led these families, but FTD remained difficult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9027-449D-4EDB-A69F-10998F1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Observed family results are secondary. Primary automatic selection: 54.5% balanced accuracy.</a:t>
            </a:r>
          </a:p>
        </p:txBody>
      </p:sp>
    </p:spTree>
    <p:extLst>
      <p:ext uri="{BB962C8B-B14F-4D97-AF65-F5344CB8AC3E}">
        <p14:creationId xmlns:p14="http://schemas.microsoft.com/office/powerpoint/2010/main" val="1997664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CC420-A7E1-4A30-B996-24D8312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CPD and Tucker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3FD0B-7CCC-4CBC-BCA4-F18B128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V1: same 69-person tensor and participant-level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8C713-83BC-4EFD-891F-094DB804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cc8bd8255246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BCFAD-1782-4166-A93C-BD58F7B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CPD: 52.2%    Tucker: 53.6%    PCA/NMF: 54.1%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5464-E503-4BD5-8E58-08FAC7D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Best observed rank and classifier per method; exploratory, non-nested results.</a:t>
            </a:r>
          </a:p>
        </p:txBody>
      </p:sp>
    </p:spTree>
    <p:extLst>
      <p:ext uri="{BB962C8B-B14F-4D97-AF65-F5344CB8AC3E}">
        <p14:creationId xmlns:p14="http://schemas.microsoft.com/office/powerpoint/2010/main" val="1679545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DA8F3-6179-4F1E-A0A3-DF2832F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the results mean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93213-2BD2-40D6-BC03-DFF080CC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Promising signals, but limited generalization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E9A02-75B2-4C56-869B-B77CF41A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E2DF-BE8C-4381-88D6-8B47AAC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CC660-A43D-4966-9C9D-F6C11A24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Initial CPD and nonnegative Tucker stayed near PCA/NMF. Corrected V2 HOSVD/Tucker reached 56.0% as an observed family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BC80-8698-4AD4-AEFD-8EF2C784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Latest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1DE92-CF1A-4ED0-A079-63C2F8A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V5 compared power, covariance and connectivity features in all 88 people. Selected pipeline: 55.0% balanced accuracy, 33.3% FTD 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4263-7361-480A-ACF0-FAF9038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Working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88344-6683-4626-A53C-93C6233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Only 23 FTD people, overlap in EEG patterns and remaining noise may limit learning. Compression may discard weak clues.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BDCE-B09E-4604-B6E4-B0905A4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Hypotheses are unproven. Internal results do not establish clinical validity or an accuracy ceiling.</a:t>
            </a:r>
          </a:p>
        </p:txBody>
      </p:sp>
    </p:spTree>
    <p:extLst>
      <p:ext uri="{BB962C8B-B14F-4D97-AF65-F5344CB8AC3E}">
        <p14:creationId xmlns:p14="http://schemas.microsoft.com/office/powerpoint/2010/main" val="564730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091EA-E01D-4CF5-A144-152E05F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Project status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DB8C-E4EB-425D-8236-A6D3C51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Test whether targeted signal curation improves participant-level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42D06-5BEB-4B81-9A6C-C08AD54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02EA-DCC0-46D4-9F3F-B2F0129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EAF6D-3AC1-4A81-A752-C427637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EEG inventory and reproducible preparation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Corrected channel labels and boundary handling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and classifier comparisons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Recorded FTD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D5B05-B29B-44A3-BA46-D2A601B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E291B-CC13-4ADC-8950-8CE8F77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239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Audit residual artifacts in the primary cohort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Fix quality rules before evaluating outcomes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Compare current and curated inputs on the same splits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Seek new FTD and external participants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1d0d7d5f4b9a"/>
          <a:stretch xmlns:a="http://schemas.openxmlformats.org/drawingml/2006/main"/>
        </p:blipFill>
        <p:spPr>
          <a:xfrm xmlns:a="http://schemas.openxmlformats.org/drawingml/2006/main">
            <a:off x="8162925" y="25336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8C12D-B436-442F-94BA-4E53D8D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No additional curation experiment has been completed yet.</a:t>
            </a:r>
          </a:p>
        </p:txBody>
      </p:sp>
    </p:spTree>
    <p:extLst>
      <p:ext uri="{BB962C8B-B14F-4D97-AF65-F5344CB8AC3E}">
        <p14:creationId xmlns:p14="http://schemas.microsoft.com/office/powerpoint/2010/main" val="194802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2026-09-29T07:06:07.9090000Z</dcterms:created>
  <dcterms:modified xsi:type="dcterms:W3CDTF">2026-09-29T07:06:07.9090000Z</dcterms:modified>
</coreProperties>
</file>